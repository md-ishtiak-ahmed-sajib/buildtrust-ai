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87a935d11b4241" /><Relationship Type="http://schemas.openxmlformats.org/officeDocument/2006/relationships/extended-properties" Target="/docProps/app.xml" Id="Re7c3b755b6184d1a" /><Relationship Type="http://schemas.openxmlformats.org/officeDocument/2006/relationships/officeDocument" Target="/ppt/presentation.xml" Id="R2bf2ec0737cc4aaf" /></Relationships>
</file>

<file path=ppt/presentation.xml><?xml version="1.0" encoding="utf-8"?>
<p:presentation xmlns:p="http://schemas.openxmlformats.org/presentationml/2006/main">
  <p:sldMasterIdLst>
    <p:sldMasterId xmlns:r="http://schemas.openxmlformats.org/officeDocument/2006/relationships" id="2147483648" r:id="Rc916f305988744fa"/>
  </p:sldMasterIdLst>
  <p:notesMasterIdLst>
    <p:notesMasterId xmlns:r="http://schemas.openxmlformats.org/officeDocument/2006/relationships" r:id="Re833edcf6a1a4a73"/>
  </p:notesMasterIdLst>
  <p:sldIdLst>
    <p:sldId xmlns:r="http://schemas.openxmlformats.org/officeDocument/2006/relationships" id="256" r:id="Rd64881cda68c4d7b"/>
    <p:sldId xmlns:r="http://schemas.openxmlformats.org/officeDocument/2006/relationships" id="257" r:id="R638e68d182a64bac"/>
    <p:sldId xmlns:r="http://schemas.openxmlformats.org/officeDocument/2006/relationships" id="258" r:id="R1aeb773071184558"/>
    <p:sldId xmlns:r="http://schemas.openxmlformats.org/officeDocument/2006/relationships" id="259" r:id="R8eb9b55322fd47f6"/>
    <p:sldId xmlns:r="http://schemas.openxmlformats.org/officeDocument/2006/relationships" id="260" r:id="Rce0816aac91349cd"/>
    <p:sldId xmlns:r="http://schemas.openxmlformats.org/officeDocument/2006/relationships" id="261" r:id="R66440b5aa87c49c5"/>
    <p:sldId xmlns:r="http://schemas.openxmlformats.org/officeDocument/2006/relationships" id="262" r:id="Rf7273b287eac41f5"/>
    <p:sldId xmlns:r="http://schemas.openxmlformats.org/officeDocument/2006/relationships" id="263" r:id="Rb056f6fc5e9049bc"/>
    <p:sldId xmlns:r="http://schemas.openxmlformats.org/officeDocument/2006/relationships" id="264" r:id="R07fd4fc82fb248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749c13039a42fe" /><Relationship Type="http://schemas.openxmlformats.org/officeDocument/2006/relationships/slideMaster" Target="/ppt/slideMasters/slideMaster1.xml" Id="Rc916f305988744fa" /><Relationship Type="http://schemas.openxmlformats.org/officeDocument/2006/relationships/notesMaster" Target="/ppt/notesMasters/notesMaster1.xml" Id="Re833edcf6a1a4a73" /><Relationship Type="http://schemas.openxmlformats.org/officeDocument/2006/relationships/presProps" Target="/ppt/presProps.xml" Id="Rcbf70a48598b41a9" /><Relationship Type="http://schemas.openxmlformats.org/officeDocument/2006/relationships/tableStyles" Target="/ppt/tableStyles.xml" Id="R31d81452c2dc416d" /><Relationship Type="http://schemas.openxmlformats.org/officeDocument/2006/relationships/slide" Target="/ppt/slides/slide1.xml" Id="Rd64881cda68c4d7b" /><Relationship Type="http://schemas.openxmlformats.org/officeDocument/2006/relationships/slide" Target="/ppt/slides/slide2.xml" Id="R638e68d182a64bac" /><Relationship Type="http://schemas.openxmlformats.org/officeDocument/2006/relationships/slide" Target="/ppt/slides/slide3.xml" Id="R1aeb773071184558" /><Relationship Type="http://schemas.openxmlformats.org/officeDocument/2006/relationships/slide" Target="/ppt/slides/slide4.xml" Id="R8eb9b55322fd47f6" /><Relationship Type="http://schemas.openxmlformats.org/officeDocument/2006/relationships/slide" Target="/ppt/slides/slide5.xml" Id="Rce0816aac91349cd" /><Relationship Type="http://schemas.openxmlformats.org/officeDocument/2006/relationships/slide" Target="/ppt/slides/slide6.xml" Id="R66440b5aa87c49c5" /><Relationship Type="http://schemas.openxmlformats.org/officeDocument/2006/relationships/slide" Target="/ppt/slides/slide7.xml" Id="Rf7273b287eac41f5" /><Relationship Type="http://schemas.openxmlformats.org/officeDocument/2006/relationships/slide" Target="/ppt/slides/slide8.xml" Id="Rb056f6fc5e9049bc" /><Relationship Type="http://schemas.openxmlformats.org/officeDocument/2006/relationships/slide" Target="/ppt/slides/slide9.xml" Id="R07fd4fc82fb248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c33bc5961e43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f047a30e714687" /><Relationship Type="http://schemas.openxmlformats.org/officeDocument/2006/relationships/notesMaster" Target="/ppt/notesMasters/notesMaster1.xml" Id="Rb61c2aaf5f4c4f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64dff26fab4425" /><Relationship Type="http://schemas.openxmlformats.org/officeDocument/2006/relationships/notesMaster" Target="/ppt/notesMasters/notesMaster1.xml" Id="R09aa302041f944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f56328f4d747bc" /><Relationship Type="http://schemas.openxmlformats.org/officeDocument/2006/relationships/notesMaster" Target="/ppt/notesMasters/notesMaster1.xml" Id="R6706863b632042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d6ab638d684f1b" /><Relationship Type="http://schemas.openxmlformats.org/officeDocument/2006/relationships/notesMaster" Target="/ppt/notesMasters/notesMaster1.xml" Id="R0b5837cec6a54e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9690e7167a4091" /><Relationship Type="http://schemas.openxmlformats.org/officeDocument/2006/relationships/notesMaster" Target="/ppt/notesMasters/notesMaster1.xml" Id="Rd019f9de535d43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506e1f3b6f44b5" /><Relationship Type="http://schemas.openxmlformats.org/officeDocument/2006/relationships/notesMaster" Target="/ppt/notesMasters/notesMaster1.xml" Id="R2afae83748454f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5743026d0b4291" /><Relationship Type="http://schemas.openxmlformats.org/officeDocument/2006/relationships/notesMaster" Target="/ppt/notesMasters/notesMaster1.xml" Id="Rdb8a31fe232948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a2520f8fb14d70" /><Relationship Type="http://schemas.openxmlformats.org/officeDocument/2006/relationships/notesMaster" Target="/ppt/notesMasters/notesMaster1.xml" Id="R0c396b74f70d4a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3d7d5dc9dd45cd" /><Relationship Type="http://schemas.openxmlformats.org/officeDocument/2006/relationships/notesMaster" Target="/ppt/notesMasters/notesMaster1.xml" Id="Rf2dc220ee8d849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BuildTrust AI helps construction teams check costs and review payments. This is a working local app, not a set of sample screen designs. Its records and calculations are real application operations, but the projects and transfers are fictional. No bank is connected. A visitor can start the separate public demo and use the four passwords in the README. Explain that people approve financial actions. Give the audience a moment to read the product name. Sources: README.md; features.md; prompt/prompt.md.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0:40–1:30. A bill of quantities lists approved quantities. A purchase order records what was ordered and at what rate. A delivery receipt records accepted supply. An invoice states what the supplier wants to be paid. These records answer different questions. The invoice alone cannot prove that goods arrived or that the amount is authorized. Point to the pictured fictional invoice, then explain that the app keeps the original file and its source references. Uploaded words such as approved do not grant authority. Sources: prompt/prompt.md; demo/fixtures/scenario-a-inflated.pdf; docs/financial-rules.md.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1:30–2:20. A valid invoice can still be unsafe to pay today. The app checks recorded cash and daily forecasts. Both the base forecast and the delayed-customer-receipts forecast must keep the required reserve. In the stress example, cash is BDT 150,000 and the invoice is 70,000. Paying would leave 80,000, below the 100,000 reserve, so payment is blocked. Future expected receipts are not cash already received. Explain the three visible scenarios and the matching daily table. The pictured chart comes from a separate actual test run. Sources: scenario-e.json; screenshots/05-cashflow.png; docs/financial-rules.md.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2:20–3:15. Follow the saved steps from documents to payment. The app reads actual files, compares approved records and checks risks and cash using fixed rules. If everything passes, it prepares an exact proposal and reserves the required cash and delivery quantity. It then waits. A different authorized person must review and approve. Execution needs another explicit confirmation and fresh checks. A failed transaction rolls back its financial changes. The receipt, ledger and audit provide evidence of the outcome. Pause at the approval stage to emphasize that automation cannot cross it. Sources: backend/app/workflow.py; docs/technical-documentation.md; scenarios A and 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3:15–4:10. The browser has fourteen connected areas. It sends requests to FastAPI, which checks login, current role and project access. Saved workflows call document, quantity, pricing and finance services. The server uses Decimal calculations and stores money as integer minor units. SQLite keeps the records and private files keep the source evidence. Payment, cash, ledger and success audit are saved in one transaction. Optional AI only explains evidence and falls back to built-in text if unavailable. It cannot approve or execute. Point through the diagram and answer where the human decision sits. Sources: docs/architecture.md; docs/architecture.mmd; backend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4:10–5:30. Walk through the table slowly. Approved quantities, the order and accepted delivery each support 80 tonnes. The invoice claims 95 at BDT 70,000 per tonne. Supported value is 5,600,000 and the claim is 6,650,000. Subtracting gives 1,050,000. The extra 15 tonnes divided by 80 gives 18.75 percent. The app blocks the unsupported claim and shows the source comparison. Point to the actual UI screenshot and explain its kilogram display conversion. No delivery quantity is consumed by a blocked invoice. The screenshot and HTTP evidence are separate runs with the same verified arithmetic. Sources: scenario-a.json; screenshots/08-four-way-focus.png; docs/financial-rules.md.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5:30–6:40. The separate cement invoice passes the quantity, price, supplier and cash checks. An Operator prepares it and a different Finance Manager approves BDT 70,000. A person confirms execution. Cash changes from 1,000,000 to 930,000 once. The mock receipt identifies the simulation. Explain the retry rule: the same request key returns the same result instead of another cash deduction. Amount and beneficiary come from the approval, not a new browser value. All financial updates either save together or roll back together. The receipt screenshot and HTTP scenarios have different run IDs. Sources: scenario-b.json; scenario-h.json; screenshots/09-receipt-focus.png.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6:40–7:50. The table shows actual local results: 203 backend tests, 8 frontend tests, 16 browser workflows and eight original HTTP scenarios. Separate public-demo checks verify four documented logins and preserve the private profile. Tests cover denied roles, changed approvals, expiry, duplicate quantities, competing execution, rollback and retries. Fresh installation checks use a source copy. A passing suite is evidence for tested behavior, not complete security assurance. The audit chain can find inconsistent retained events, but a full database owner can rewrite it. Independent security and assistive-technology reviews remain separate. Sources: verification-summary.json; test logs; public-demo-install.json; docs/security-self-assessment.md.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7:50–8:50. In the fictional upgrade project, 20 tonnes at 70,000 cost 1,400,000. Selecting an eligible 74,000 rate changes cost to 1,480,000, an increase of 80,000. The scheduled cash forecast drops from 600,000 to 520,000, but recorded cash stays 2,000,000. The wrong grade cannot be selected. A different Manager checks the estimate and a separate Admin approves. Other areas cover quantities, accounting, contracts, installments and separate correction reviews. Paid search, real documents and professional acceptance need their own evidence. The public demo and complete source are available through the README and authorized GitHub repository. Sources: docs/completion-verification.md; upgrade screenshots; verification-summary.json;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0aceab414a43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0e20aac9524d7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f6c8f8914e42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411c391eaa49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dc66a76f9445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f3924d6a4b4a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2A263E-5E9A-493B-92F7-B39291E64F3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090934-090A-4334-B810-670DBBF4D4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1F47D0-E9B6-4502-B8A7-93ADD13D9F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1AF13F-DEC5-4210-A3DC-CB13CFB315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2CCFEF-C2B6-439C-96A2-CAA0E9CD0B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2A09D4-A12E-4C98-BB51-6AAE0E7BBD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CE7952-53FA-449F-88BF-0350F89117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80952B-C713-464A-AC7B-33D3D66918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0C19B7-4A83-414F-AFC2-A2E6C51F3B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D46A3C-8BC9-416D-978B-3E6BA017F6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75e61ad9dc4fec" /><Relationship Type="http://schemas.openxmlformats.org/officeDocument/2006/relationships/slideLayout" Target="/ppt/slideLayouts/slideLayout1.xml" Id="Rbc2fb3c6620349c6" /><Relationship Type="http://schemas.openxmlformats.org/officeDocument/2006/relationships/slideLayout" Target="/ppt/slideLayouts/slideLayout2.xml" Id="R7cea6afc74ea414b" /><Relationship Type="http://schemas.openxmlformats.org/officeDocument/2006/relationships/slideLayout" Target="/ppt/slideLayouts/slideLayout3.xml" Id="R3375d2c0d3014eb6" /><Relationship Type="http://schemas.openxmlformats.org/officeDocument/2006/relationships/slideLayout" Target="/ppt/slideLayouts/slideLayout4.xml" Id="R5afa493950a144f9" /><Relationship Type="http://schemas.openxmlformats.org/officeDocument/2006/relationships/slideLayout" Target="/ppt/slideLayouts/slideLayout5.xml" Id="R6e6d392db45f4b82" /><Relationship Type="http://schemas.openxmlformats.org/officeDocument/2006/relationships/slideLayout" Target="/ppt/slideLayouts/slideLayout6.xml" Id="R486cba07fee847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2fb3c6620349c6"/>
    <p:sldLayoutId xmlns:r="http://schemas.openxmlformats.org/officeDocument/2006/relationships" id="2147483650" r:id="R7cea6afc74ea414b"/>
    <p:sldLayoutId xmlns:r="http://schemas.openxmlformats.org/officeDocument/2006/relationships" id="2147483651" r:id="R3375d2c0d3014eb6"/>
    <p:sldLayoutId xmlns:r="http://schemas.openxmlformats.org/officeDocument/2006/relationships" id="2147483652" r:id="R5afa493950a144f9"/>
    <p:sldLayoutId xmlns:r="http://schemas.openxmlformats.org/officeDocument/2006/relationships" id="2147483653" r:id="R6e6d392db45f4b82"/>
    <p:sldLayoutId xmlns:r="http://schemas.openxmlformats.org/officeDocument/2006/relationships" id="2147483654" r:id="R486cba07fee847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20b676b8534cba" /><Relationship Type="http://schemas.openxmlformats.org/officeDocument/2006/relationships/notesSlide" Target="/ppt/notesSlides/notesSlide1.xml" Id="Re872ae58dcbd41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29925ffcee4e5a" /><Relationship Type="http://schemas.openxmlformats.org/officeDocument/2006/relationships/image" Target="/ppt/media/image.png" Id="R8fab77e03271484b" /><Relationship Type="http://schemas.openxmlformats.org/officeDocument/2006/relationships/notesSlide" Target="/ppt/notesSlides/notesSlide2.xml" Id="R049104cf2ac147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81a1a25f60e495f" /><Relationship Type="http://schemas.openxmlformats.org/officeDocument/2006/relationships/image" Target="/ppt/media/image2.png" Id="R15db016a6c684985" /><Relationship Type="http://schemas.openxmlformats.org/officeDocument/2006/relationships/notesSlide" Target="/ppt/notesSlides/notesSlide3.xml" Id="R2ffa5dde1aab40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323a0b137647f2" /><Relationship Type="http://schemas.openxmlformats.org/officeDocument/2006/relationships/notesSlide" Target="/ppt/notesSlides/notesSlide4.xml" Id="Rcaac535a286e4e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a7939297ccf4004" /><Relationship Type="http://schemas.openxmlformats.org/officeDocument/2006/relationships/notesSlide" Target="/ppt/notesSlides/notesSlide5.xml" Id="Re7063a0036ec4a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c44503f659458d" /><Relationship Type="http://schemas.openxmlformats.org/officeDocument/2006/relationships/image" Target="/ppt/media/image3.png" Id="R44aade95ddc845b2" /><Relationship Type="http://schemas.openxmlformats.org/officeDocument/2006/relationships/notesSlide" Target="/ppt/notesSlides/notesSlide6.xml" Id="Rf2b3eea4b85246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06e314311a4175" /><Relationship Type="http://schemas.openxmlformats.org/officeDocument/2006/relationships/image" Target="/ppt/media/image4.png" Id="R2d46ef3310f64827" /><Relationship Type="http://schemas.openxmlformats.org/officeDocument/2006/relationships/notesSlide" Target="/ppt/notesSlides/notesSlide7.xml" Id="Rc629eb050c6f4e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e6e134f0e6442e6" /><Relationship Type="http://schemas.openxmlformats.org/officeDocument/2006/relationships/notesSlide" Target="/ppt/notesSlides/notesSlide8.xml" Id="R7d393effb3134b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ae265677b074fa7" /><Relationship Type="http://schemas.openxmlformats.org/officeDocument/2006/relationships/image" Target="/ppt/media/image5.png" Id="R138af91f15ae4a40" /><Relationship Type="http://schemas.openxmlformats.org/officeDocument/2006/relationships/notesSlide" Target="/ppt/notesSlides/notesSlide9.xml" Id="Rb48d6c9df8e74e8c" /></Relationships>
</file>

<file path=ppt/slides/slide1.xml><?xml version="1.0" encoding="utf-8"?>
<p:sld xmlns:p="http://schemas.openxmlformats.org/presentationml/2006/main">
  <p:cSld>
    <p:bg>
      <p:bgPr>
        <a:solidFill xmlns:a="http://schemas.openxmlformats.org/drawingml/2006/main">
          <a:srgbClr val="19343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194833-FC63-4B0C-837F-D2EC208CB376}"/>
              </a:ext>
            </a:extLst>
          </p:cNvPr>
          <p:cNvSpPr>
            <a:spLocks xmlns:a="http://schemas.openxmlformats.org/drawingml/2006/main" noGrp="1"/>
          </p:cNvSpPr>
          <p:nvPr/>
        </p:nvSpPr>
        <p:spPr>
          <a:xfrm xmlns:a="http://schemas.openxmlformats.org/drawingml/2006/main">
            <a:off x="685800" y="64103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DD1C9"/>
                </a:solidFill>
                <a:latin typeface="Arial"/>
                <a:ea typeface="Arial"/>
                <a:cs typeface="Arial"/>
              </a:defRPr>
            </a:defPPr>
            <a:lvl1pPr>
              <a:defRPr sz="1200" b="0">
                <a:solidFill>
                  <a:srgbClr val="BDD1C9"/>
                </a:solidFill>
                <a:latin typeface="Arial"/>
                <a:ea typeface="Arial"/>
                <a:cs typeface="Arial"/>
              </a:defRPr>
            </a:lvl1pPr>
            <a:lvl2pPr>
              <a:defRPr sz="1200" b="0">
                <a:solidFill>
                  <a:srgbClr val="BDD1C9"/>
                </a:solidFill>
                <a:latin typeface="Arial"/>
                <a:ea typeface="Arial"/>
                <a:cs typeface="Arial"/>
              </a:defRPr>
            </a:lvl2pPr>
            <a:lvl3pPr>
              <a:defRPr sz="1200" b="0">
                <a:solidFill>
                  <a:srgbClr val="BDD1C9"/>
                </a:solidFill>
                <a:latin typeface="Arial"/>
                <a:ea typeface="Arial"/>
                <a:cs typeface="Arial"/>
              </a:defRPr>
            </a:lvl3pPr>
            <a:lvl4pPr>
              <a:defRPr sz="1200" b="0">
                <a:solidFill>
                  <a:srgbClr val="BDD1C9"/>
                </a:solidFill>
                <a:latin typeface="Arial"/>
                <a:ea typeface="Arial"/>
                <a:cs typeface="Arial"/>
              </a:defRPr>
            </a:lvl4pPr>
            <a:lvl5pPr>
              <a:defRPr sz="1200" b="0">
                <a:solidFill>
                  <a:srgbClr val="BDD1C9"/>
                </a:solidFill>
                <a:latin typeface="Arial"/>
                <a:ea typeface="Arial"/>
                <a:cs typeface="Arial"/>
              </a:defRPr>
            </a:lvl5pPr>
            <a:lvl6pPr>
              <a:defRPr sz="1200" b="0">
                <a:solidFill>
                  <a:srgbClr val="BDD1C9"/>
                </a:solidFill>
                <a:latin typeface="Arial"/>
                <a:ea typeface="Arial"/>
                <a:cs typeface="Arial"/>
              </a:defRPr>
            </a:lvl6pPr>
            <a:lvl7pPr>
              <a:defRPr sz="1200" b="0">
                <a:solidFill>
                  <a:srgbClr val="BDD1C9"/>
                </a:solidFill>
                <a:latin typeface="Arial"/>
                <a:ea typeface="Arial"/>
                <a:cs typeface="Arial"/>
              </a:defRPr>
            </a:lvl7pPr>
            <a:lvl8pPr>
              <a:defRPr sz="1200" b="0">
                <a:solidFill>
                  <a:srgbClr val="BDD1C9"/>
                </a:solidFill>
                <a:latin typeface="Arial"/>
                <a:ea typeface="Arial"/>
                <a:cs typeface="Arial"/>
              </a:defRPr>
            </a:lvl8pPr>
            <a:lvl9pPr>
              <a:defRPr sz="1200" b="0">
                <a:solidFill>
                  <a:srgbClr val="BDD1C9"/>
                </a:solidFill>
                <a:latin typeface="Arial"/>
                <a:ea typeface="Arial"/>
                <a:cs typeface="Arial"/>
              </a:defRPr>
            </a:lvl9pPr>
          </a:lstStyle>
          <a:p xmlns:a="http://schemas.openxmlformats.org/drawingml/2006/main">
            <a:pPr>
              <a:defRPr sz="1200" b="0">
                <a:solidFill>
                  <a:srgbClr val="BDD1C9"/>
                </a:solidFill>
                <a:latin typeface="Arial"/>
                <a:ea typeface="Arial"/>
                <a:cs typeface="Arial"/>
              </a:defRPr>
            </a:pPr>
            <a:r>
              <a:rPr sz="1200" b="0">
                <a:solidFill>
                  <a:srgbClr val="BDD1C9"/>
                </a:solidFill>
                <a:latin typeface="Arial"/>
                <a:ea typeface="Arial"/>
                <a:cs typeface="Arial"/>
              </a:rPr>
              <a:t>BuildTrust AI  ·  Fictional sandbox demonstration</a:t>
            </a:r>
          </a:p>
        </p:txBody>
      </p:sp>
      <p:sp>
        <p:nvSpPr>
          <p:cNvPr id="2" name="">
            <a:extLst xmlns:a="http://schemas.openxmlformats.org/drawingml/2006/main">
              <a:ext uri="{FF2B5EF4-FFF2-40B4-BE49-F238E27FC236}">
                <a16:creationId xmlns:a16="http://schemas.microsoft.com/office/drawing/2014/main" id="{BA44E41E-3E84-4E91-A482-95F0E6128184}"/>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DD1C9"/>
                </a:solidFill>
                <a:latin typeface="Arial"/>
                <a:ea typeface="Arial"/>
                <a:cs typeface="Arial"/>
              </a:defRPr>
            </a:defPPr>
            <a:lvl1pPr>
              <a:defRPr sz="1200" b="0">
                <a:solidFill>
                  <a:srgbClr val="BDD1C9"/>
                </a:solidFill>
                <a:latin typeface="Arial"/>
                <a:ea typeface="Arial"/>
                <a:cs typeface="Arial"/>
              </a:defRPr>
            </a:lvl1pPr>
            <a:lvl2pPr>
              <a:defRPr sz="1200" b="0">
                <a:solidFill>
                  <a:srgbClr val="BDD1C9"/>
                </a:solidFill>
                <a:latin typeface="Arial"/>
                <a:ea typeface="Arial"/>
                <a:cs typeface="Arial"/>
              </a:defRPr>
            </a:lvl2pPr>
            <a:lvl3pPr>
              <a:defRPr sz="1200" b="0">
                <a:solidFill>
                  <a:srgbClr val="BDD1C9"/>
                </a:solidFill>
                <a:latin typeface="Arial"/>
                <a:ea typeface="Arial"/>
                <a:cs typeface="Arial"/>
              </a:defRPr>
            </a:lvl3pPr>
            <a:lvl4pPr>
              <a:defRPr sz="1200" b="0">
                <a:solidFill>
                  <a:srgbClr val="BDD1C9"/>
                </a:solidFill>
                <a:latin typeface="Arial"/>
                <a:ea typeface="Arial"/>
                <a:cs typeface="Arial"/>
              </a:defRPr>
            </a:lvl4pPr>
            <a:lvl5pPr>
              <a:defRPr sz="1200" b="0">
                <a:solidFill>
                  <a:srgbClr val="BDD1C9"/>
                </a:solidFill>
                <a:latin typeface="Arial"/>
                <a:ea typeface="Arial"/>
                <a:cs typeface="Arial"/>
              </a:defRPr>
            </a:lvl5pPr>
            <a:lvl6pPr>
              <a:defRPr sz="1200" b="0">
                <a:solidFill>
                  <a:srgbClr val="BDD1C9"/>
                </a:solidFill>
                <a:latin typeface="Arial"/>
                <a:ea typeface="Arial"/>
                <a:cs typeface="Arial"/>
              </a:defRPr>
            </a:lvl6pPr>
            <a:lvl7pPr>
              <a:defRPr sz="1200" b="0">
                <a:solidFill>
                  <a:srgbClr val="BDD1C9"/>
                </a:solidFill>
                <a:latin typeface="Arial"/>
                <a:ea typeface="Arial"/>
                <a:cs typeface="Arial"/>
              </a:defRPr>
            </a:lvl7pPr>
            <a:lvl8pPr>
              <a:defRPr sz="1200" b="0">
                <a:solidFill>
                  <a:srgbClr val="BDD1C9"/>
                </a:solidFill>
                <a:latin typeface="Arial"/>
                <a:ea typeface="Arial"/>
                <a:cs typeface="Arial"/>
              </a:defRPr>
            </a:lvl8pPr>
            <a:lvl9pPr>
              <a:defRPr sz="1200" b="0">
                <a:solidFill>
                  <a:srgbClr val="BDD1C9"/>
                </a:solidFill>
                <a:latin typeface="Arial"/>
                <a:ea typeface="Arial"/>
                <a:cs typeface="Arial"/>
              </a:defRPr>
            </a:lvl9pPr>
          </a:lstStyle>
          <a:p xmlns:a="http://schemas.openxmlformats.org/drawingml/2006/main">
            <a:pPr>
              <a:defRPr sz="1200" b="0">
                <a:solidFill>
                  <a:srgbClr val="BDD1C9"/>
                </a:solidFill>
                <a:latin typeface="Arial"/>
                <a:ea typeface="Arial"/>
                <a:cs typeface="Arial"/>
              </a:defRPr>
            </a:pPr>
            <a:r>
              <a:rPr sz="1200" b="0">
                <a:solidFill>
                  <a:srgbClr val="BDD1C9"/>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878567F-9532-4D7E-AD3A-0B58015C631F}"/>
              </a:ext>
            </a:extLst>
          </p:cNvPr>
          <p:cNvSpPr>
            <a:spLocks xmlns:a="http://schemas.openxmlformats.org/drawingml/2006/main" noGrp="1"/>
          </p:cNvSpPr>
          <p:nvPr/>
        </p:nvSpPr>
        <p:spPr>
          <a:xfrm xmlns:a="http://schemas.openxmlformats.org/drawingml/2006/main">
            <a:off x="685800" y="1400175"/>
            <a:ext cx="1009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FFFFFF"/>
                </a:solidFill>
                <a:latin typeface="Arial"/>
                <a:ea typeface="Arial"/>
                <a:cs typeface="Arial"/>
              </a:defRPr>
            </a:defPPr>
            <a:lvl1pPr>
              <a:defRPr sz="6000" b="1">
                <a:solidFill>
                  <a:srgbClr val="FFFFFF"/>
                </a:solidFill>
                <a:latin typeface="Arial"/>
                <a:ea typeface="Arial"/>
                <a:cs typeface="Arial"/>
              </a:defRPr>
            </a:lvl1pPr>
            <a:lvl2pPr>
              <a:defRPr sz="6000" b="1">
                <a:solidFill>
                  <a:srgbClr val="FFFFFF"/>
                </a:solidFill>
                <a:latin typeface="Arial"/>
                <a:ea typeface="Arial"/>
                <a:cs typeface="Arial"/>
              </a:defRPr>
            </a:lvl2pPr>
            <a:lvl3pPr>
              <a:defRPr sz="6000" b="1">
                <a:solidFill>
                  <a:srgbClr val="FFFFFF"/>
                </a:solidFill>
                <a:latin typeface="Arial"/>
                <a:ea typeface="Arial"/>
                <a:cs typeface="Arial"/>
              </a:defRPr>
            </a:lvl3pPr>
            <a:lvl4pPr>
              <a:defRPr sz="6000" b="1">
                <a:solidFill>
                  <a:srgbClr val="FFFFFF"/>
                </a:solidFill>
                <a:latin typeface="Arial"/>
                <a:ea typeface="Arial"/>
                <a:cs typeface="Arial"/>
              </a:defRPr>
            </a:lvl4pPr>
            <a:lvl5pPr>
              <a:defRPr sz="6000" b="1">
                <a:solidFill>
                  <a:srgbClr val="FFFFFF"/>
                </a:solidFill>
                <a:latin typeface="Arial"/>
                <a:ea typeface="Arial"/>
                <a:cs typeface="Arial"/>
              </a:defRPr>
            </a:lvl5pPr>
            <a:lvl6pPr>
              <a:defRPr sz="6000" b="1">
                <a:solidFill>
                  <a:srgbClr val="FFFFFF"/>
                </a:solidFill>
                <a:latin typeface="Arial"/>
                <a:ea typeface="Arial"/>
                <a:cs typeface="Arial"/>
              </a:defRPr>
            </a:lvl6pPr>
            <a:lvl7pPr>
              <a:defRPr sz="6000" b="1">
                <a:solidFill>
                  <a:srgbClr val="FFFFFF"/>
                </a:solidFill>
                <a:latin typeface="Arial"/>
                <a:ea typeface="Arial"/>
                <a:cs typeface="Arial"/>
              </a:defRPr>
            </a:lvl7pPr>
            <a:lvl8pPr>
              <a:defRPr sz="6000" b="1">
                <a:solidFill>
                  <a:srgbClr val="FFFFFF"/>
                </a:solidFill>
                <a:latin typeface="Arial"/>
                <a:ea typeface="Arial"/>
                <a:cs typeface="Arial"/>
              </a:defRPr>
            </a:lvl8pPr>
            <a:lvl9pPr>
              <a:defRPr sz="6000" b="1">
                <a:solidFill>
                  <a:srgbClr val="FFFFFF"/>
                </a:solidFill>
                <a:latin typeface="Arial"/>
                <a:ea typeface="Arial"/>
                <a:cs typeface="Arial"/>
              </a:defRPr>
            </a:lvl9pPr>
          </a:lstStyle>
          <a:p xmlns:a="http://schemas.openxmlformats.org/drawingml/2006/main">
            <a:pPr>
              <a:defRPr sz="6000" b="1">
                <a:solidFill>
                  <a:srgbClr val="FFFFFF"/>
                </a:solidFill>
                <a:latin typeface="Arial"/>
                <a:ea typeface="Arial"/>
                <a:cs typeface="Arial"/>
              </a:defRPr>
            </a:pPr>
            <a:r>
              <a:rPr sz="6000" b="1">
                <a:solidFill>
                  <a:srgbClr val="FFFFFF"/>
                </a:solidFill>
                <a:latin typeface="Arial"/>
                <a:ea typeface="Arial"/>
                <a:cs typeface="Arial"/>
              </a:rPr>
              <a:t>BuildTrust AI</a:t>
            </a:r>
          </a:p>
        </p:txBody>
      </p:sp>
      <p:sp>
        <p:nvSpPr>
          <p:cNvPr id="4" name="">
            <a:extLst xmlns:a="http://schemas.openxmlformats.org/drawingml/2006/main">
              <a:ext uri="{FF2B5EF4-FFF2-40B4-BE49-F238E27FC236}">
                <a16:creationId xmlns:a16="http://schemas.microsoft.com/office/drawing/2014/main" id="{8A1EA08A-9BC5-4530-AF11-102E88FE8A60}"/>
              </a:ext>
            </a:extLst>
          </p:cNvPr>
          <p:cNvSpPr>
            <a:spLocks xmlns:a="http://schemas.openxmlformats.org/drawingml/2006/main" noGrp="1"/>
          </p:cNvSpPr>
          <p:nvPr/>
        </p:nvSpPr>
        <p:spPr>
          <a:xfrm xmlns:a="http://schemas.openxmlformats.org/drawingml/2006/main">
            <a:off x="723900" y="2667000"/>
            <a:ext cx="10287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E2ECE7"/>
                </a:solidFill>
                <a:latin typeface="Arial"/>
                <a:ea typeface="Arial"/>
                <a:cs typeface="Arial"/>
              </a:defRPr>
            </a:defPPr>
            <a:lvl1pPr>
              <a:defRPr sz="3300" b="0">
                <a:solidFill>
                  <a:srgbClr val="E2ECE7"/>
                </a:solidFill>
                <a:latin typeface="Arial"/>
                <a:ea typeface="Arial"/>
                <a:cs typeface="Arial"/>
              </a:defRPr>
            </a:lvl1pPr>
            <a:lvl2pPr>
              <a:defRPr sz="3300" b="0">
                <a:solidFill>
                  <a:srgbClr val="E2ECE7"/>
                </a:solidFill>
                <a:latin typeface="Arial"/>
                <a:ea typeface="Arial"/>
                <a:cs typeface="Arial"/>
              </a:defRPr>
            </a:lvl2pPr>
            <a:lvl3pPr>
              <a:defRPr sz="3300" b="0">
                <a:solidFill>
                  <a:srgbClr val="E2ECE7"/>
                </a:solidFill>
                <a:latin typeface="Arial"/>
                <a:ea typeface="Arial"/>
                <a:cs typeface="Arial"/>
              </a:defRPr>
            </a:lvl3pPr>
            <a:lvl4pPr>
              <a:defRPr sz="3300" b="0">
                <a:solidFill>
                  <a:srgbClr val="E2ECE7"/>
                </a:solidFill>
                <a:latin typeface="Arial"/>
                <a:ea typeface="Arial"/>
                <a:cs typeface="Arial"/>
              </a:defRPr>
            </a:lvl4pPr>
            <a:lvl5pPr>
              <a:defRPr sz="3300" b="0">
                <a:solidFill>
                  <a:srgbClr val="E2ECE7"/>
                </a:solidFill>
                <a:latin typeface="Arial"/>
                <a:ea typeface="Arial"/>
                <a:cs typeface="Arial"/>
              </a:defRPr>
            </a:lvl5pPr>
            <a:lvl6pPr>
              <a:defRPr sz="3300" b="0">
                <a:solidFill>
                  <a:srgbClr val="E2ECE7"/>
                </a:solidFill>
                <a:latin typeface="Arial"/>
                <a:ea typeface="Arial"/>
                <a:cs typeface="Arial"/>
              </a:defRPr>
            </a:lvl6pPr>
            <a:lvl7pPr>
              <a:defRPr sz="3300" b="0">
                <a:solidFill>
                  <a:srgbClr val="E2ECE7"/>
                </a:solidFill>
                <a:latin typeface="Arial"/>
                <a:ea typeface="Arial"/>
                <a:cs typeface="Arial"/>
              </a:defRPr>
            </a:lvl7pPr>
            <a:lvl8pPr>
              <a:defRPr sz="3300" b="0">
                <a:solidFill>
                  <a:srgbClr val="E2ECE7"/>
                </a:solidFill>
                <a:latin typeface="Arial"/>
                <a:ea typeface="Arial"/>
                <a:cs typeface="Arial"/>
              </a:defRPr>
            </a:lvl8pPr>
            <a:lvl9pPr>
              <a:defRPr sz="3300" b="0">
                <a:solidFill>
                  <a:srgbClr val="E2ECE7"/>
                </a:solidFill>
                <a:latin typeface="Arial"/>
                <a:ea typeface="Arial"/>
                <a:cs typeface="Arial"/>
              </a:defRPr>
            </a:lvl9pPr>
          </a:lstStyle>
          <a:p xmlns:a="http://schemas.openxmlformats.org/drawingml/2006/main">
            <a:pPr>
              <a:defRPr sz="3300" b="0">
                <a:solidFill>
                  <a:srgbClr val="E2ECE7"/>
                </a:solidFill>
                <a:latin typeface="Arial"/>
                <a:ea typeface="Arial"/>
                <a:cs typeface="Arial"/>
              </a:defRPr>
            </a:pPr>
            <a:r>
              <a:rPr sz="3300" b="0">
                <a:solidFill>
                  <a:srgbClr val="E2ECE7"/>
                </a:solidFill>
                <a:latin typeface="Arial"/>
                <a:ea typeface="Arial"/>
                <a:cs typeface="Arial"/>
              </a:rPr>
              <a:t>Construction costs</a:t>
            </a:r>
          </a:p>
          <a:p xmlns:a="http://schemas.openxmlformats.org/drawingml/2006/main">
            <a:pPr>
              <a:defRPr sz="3300" b="0">
                <a:solidFill>
                  <a:srgbClr val="E2ECE7"/>
                </a:solidFill>
                <a:latin typeface="Arial"/>
                <a:ea typeface="Arial"/>
                <a:cs typeface="Arial"/>
              </a:defRPr>
            </a:pPr>
            <a:r>
              <a:rPr sz="3300" b="0">
                <a:solidFill>
                  <a:srgbClr val="E2ECE7"/>
                </a:solidFill>
                <a:latin typeface="Arial"/>
                <a:ea typeface="Arial"/>
                <a:cs typeface="Arial"/>
              </a:rPr>
              <a:t>and payment review</a:t>
            </a:r>
          </a:p>
        </p:txBody>
      </p:sp>
      <p:sp>
        <p:nvSpPr>
          <p:cNvPr id="5" name="">
            <a:extLst xmlns:a="http://schemas.openxmlformats.org/drawingml/2006/main">
              <a:ext uri="{FF2B5EF4-FFF2-40B4-BE49-F238E27FC236}">
                <a16:creationId xmlns:a16="http://schemas.microsoft.com/office/drawing/2014/main" id="{89BD5237-8DA1-4436-82FB-9DC9DBE315EC}"/>
              </a:ext>
            </a:extLst>
          </p:cNvPr>
          <p:cNvSpPr>
            <a:spLocks xmlns:a="http://schemas.openxmlformats.org/drawingml/2006/main" noGrp="1"/>
          </p:cNvSpPr>
          <p:nvPr/>
        </p:nvSpPr>
        <p:spPr>
          <a:xfrm xmlns:a="http://schemas.openxmlformats.org/drawingml/2006/main">
            <a:off x="742950" y="4524375"/>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A8CDC0"/>
                </a:solidFill>
                <a:latin typeface="Arial"/>
                <a:ea typeface="Arial"/>
                <a:cs typeface="Arial"/>
              </a:defRPr>
            </a:defPPr>
            <a:lvl1pPr>
              <a:defRPr sz="2025" b="0">
                <a:solidFill>
                  <a:srgbClr val="A8CDC0"/>
                </a:solidFill>
                <a:latin typeface="Arial"/>
                <a:ea typeface="Arial"/>
                <a:cs typeface="Arial"/>
              </a:defRPr>
            </a:lvl1pPr>
            <a:lvl2pPr>
              <a:defRPr sz="2025" b="0">
                <a:solidFill>
                  <a:srgbClr val="A8CDC0"/>
                </a:solidFill>
                <a:latin typeface="Arial"/>
                <a:ea typeface="Arial"/>
                <a:cs typeface="Arial"/>
              </a:defRPr>
            </a:lvl2pPr>
            <a:lvl3pPr>
              <a:defRPr sz="2025" b="0">
                <a:solidFill>
                  <a:srgbClr val="A8CDC0"/>
                </a:solidFill>
                <a:latin typeface="Arial"/>
                <a:ea typeface="Arial"/>
                <a:cs typeface="Arial"/>
              </a:defRPr>
            </a:lvl3pPr>
            <a:lvl4pPr>
              <a:defRPr sz="2025" b="0">
                <a:solidFill>
                  <a:srgbClr val="A8CDC0"/>
                </a:solidFill>
                <a:latin typeface="Arial"/>
                <a:ea typeface="Arial"/>
                <a:cs typeface="Arial"/>
              </a:defRPr>
            </a:lvl4pPr>
            <a:lvl5pPr>
              <a:defRPr sz="2025" b="0">
                <a:solidFill>
                  <a:srgbClr val="A8CDC0"/>
                </a:solidFill>
                <a:latin typeface="Arial"/>
                <a:ea typeface="Arial"/>
                <a:cs typeface="Arial"/>
              </a:defRPr>
            </a:lvl5pPr>
            <a:lvl6pPr>
              <a:defRPr sz="2025" b="0">
                <a:solidFill>
                  <a:srgbClr val="A8CDC0"/>
                </a:solidFill>
                <a:latin typeface="Arial"/>
                <a:ea typeface="Arial"/>
                <a:cs typeface="Arial"/>
              </a:defRPr>
            </a:lvl6pPr>
            <a:lvl7pPr>
              <a:defRPr sz="2025" b="0">
                <a:solidFill>
                  <a:srgbClr val="A8CDC0"/>
                </a:solidFill>
                <a:latin typeface="Arial"/>
                <a:ea typeface="Arial"/>
                <a:cs typeface="Arial"/>
              </a:defRPr>
            </a:lvl7pPr>
            <a:lvl8pPr>
              <a:defRPr sz="2025" b="0">
                <a:solidFill>
                  <a:srgbClr val="A8CDC0"/>
                </a:solidFill>
                <a:latin typeface="Arial"/>
                <a:ea typeface="Arial"/>
                <a:cs typeface="Arial"/>
              </a:defRPr>
            </a:lvl8pPr>
            <a:lvl9pPr>
              <a:defRPr sz="2025" b="0">
                <a:solidFill>
                  <a:srgbClr val="A8CDC0"/>
                </a:solidFill>
                <a:latin typeface="Arial"/>
                <a:ea typeface="Arial"/>
                <a:cs typeface="Arial"/>
              </a:defRPr>
            </a:lvl9pPr>
          </a:lstStyle>
          <a:p xmlns:a="http://schemas.openxmlformats.org/drawingml/2006/main">
            <a:pPr>
              <a:defRPr sz="2025" b="0">
                <a:solidFill>
                  <a:srgbClr val="A8CDC0"/>
                </a:solidFill>
                <a:latin typeface="Arial"/>
                <a:ea typeface="Arial"/>
                <a:cs typeface="Arial"/>
              </a:defRPr>
            </a:pPr>
            <a:r>
              <a:rPr sz="2025" b="0">
                <a:solidFill>
                  <a:srgbClr val="A8CDC0"/>
                </a:solidFill>
                <a:latin typeface="Arial"/>
                <a:ea typeface="Arial"/>
                <a:cs typeface="Arial"/>
              </a:rPr>
              <a:t>Clear evidence for construction finance.</a:t>
            </a:r>
          </a:p>
        </p:txBody>
      </p:sp>
      <p:sp>
        <p:nvSpPr>
          <p:cNvPr id="6" name="">
            <a:extLst xmlns:a="http://schemas.openxmlformats.org/drawingml/2006/main">
              <a:ext uri="{FF2B5EF4-FFF2-40B4-BE49-F238E27FC236}">
                <a16:creationId xmlns:a16="http://schemas.microsoft.com/office/drawing/2014/main" id="{0AAF9841-5103-42DE-8709-71C143609E3B}"/>
              </a:ext>
            </a:extLst>
          </p:cNvPr>
          <p:cNvSpPr>
            <a:spLocks xmlns:a="http://schemas.openxmlformats.org/drawingml/2006/main" noGrp="1"/>
          </p:cNvSpPr>
          <p:nvPr/>
        </p:nvSpPr>
        <p:spPr>
          <a:xfrm xmlns:a="http://schemas.openxmlformats.org/drawingml/2006/main">
            <a:off x="742950" y="55435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DD1C9"/>
                </a:solidFill>
                <a:latin typeface="Arial"/>
                <a:ea typeface="Arial"/>
                <a:cs typeface="Arial"/>
              </a:defRPr>
            </a:defPPr>
            <a:lvl1pPr>
              <a:defRPr sz="1725" b="0">
                <a:solidFill>
                  <a:srgbClr val="BDD1C9"/>
                </a:solidFill>
                <a:latin typeface="Arial"/>
                <a:ea typeface="Arial"/>
                <a:cs typeface="Arial"/>
              </a:defRPr>
            </a:lvl1pPr>
            <a:lvl2pPr>
              <a:defRPr sz="1725" b="0">
                <a:solidFill>
                  <a:srgbClr val="BDD1C9"/>
                </a:solidFill>
                <a:latin typeface="Arial"/>
                <a:ea typeface="Arial"/>
                <a:cs typeface="Arial"/>
              </a:defRPr>
            </a:lvl2pPr>
            <a:lvl3pPr>
              <a:defRPr sz="1725" b="0">
                <a:solidFill>
                  <a:srgbClr val="BDD1C9"/>
                </a:solidFill>
                <a:latin typeface="Arial"/>
                <a:ea typeface="Arial"/>
                <a:cs typeface="Arial"/>
              </a:defRPr>
            </a:lvl3pPr>
            <a:lvl4pPr>
              <a:defRPr sz="1725" b="0">
                <a:solidFill>
                  <a:srgbClr val="BDD1C9"/>
                </a:solidFill>
                <a:latin typeface="Arial"/>
                <a:ea typeface="Arial"/>
                <a:cs typeface="Arial"/>
              </a:defRPr>
            </a:lvl4pPr>
            <a:lvl5pPr>
              <a:defRPr sz="1725" b="0">
                <a:solidFill>
                  <a:srgbClr val="BDD1C9"/>
                </a:solidFill>
                <a:latin typeface="Arial"/>
                <a:ea typeface="Arial"/>
                <a:cs typeface="Arial"/>
              </a:defRPr>
            </a:lvl5pPr>
            <a:lvl6pPr>
              <a:defRPr sz="1725" b="0">
                <a:solidFill>
                  <a:srgbClr val="BDD1C9"/>
                </a:solidFill>
                <a:latin typeface="Arial"/>
                <a:ea typeface="Arial"/>
                <a:cs typeface="Arial"/>
              </a:defRPr>
            </a:lvl6pPr>
            <a:lvl7pPr>
              <a:defRPr sz="1725" b="0">
                <a:solidFill>
                  <a:srgbClr val="BDD1C9"/>
                </a:solidFill>
                <a:latin typeface="Arial"/>
                <a:ea typeface="Arial"/>
                <a:cs typeface="Arial"/>
              </a:defRPr>
            </a:lvl7pPr>
            <a:lvl8pPr>
              <a:defRPr sz="1725" b="0">
                <a:solidFill>
                  <a:srgbClr val="BDD1C9"/>
                </a:solidFill>
                <a:latin typeface="Arial"/>
                <a:ea typeface="Arial"/>
                <a:cs typeface="Arial"/>
              </a:defRPr>
            </a:lvl8pPr>
            <a:lvl9pPr>
              <a:defRPr sz="1725" b="0">
                <a:solidFill>
                  <a:srgbClr val="BDD1C9"/>
                </a:solidFill>
                <a:latin typeface="Arial"/>
                <a:ea typeface="Arial"/>
                <a:cs typeface="Arial"/>
              </a:defRPr>
            </a:lvl9pPr>
          </a:lstStyle>
          <a:p xmlns:a="http://schemas.openxmlformats.org/drawingml/2006/main">
            <a:pPr>
              <a:defRPr sz="1725" b="0">
                <a:solidFill>
                  <a:srgbClr val="BDD1C9"/>
                </a:solidFill>
                <a:latin typeface="Arial"/>
                <a:ea typeface="Arial"/>
                <a:cs typeface="Arial"/>
              </a:defRPr>
            </a:pPr>
            <a:r>
              <a:rPr sz="1725" b="0">
                <a:solidFill>
                  <a:srgbClr val="BDD1C9"/>
                </a:solidFill>
                <a:latin typeface="Arial"/>
                <a:ea typeface="Arial"/>
                <a:cs typeface="Arial"/>
              </a:rPr>
              <a:t>2026 Shenzhen FinTechathon  ·  International Track  ·  Topic E</a:t>
            </a:r>
          </a:p>
        </p:txBody>
      </p:sp>
    </p:spTree>
    <p:extLst>
      <p:ext uri="{BB962C8B-B14F-4D97-AF65-F5344CB8AC3E}">
        <p14:creationId xmlns:p14="http://schemas.microsoft.com/office/powerpoint/2010/main" val="1828050"/>
      </p:ext>
    </p:extLst>
  </p:cSld>
</p:sld>
</file>

<file path=ppt/slides/slide2.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3DE603-7397-4656-B2A4-430469666B9D}"/>
              </a:ext>
            </a:extLst>
          </p:cNvPr>
          <p:cNvSpPr>
            <a:spLocks xmlns:a="http://schemas.openxmlformats.org/drawingml/2006/main" noGrp="1"/>
          </p:cNvSpPr>
          <p:nvPr/>
        </p:nvSpPr>
        <p:spPr>
          <a:xfrm xmlns:a="http://schemas.openxmlformats.org/drawingml/2006/main">
            <a:off x="685800" y="590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43F"/>
                </a:solidFill>
                <a:latin typeface="Arial"/>
                <a:ea typeface="Arial"/>
                <a:cs typeface="Arial"/>
              </a:defRPr>
            </a:defPPr>
            <a:lvl1pPr>
              <a:defRPr sz="3300" b="1">
                <a:solidFill>
                  <a:srgbClr val="19343F"/>
                </a:solidFill>
                <a:latin typeface="Arial"/>
                <a:ea typeface="Arial"/>
                <a:cs typeface="Arial"/>
              </a:defRPr>
            </a:lvl1pPr>
            <a:lvl2pPr>
              <a:defRPr sz="3300" b="1">
                <a:solidFill>
                  <a:srgbClr val="19343F"/>
                </a:solidFill>
                <a:latin typeface="Arial"/>
                <a:ea typeface="Arial"/>
                <a:cs typeface="Arial"/>
              </a:defRPr>
            </a:lvl2pPr>
            <a:lvl3pPr>
              <a:defRPr sz="3300" b="1">
                <a:solidFill>
                  <a:srgbClr val="19343F"/>
                </a:solidFill>
                <a:latin typeface="Arial"/>
                <a:ea typeface="Arial"/>
                <a:cs typeface="Arial"/>
              </a:defRPr>
            </a:lvl3pPr>
            <a:lvl4pPr>
              <a:defRPr sz="3300" b="1">
                <a:solidFill>
                  <a:srgbClr val="19343F"/>
                </a:solidFill>
                <a:latin typeface="Arial"/>
                <a:ea typeface="Arial"/>
                <a:cs typeface="Arial"/>
              </a:defRPr>
            </a:lvl4pPr>
            <a:lvl5pPr>
              <a:defRPr sz="3300" b="1">
                <a:solidFill>
                  <a:srgbClr val="19343F"/>
                </a:solidFill>
                <a:latin typeface="Arial"/>
                <a:ea typeface="Arial"/>
                <a:cs typeface="Arial"/>
              </a:defRPr>
            </a:lvl5pPr>
            <a:lvl6pPr>
              <a:defRPr sz="3300" b="1">
                <a:solidFill>
                  <a:srgbClr val="19343F"/>
                </a:solidFill>
                <a:latin typeface="Arial"/>
                <a:ea typeface="Arial"/>
                <a:cs typeface="Arial"/>
              </a:defRPr>
            </a:lvl6pPr>
            <a:lvl7pPr>
              <a:defRPr sz="3300" b="1">
                <a:solidFill>
                  <a:srgbClr val="19343F"/>
                </a:solidFill>
                <a:latin typeface="Arial"/>
                <a:ea typeface="Arial"/>
                <a:cs typeface="Arial"/>
              </a:defRPr>
            </a:lvl7pPr>
            <a:lvl8pPr>
              <a:defRPr sz="3300" b="1">
                <a:solidFill>
                  <a:srgbClr val="19343F"/>
                </a:solidFill>
                <a:latin typeface="Arial"/>
                <a:ea typeface="Arial"/>
                <a:cs typeface="Arial"/>
              </a:defRPr>
            </a:lvl8pPr>
            <a:lvl9pPr>
              <a:defRPr sz="3300" b="1">
                <a:solidFill>
                  <a:srgbClr val="19343F"/>
                </a:solidFill>
                <a:latin typeface="Arial"/>
                <a:ea typeface="Arial"/>
                <a:cs typeface="Arial"/>
              </a:defRPr>
            </a:lvl9pPr>
          </a:lstStyle>
          <a:p xmlns:a="http://schemas.openxmlformats.org/drawingml/2006/main">
            <a:pPr>
              <a:defRPr sz="3300" b="1">
                <a:solidFill>
                  <a:srgbClr val="19343F"/>
                </a:solidFill>
                <a:latin typeface="Arial"/>
                <a:ea typeface="Arial"/>
                <a:cs typeface="Arial"/>
              </a:defRPr>
            </a:pPr>
            <a:r>
              <a:rPr sz="3300" b="1">
                <a:solidFill>
                  <a:srgbClr val="19343F"/>
                </a:solidFill>
                <a:latin typeface="Arial"/>
                <a:ea typeface="Arial"/>
                <a:cs typeface="Arial"/>
              </a:rPr>
              <a:t>Four records before payment</a:t>
            </a:r>
          </a:p>
        </p:txBody>
      </p:sp>
      <p:sp>
        <p:nvSpPr>
          <p:cNvPr id="2" name="">
            <a:extLst xmlns:a="http://schemas.openxmlformats.org/drawingml/2006/main">
              <a:ext uri="{FF2B5EF4-FFF2-40B4-BE49-F238E27FC236}">
                <a16:creationId xmlns:a16="http://schemas.microsoft.com/office/drawing/2014/main" id="{B97CF7A3-1910-4B6C-B3AA-95409390DA18}"/>
              </a:ext>
            </a:extLst>
          </p:cNvPr>
          <p:cNvSpPr>
            <a:spLocks xmlns:a="http://schemas.openxmlformats.org/drawingml/2006/main" noGrp="1"/>
          </p:cNvSpPr>
          <p:nvPr/>
        </p:nvSpPr>
        <p:spPr>
          <a:xfrm xmlns:a="http://schemas.openxmlformats.org/drawingml/2006/main">
            <a:off x="685800" y="64103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BuildTrust AI  ·  Fictional sandbox demonstration</a:t>
            </a:r>
          </a:p>
        </p:txBody>
      </p:sp>
      <p:sp>
        <p:nvSpPr>
          <p:cNvPr id="3" name="">
            <a:extLst xmlns:a="http://schemas.openxmlformats.org/drawingml/2006/main">
              <a:ext uri="{FF2B5EF4-FFF2-40B4-BE49-F238E27FC236}">
                <a16:creationId xmlns:a16="http://schemas.microsoft.com/office/drawing/2014/main" id="{325880C5-E2C1-4D6E-A627-BB80D33823CD}"/>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F3CFBA6-584A-49B7-A560-135032179392}"/>
              </a:ext>
            </a:extLst>
          </p:cNvPr>
          <p:cNvSpPr>
            <a:spLocks xmlns:a="http://schemas.openxmlformats.org/drawingml/2006/main" noGrp="1"/>
          </p:cNvSpPr>
          <p:nvPr/>
        </p:nvSpPr>
        <p:spPr>
          <a:xfrm xmlns:a="http://schemas.openxmlformats.org/drawingml/2006/main">
            <a:off x="685800" y="186690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9343F"/>
                </a:solidFill>
                <a:latin typeface="Arial"/>
                <a:ea typeface="Arial"/>
                <a:cs typeface="Arial"/>
              </a:defRPr>
            </a:defPPr>
            <a:lvl1pPr>
              <a:defRPr sz="2550" b="1">
                <a:solidFill>
                  <a:srgbClr val="19343F"/>
                </a:solidFill>
                <a:latin typeface="Arial"/>
                <a:ea typeface="Arial"/>
                <a:cs typeface="Arial"/>
              </a:defRPr>
            </a:lvl1pPr>
            <a:lvl2pPr>
              <a:defRPr sz="2550" b="1">
                <a:solidFill>
                  <a:srgbClr val="19343F"/>
                </a:solidFill>
                <a:latin typeface="Arial"/>
                <a:ea typeface="Arial"/>
                <a:cs typeface="Arial"/>
              </a:defRPr>
            </a:lvl2pPr>
            <a:lvl3pPr>
              <a:defRPr sz="2550" b="1">
                <a:solidFill>
                  <a:srgbClr val="19343F"/>
                </a:solidFill>
                <a:latin typeface="Arial"/>
                <a:ea typeface="Arial"/>
                <a:cs typeface="Arial"/>
              </a:defRPr>
            </a:lvl3pPr>
            <a:lvl4pPr>
              <a:defRPr sz="2550" b="1">
                <a:solidFill>
                  <a:srgbClr val="19343F"/>
                </a:solidFill>
                <a:latin typeface="Arial"/>
                <a:ea typeface="Arial"/>
                <a:cs typeface="Arial"/>
              </a:defRPr>
            </a:lvl4pPr>
            <a:lvl5pPr>
              <a:defRPr sz="2550" b="1">
                <a:solidFill>
                  <a:srgbClr val="19343F"/>
                </a:solidFill>
                <a:latin typeface="Arial"/>
                <a:ea typeface="Arial"/>
                <a:cs typeface="Arial"/>
              </a:defRPr>
            </a:lvl5pPr>
            <a:lvl6pPr>
              <a:defRPr sz="2550" b="1">
                <a:solidFill>
                  <a:srgbClr val="19343F"/>
                </a:solidFill>
                <a:latin typeface="Arial"/>
                <a:ea typeface="Arial"/>
                <a:cs typeface="Arial"/>
              </a:defRPr>
            </a:lvl6pPr>
            <a:lvl7pPr>
              <a:defRPr sz="2550" b="1">
                <a:solidFill>
                  <a:srgbClr val="19343F"/>
                </a:solidFill>
                <a:latin typeface="Arial"/>
                <a:ea typeface="Arial"/>
                <a:cs typeface="Arial"/>
              </a:defRPr>
            </a:lvl7pPr>
            <a:lvl8pPr>
              <a:defRPr sz="2550" b="1">
                <a:solidFill>
                  <a:srgbClr val="19343F"/>
                </a:solidFill>
                <a:latin typeface="Arial"/>
                <a:ea typeface="Arial"/>
                <a:cs typeface="Arial"/>
              </a:defRPr>
            </a:lvl8pPr>
            <a:lvl9pPr>
              <a:defRPr sz="2550" b="1">
                <a:solidFill>
                  <a:srgbClr val="19343F"/>
                </a:solidFill>
                <a:latin typeface="Arial"/>
                <a:ea typeface="Arial"/>
                <a:cs typeface="Arial"/>
              </a:defRPr>
            </a:lvl9pPr>
          </a:lstStyle>
          <a:p xmlns:a="http://schemas.openxmlformats.org/drawingml/2006/main">
            <a:pPr>
              <a:defRPr sz="2550" b="1">
                <a:solidFill>
                  <a:srgbClr val="19343F"/>
                </a:solidFill>
                <a:latin typeface="Arial"/>
                <a:ea typeface="Arial"/>
                <a:cs typeface="Arial"/>
              </a:defRPr>
            </a:pPr>
            <a:r>
              <a:rPr sz="2550" b="1">
                <a:solidFill>
                  <a:srgbClr val="19343F"/>
                </a:solidFill>
                <a:latin typeface="Arial"/>
                <a:ea typeface="Arial"/>
                <a:cs typeface="Arial"/>
              </a:rPr>
              <a:t>The records must agree</a:t>
            </a:r>
          </a:p>
        </p:txBody>
      </p:sp>
      <p:sp>
        <p:nvSpPr>
          <p:cNvPr id="5" name="">
            <a:extLst xmlns:a="http://schemas.openxmlformats.org/drawingml/2006/main">
              <a:ext uri="{FF2B5EF4-FFF2-40B4-BE49-F238E27FC236}">
                <a16:creationId xmlns:a16="http://schemas.microsoft.com/office/drawing/2014/main" id="{667602D9-C0E7-460E-83F9-0A58F5BF363D}"/>
              </a:ext>
            </a:extLst>
          </p:cNvPr>
          <p:cNvSpPr>
            <a:spLocks xmlns:a="http://schemas.openxmlformats.org/drawingml/2006/main" noGrp="1"/>
          </p:cNvSpPr>
          <p:nvPr/>
        </p:nvSpPr>
        <p:spPr>
          <a:xfrm xmlns:a="http://schemas.openxmlformats.org/drawingml/2006/main">
            <a:off x="685800" y="2819400"/>
            <a:ext cx="58102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0777D"/>
                </a:solidFill>
                <a:latin typeface="Arial"/>
                <a:ea typeface="Arial"/>
                <a:cs typeface="Arial"/>
              </a:defRPr>
            </a:defPPr>
            <a:lvl1pPr>
              <a:defRPr sz="2175" b="0">
                <a:solidFill>
                  <a:srgbClr val="60777D"/>
                </a:solidFill>
                <a:latin typeface="Arial"/>
                <a:ea typeface="Arial"/>
                <a:cs typeface="Arial"/>
              </a:defRPr>
            </a:lvl1pPr>
            <a:lvl2pPr>
              <a:defRPr sz="2175" b="0">
                <a:solidFill>
                  <a:srgbClr val="60777D"/>
                </a:solidFill>
                <a:latin typeface="Arial"/>
                <a:ea typeface="Arial"/>
                <a:cs typeface="Arial"/>
              </a:defRPr>
            </a:lvl2pPr>
            <a:lvl3pPr>
              <a:defRPr sz="2175" b="0">
                <a:solidFill>
                  <a:srgbClr val="60777D"/>
                </a:solidFill>
                <a:latin typeface="Arial"/>
                <a:ea typeface="Arial"/>
                <a:cs typeface="Arial"/>
              </a:defRPr>
            </a:lvl3pPr>
            <a:lvl4pPr>
              <a:defRPr sz="2175" b="0">
                <a:solidFill>
                  <a:srgbClr val="60777D"/>
                </a:solidFill>
                <a:latin typeface="Arial"/>
                <a:ea typeface="Arial"/>
                <a:cs typeface="Arial"/>
              </a:defRPr>
            </a:lvl4pPr>
            <a:lvl5pPr>
              <a:defRPr sz="2175" b="0">
                <a:solidFill>
                  <a:srgbClr val="60777D"/>
                </a:solidFill>
                <a:latin typeface="Arial"/>
                <a:ea typeface="Arial"/>
                <a:cs typeface="Arial"/>
              </a:defRPr>
            </a:lvl5pPr>
            <a:lvl6pPr>
              <a:defRPr sz="2175" b="0">
                <a:solidFill>
                  <a:srgbClr val="60777D"/>
                </a:solidFill>
                <a:latin typeface="Arial"/>
                <a:ea typeface="Arial"/>
                <a:cs typeface="Arial"/>
              </a:defRPr>
            </a:lvl6pPr>
            <a:lvl7pPr>
              <a:defRPr sz="2175" b="0">
                <a:solidFill>
                  <a:srgbClr val="60777D"/>
                </a:solidFill>
                <a:latin typeface="Arial"/>
                <a:ea typeface="Arial"/>
                <a:cs typeface="Arial"/>
              </a:defRPr>
            </a:lvl7pPr>
            <a:lvl8pPr>
              <a:defRPr sz="2175" b="0">
                <a:solidFill>
                  <a:srgbClr val="60777D"/>
                </a:solidFill>
                <a:latin typeface="Arial"/>
                <a:ea typeface="Arial"/>
                <a:cs typeface="Arial"/>
              </a:defRPr>
            </a:lvl8pPr>
            <a:lvl9pPr>
              <a:defRPr sz="2175" b="0">
                <a:solidFill>
                  <a:srgbClr val="60777D"/>
                </a:solidFill>
                <a:latin typeface="Arial"/>
                <a:ea typeface="Arial"/>
                <a:cs typeface="Arial"/>
              </a:defRPr>
            </a:lvl9pPr>
          </a:lstStyle>
          <a:p xmlns:a="http://schemas.openxmlformats.org/drawingml/2006/main">
            <a:pPr>
              <a:defRPr sz="2175" b="0">
                <a:solidFill>
                  <a:srgbClr val="60777D"/>
                </a:solidFill>
                <a:latin typeface="Arial"/>
                <a:ea typeface="Arial"/>
                <a:cs typeface="Arial"/>
              </a:defRPr>
            </a:pPr>
            <a:r>
              <a:rPr sz="2175" b="0">
                <a:solidFill>
                  <a:srgbClr val="60777D"/>
                </a:solidFill>
                <a:latin typeface="Arial"/>
                <a:ea typeface="Arial"/>
                <a:cs typeface="Arial"/>
              </a:rPr>
              <a:t>BOQ: the approved quantities.</a:t>
            </a:r>
          </a:p>
          <a:p xmlns:a="http://schemas.openxmlformats.org/drawingml/2006/main">
            <a:r>
              <a:t/>
            </a:r>
          </a:p>
          <a:p xmlns:a="http://schemas.openxmlformats.org/drawingml/2006/main">
            <a:pPr>
              <a:defRPr sz="2175" b="0">
                <a:solidFill>
                  <a:srgbClr val="60777D"/>
                </a:solidFill>
                <a:latin typeface="Arial"/>
                <a:ea typeface="Arial"/>
                <a:cs typeface="Arial"/>
              </a:defRPr>
            </a:pPr>
            <a:r>
              <a:rPr sz="2175" b="0">
                <a:solidFill>
                  <a:srgbClr val="60777D"/>
                </a:solidFill>
                <a:latin typeface="Arial"/>
                <a:ea typeface="Arial"/>
                <a:cs typeface="Arial"/>
              </a:rPr>
              <a:t>PO and receipt: order and delivery.</a:t>
            </a:r>
          </a:p>
          <a:p xmlns:a="http://schemas.openxmlformats.org/drawingml/2006/main">
            <a:r>
              <a:t/>
            </a:r>
          </a:p>
          <a:p xmlns:a="http://schemas.openxmlformats.org/drawingml/2006/main">
            <a:pPr>
              <a:defRPr sz="2175" b="0">
                <a:solidFill>
                  <a:srgbClr val="60777D"/>
                </a:solidFill>
                <a:latin typeface="Arial"/>
                <a:ea typeface="Arial"/>
                <a:cs typeface="Arial"/>
              </a:defRPr>
            </a:pPr>
            <a:r>
              <a:rPr sz="2175" b="0">
                <a:solidFill>
                  <a:srgbClr val="60777D"/>
                </a:solidFill>
                <a:latin typeface="Arial"/>
                <a:ea typeface="Arial"/>
                <a:cs typeface="Arial"/>
              </a:rPr>
              <a:t>Invoice: a claim to check.</a:t>
            </a:r>
          </a:p>
        </p:txBody>
      </p:sp>
      <p:pic>
        <p:nvPicPr>
          <p:cNvPr id="6" name="">
            <a:extLst xmlns:a="http://schemas.openxmlformats.org/drawingml/2006/main">
              <a:ext uri="{FF2B5EF4-FFF2-40B4-BE49-F238E27FC236}">
                <a16:creationId xmlns:a16="http://schemas.microsoft.com/office/drawing/2014/main" id="{7C8B180E-07CF-45B6-8302-465C899E8D33}"/>
              </a:ext>
            </a:extLst>
          </p:cNvPr>
          <p:cNvPicPr>
            <a:picLocks xmlns:a="http://schemas.openxmlformats.org/drawingml/2006/main" noChangeAspect="1"/>
          </p:cNvPicPr>
          <p:nvPr/>
        </p:nvPicPr>
        <p:blipFill>
          <a:blip xmlns:r="http://schemas.openxmlformats.org/officeDocument/2006/relationships" xmlns:a="http://schemas.openxmlformats.org/drawingml/2006/main" r:embed="R8fab77e03271484b"/>
          <a:stretch xmlns:a="http://schemas.openxmlformats.org/drawingml/2006/main"/>
        </p:blipFill>
        <p:spPr>
          <a:xfrm xmlns:a="http://schemas.openxmlformats.org/drawingml/2006/main">
            <a:off x="7524750" y="1530792"/>
            <a:ext cx="3267075" cy="4615566"/>
          </a:xfrm>
          <a:prstGeom xmlns:a="http://schemas.openxmlformats.org/drawingml/2006/main" prst="rect">
            <a:avLst/>
          </a:prstGeom>
        </p:spPr>
      </p:pic>
    </p:spTree>
    <p:extLst>
      <p:ext uri="{BB962C8B-B14F-4D97-AF65-F5344CB8AC3E}">
        <p14:creationId xmlns:p14="http://schemas.microsoft.com/office/powerpoint/2010/main" val="1365824496"/>
      </p:ext>
    </p:extLst>
  </p:cSld>
</p:sld>
</file>

<file path=ppt/slides/slide3.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A9DE71-96B4-459D-B10C-68EE9139A870}"/>
              </a:ext>
            </a:extLst>
          </p:cNvPr>
          <p:cNvSpPr>
            <a:spLocks xmlns:a="http://schemas.openxmlformats.org/drawingml/2006/main" noGrp="1"/>
          </p:cNvSpPr>
          <p:nvPr/>
        </p:nvSpPr>
        <p:spPr>
          <a:xfrm xmlns:a="http://schemas.openxmlformats.org/drawingml/2006/main">
            <a:off x="685800" y="590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43F"/>
                </a:solidFill>
                <a:latin typeface="Arial"/>
                <a:ea typeface="Arial"/>
                <a:cs typeface="Arial"/>
              </a:defRPr>
            </a:defPPr>
            <a:lvl1pPr>
              <a:defRPr sz="3300" b="1">
                <a:solidFill>
                  <a:srgbClr val="19343F"/>
                </a:solidFill>
                <a:latin typeface="Arial"/>
                <a:ea typeface="Arial"/>
                <a:cs typeface="Arial"/>
              </a:defRPr>
            </a:lvl1pPr>
            <a:lvl2pPr>
              <a:defRPr sz="3300" b="1">
                <a:solidFill>
                  <a:srgbClr val="19343F"/>
                </a:solidFill>
                <a:latin typeface="Arial"/>
                <a:ea typeface="Arial"/>
                <a:cs typeface="Arial"/>
              </a:defRPr>
            </a:lvl2pPr>
            <a:lvl3pPr>
              <a:defRPr sz="3300" b="1">
                <a:solidFill>
                  <a:srgbClr val="19343F"/>
                </a:solidFill>
                <a:latin typeface="Arial"/>
                <a:ea typeface="Arial"/>
                <a:cs typeface="Arial"/>
              </a:defRPr>
            </a:lvl3pPr>
            <a:lvl4pPr>
              <a:defRPr sz="3300" b="1">
                <a:solidFill>
                  <a:srgbClr val="19343F"/>
                </a:solidFill>
                <a:latin typeface="Arial"/>
                <a:ea typeface="Arial"/>
                <a:cs typeface="Arial"/>
              </a:defRPr>
            </a:lvl4pPr>
            <a:lvl5pPr>
              <a:defRPr sz="3300" b="1">
                <a:solidFill>
                  <a:srgbClr val="19343F"/>
                </a:solidFill>
                <a:latin typeface="Arial"/>
                <a:ea typeface="Arial"/>
                <a:cs typeface="Arial"/>
              </a:defRPr>
            </a:lvl5pPr>
            <a:lvl6pPr>
              <a:defRPr sz="3300" b="1">
                <a:solidFill>
                  <a:srgbClr val="19343F"/>
                </a:solidFill>
                <a:latin typeface="Arial"/>
                <a:ea typeface="Arial"/>
                <a:cs typeface="Arial"/>
              </a:defRPr>
            </a:lvl6pPr>
            <a:lvl7pPr>
              <a:defRPr sz="3300" b="1">
                <a:solidFill>
                  <a:srgbClr val="19343F"/>
                </a:solidFill>
                <a:latin typeface="Arial"/>
                <a:ea typeface="Arial"/>
                <a:cs typeface="Arial"/>
              </a:defRPr>
            </a:lvl7pPr>
            <a:lvl8pPr>
              <a:defRPr sz="3300" b="1">
                <a:solidFill>
                  <a:srgbClr val="19343F"/>
                </a:solidFill>
                <a:latin typeface="Arial"/>
                <a:ea typeface="Arial"/>
                <a:cs typeface="Arial"/>
              </a:defRPr>
            </a:lvl8pPr>
            <a:lvl9pPr>
              <a:defRPr sz="3300" b="1">
                <a:solidFill>
                  <a:srgbClr val="19343F"/>
                </a:solidFill>
                <a:latin typeface="Arial"/>
                <a:ea typeface="Arial"/>
                <a:cs typeface="Arial"/>
              </a:defRPr>
            </a:lvl9pPr>
          </a:lstStyle>
          <a:p xmlns:a="http://schemas.openxmlformats.org/drawingml/2006/main">
            <a:pPr>
              <a:defRPr sz="3300" b="1">
                <a:solidFill>
                  <a:srgbClr val="19343F"/>
                </a:solidFill>
                <a:latin typeface="Arial"/>
                <a:ea typeface="Arial"/>
                <a:cs typeface="Arial"/>
              </a:defRPr>
            </a:pPr>
            <a:r>
              <a:rPr sz="3300" b="1">
                <a:solidFill>
                  <a:srgbClr val="19343F"/>
                </a:solidFill>
                <a:latin typeface="Arial"/>
                <a:ea typeface="Arial"/>
                <a:cs typeface="Arial"/>
              </a:rPr>
              <a:t>Cash and the minimum reserve</a:t>
            </a:r>
          </a:p>
        </p:txBody>
      </p:sp>
      <p:sp>
        <p:nvSpPr>
          <p:cNvPr id="2" name="">
            <a:extLst xmlns:a="http://schemas.openxmlformats.org/drawingml/2006/main">
              <a:ext uri="{FF2B5EF4-FFF2-40B4-BE49-F238E27FC236}">
                <a16:creationId xmlns:a16="http://schemas.microsoft.com/office/drawing/2014/main" id="{DE32EF21-9C54-4B41-A419-C4067FBF95D3}"/>
              </a:ext>
            </a:extLst>
          </p:cNvPr>
          <p:cNvSpPr>
            <a:spLocks xmlns:a="http://schemas.openxmlformats.org/drawingml/2006/main" noGrp="1"/>
          </p:cNvSpPr>
          <p:nvPr/>
        </p:nvSpPr>
        <p:spPr>
          <a:xfrm xmlns:a="http://schemas.openxmlformats.org/drawingml/2006/main">
            <a:off x="685800" y="64103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BuildTrust AI  ·  Fictional sandbox demonstration</a:t>
            </a:r>
          </a:p>
        </p:txBody>
      </p:sp>
      <p:sp>
        <p:nvSpPr>
          <p:cNvPr id="3" name="">
            <a:extLst xmlns:a="http://schemas.openxmlformats.org/drawingml/2006/main">
              <a:ext uri="{FF2B5EF4-FFF2-40B4-BE49-F238E27FC236}">
                <a16:creationId xmlns:a16="http://schemas.microsoft.com/office/drawing/2014/main" id="{665A47B4-84AD-4C85-84FE-D299C8EAB6C7}"/>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A8706D6E-2114-46A7-B9DD-4E0357A5301A}"/>
              </a:ext>
            </a:extLst>
          </p:cNvPr>
          <p:cNvSpPr>
            <a:spLocks xmlns:a="http://schemas.openxmlformats.org/drawingml/2006/main" noGrp="1"/>
          </p:cNvSpPr>
          <p:nvPr/>
        </p:nvSpPr>
        <p:spPr>
          <a:xfrm xmlns:a="http://schemas.openxmlformats.org/drawingml/2006/main">
            <a:off x="685800" y="1790700"/>
            <a:ext cx="409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9343F"/>
                </a:solidFill>
                <a:latin typeface="Arial"/>
                <a:ea typeface="Arial"/>
                <a:cs typeface="Arial"/>
              </a:defRPr>
            </a:defPPr>
            <a:lvl1pPr>
              <a:defRPr sz="2775" b="1">
                <a:solidFill>
                  <a:srgbClr val="19343F"/>
                </a:solidFill>
                <a:latin typeface="Arial"/>
                <a:ea typeface="Arial"/>
                <a:cs typeface="Arial"/>
              </a:defRPr>
            </a:lvl1pPr>
            <a:lvl2pPr>
              <a:defRPr sz="2775" b="1">
                <a:solidFill>
                  <a:srgbClr val="19343F"/>
                </a:solidFill>
                <a:latin typeface="Arial"/>
                <a:ea typeface="Arial"/>
                <a:cs typeface="Arial"/>
              </a:defRPr>
            </a:lvl2pPr>
            <a:lvl3pPr>
              <a:defRPr sz="2775" b="1">
                <a:solidFill>
                  <a:srgbClr val="19343F"/>
                </a:solidFill>
                <a:latin typeface="Arial"/>
                <a:ea typeface="Arial"/>
                <a:cs typeface="Arial"/>
              </a:defRPr>
            </a:lvl3pPr>
            <a:lvl4pPr>
              <a:defRPr sz="2775" b="1">
                <a:solidFill>
                  <a:srgbClr val="19343F"/>
                </a:solidFill>
                <a:latin typeface="Arial"/>
                <a:ea typeface="Arial"/>
                <a:cs typeface="Arial"/>
              </a:defRPr>
            </a:lvl4pPr>
            <a:lvl5pPr>
              <a:defRPr sz="2775" b="1">
                <a:solidFill>
                  <a:srgbClr val="19343F"/>
                </a:solidFill>
                <a:latin typeface="Arial"/>
                <a:ea typeface="Arial"/>
                <a:cs typeface="Arial"/>
              </a:defRPr>
            </a:lvl5pPr>
            <a:lvl6pPr>
              <a:defRPr sz="2775" b="1">
                <a:solidFill>
                  <a:srgbClr val="19343F"/>
                </a:solidFill>
                <a:latin typeface="Arial"/>
                <a:ea typeface="Arial"/>
                <a:cs typeface="Arial"/>
              </a:defRPr>
            </a:lvl6pPr>
            <a:lvl7pPr>
              <a:defRPr sz="2775" b="1">
                <a:solidFill>
                  <a:srgbClr val="19343F"/>
                </a:solidFill>
                <a:latin typeface="Arial"/>
                <a:ea typeface="Arial"/>
                <a:cs typeface="Arial"/>
              </a:defRPr>
            </a:lvl7pPr>
            <a:lvl8pPr>
              <a:defRPr sz="2775" b="1">
                <a:solidFill>
                  <a:srgbClr val="19343F"/>
                </a:solidFill>
                <a:latin typeface="Arial"/>
                <a:ea typeface="Arial"/>
                <a:cs typeface="Arial"/>
              </a:defRPr>
            </a:lvl8pPr>
            <a:lvl9pPr>
              <a:defRPr sz="2775" b="1">
                <a:solidFill>
                  <a:srgbClr val="19343F"/>
                </a:solidFill>
                <a:latin typeface="Arial"/>
                <a:ea typeface="Arial"/>
                <a:cs typeface="Arial"/>
              </a:defRPr>
            </a:lvl9pPr>
          </a:lstStyle>
          <a:p xmlns:a="http://schemas.openxmlformats.org/drawingml/2006/main">
            <a:pPr>
              <a:defRPr sz="2775" b="1">
                <a:solidFill>
                  <a:srgbClr val="19343F"/>
                </a:solidFill>
                <a:latin typeface="Arial"/>
                <a:ea typeface="Arial"/>
                <a:cs typeface="Arial"/>
              </a:defRPr>
            </a:pPr>
            <a:r>
              <a:rPr sz="2775" b="1">
                <a:solidFill>
                  <a:srgbClr val="19343F"/>
                </a:solidFill>
                <a:latin typeface="Arial"/>
                <a:ea typeface="Arial"/>
                <a:cs typeface="Arial"/>
              </a:rPr>
              <a:t>A correct invoice may</a:t>
            </a:r>
          </a:p>
          <a:p xmlns:a="http://schemas.openxmlformats.org/drawingml/2006/main">
            <a:pPr>
              <a:defRPr sz="2775" b="1">
                <a:solidFill>
                  <a:srgbClr val="19343F"/>
                </a:solidFill>
                <a:latin typeface="Arial"/>
                <a:ea typeface="Arial"/>
                <a:cs typeface="Arial"/>
              </a:defRPr>
            </a:pPr>
            <a:r>
              <a:rPr sz="2775" b="1">
                <a:solidFill>
                  <a:srgbClr val="19343F"/>
                </a:solidFill>
                <a:latin typeface="Arial"/>
                <a:ea typeface="Arial"/>
                <a:cs typeface="Arial"/>
              </a:rPr>
              <a:t>need to wait for cash.</a:t>
            </a:r>
          </a:p>
        </p:txBody>
      </p:sp>
      <p:sp>
        <p:nvSpPr>
          <p:cNvPr id="5" name="">
            <a:extLst xmlns:a="http://schemas.openxmlformats.org/drawingml/2006/main">
              <a:ext uri="{FF2B5EF4-FFF2-40B4-BE49-F238E27FC236}">
                <a16:creationId xmlns:a16="http://schemas.microsoft.com/office/drawing/2014/main" id="{FCD70DA3-69BD-4F09-8CF7-3FAC54FE0668}"/>
              </a:ext>
            </a:extLst>
          </p:cNvPr>
          <p:cNvSpPr>
            <a:spLocks xmlns:a="http://schemas.openxmlformats.org/drawingml/2006/main" noGrp="1"/>
          </p:cNvSpPr>
          <p:nvPr/>
        </p:nvSpPr>
        <p:spPr>
          <a:xfrm xmlns:a="http://schemas.openxmlformats.org/drawingml/2006/main">
            <a:off x="685800" y="3486150"/>
            <a:ext cx="419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86E62"/>
                </a:solidFill>
                <a:latin typeface="Arial"/>
                <a:ea typeface="Arial"/>
                <a:cs typeface="Arial"/>
              </a:defRPr>
            </a:defPPr>
            <a:lvl1pPr>
              <a:defRPr sz="3600" b="1">
                <a:solidFill>
                  <a:srgbClr val="286E62"/>
                </a:solidFill>
                <a:latin typeface="Arial"/>
                <a:ea typeface="Arial"/>
                <a:cs typeface="Arial"/>
              </a:defRPr>
            </a:lvl1pPr>
            <a:lvl2pPr>
              <a:defRPr sz="3600" b="1">
                <a:solidFill>
                  <a:srgbClr val="286E62"/>
                </a:solidFill>
                <a:latin typeface="Arial"/>
                <a:ea typeface="Arial"/>
                <a:cs typeface="Arial"/>
              </a:defRPr>
            </a:lvl2pPr>
            <a:lvl3pPr>
              <a:defRPr sz="3600" b="1">
                <a:solidFill>
                  <a:srgbClr val="286E62"/>
                </a:solidFill>
                <a:latin typeface="Arial"/>
                <a:ea typeface="Arial"/>
                <a:cs typeface="Arial"/>
              </a:defRPr>
            </a:lvl3pPr>
            <a:lvl4pPr>
              <a:defRPr sz="3600" b="1">
                <a:solidFill>
                  <a:srgbClr val="286E62"/>
                </a:solidFill>
                <a:latin typeface="Arial"/>
                <a:ea typeface="Arial"/>
                <a:cs typeface="Arial"/>
              </a:defRPr>
            </a:lvl4pPr>
            <a:lvl5pPr>
              <a:defRPr sz="3600" b="1">
                <a:solidFill>
                  <a:srgbClr val="286E62"/>
                </a:solidFill>
                <a:latin typeface="Arial"/>
                <a:ea typeface="Arial"/>
                <a:cs typeface="Arial"/>
              </a:defRPr>
            </a:lvl5pPr>
            <a:lvl6pPr>
              <a:defRPr sz="3600" b="1">
                <a:solidFill>
                  <a:srgbClr val="286E62"/>
                </a:solidFill>
                <a:latin typeface="Arial"/>
                <a:ea typeface="Arial"/>
                <a:cs typeface="Arial"/>
              </a:defRPr>
            </a:lvl6pPr>
            <a:lvl7pPr>
              <a:defRPr sz="3600" b="1">
                <a:solidFill>
                  <a:srgbClr val="286E62"/>
                </a:solidFill>
                <a:latin typeface="Arial"/>
                <a:ea typeface="Arial"/>
                <a:cs typeface="Arial"/>
              </a:defRPr>
            </a:lvl7pPr>
            <a:lvl8pPr>
              <a:defRPr sz="3600" b="1">
                <a:solidFill>
                  <a:srgbClr val="286E62"/>
                </a:solidFill>
                <a:latin typeface="Arial"/>
                <a:ea typeface="Arial"/>
                <a:cs typeface="Arial"/>
              </a:defRPr>
            </a:lvl8pPr>
            <a:lvl9pPr>
              <a:defRPr sz="3600" b="1">
                <a:solidFill>
                  <a:srgbClr val="286E62"/>
                </a:solidFill>
                <a:latin typeface="Arial"/>
                <a:ea typeface="Arial"/>
                <a:cs typeface="Arial"/>
              </a:defRPr>
            </a:lvl9pPr>
          </a:lstStyle>
          <a:p xmlns:a="http://schemas.openxmlformats.org/drawingml/2006/main">
            <a:pPr>
              <a:defRPr sz="3600" b="1">
                <a:solidFill>
                  <a:srgbClr val="286E62"/>
                </a:solidFill>
                <a:latin typeface="Arial"/>
                <a:ea typeface="Arial"/>
                <a:cs typeface="Arial"/>
              </a:defRPr>
            </a:pPr>
            <a:r>
              <a:rPr sz="3600" b="1">
                <a:solidFill>
                  <a:srgbClr val="286E62"/>
                </a:solidFill>
                <a:latin typeface="Arial"/>
                <a:ea typeface="Arial"/>
                <a:cs typeface="Arial"/>
              </a:rPr>
              <a:t>BDT 100,000</a:t>
            </a:r>
          </a:p>
        </p:txBody>
      </p:sp>
      <p:sp>
        <p:nvSpPr>
          <p:cNvPr id="6" name="">
            <a:extLst xmlns:a="http://schemas.openxmlformats.org/drawingml/2006/main">
              <a:ext uri="{FF2B5EF4-FFF2-40B4-BE49-F238E27FC236}">
                <a16:creationId xmlns:a16="http://schemas.microsoft.com/office/drawing/2014/main" id="{FD091A3A-B2EA-46A8-811D-FF40723DA02E}"/>
              </a:ext>
            </a:extLst>
          </p:cNvPr>
          <p:cNvSpPr>
            <a:spLocks xmlns:a="http://schemas.openxmlformats.org/drawingml/2006/main" noGrp="1"/>
          </p:cNvSpPr>
          <p:nvPr/>
        </p:nvSpPr>
        <p:spPr>
          <a:xfrm xmlns:a="http://schemas.openxmlformats.org/drawingml/2006/main">
            <a:off x="723900" y="4229100"/>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0777D"/>
                </a:solidFill>
                <a:latin typeface="Arial"/>
                <a:ea typeface="Arial"/>
                <a:cs typeface="Arial"/>
              </a:defRPr>
            </a:defPPr>
            <a:lvl1pPr>
              <a:defRPr sz="1800" b="0">
                <a:solidFill>
                  <a:srgbClr val="60777D"/>
                </a:solidFill>
                <a:latin typeface="Arial"/>
                <a:ea typeface="Arial"/>
                <a:cs typeface="Arial"/>
              </a:defRPr>
            </a:lvl1pPr>
            <a:lvl2pPr>
              <a:defRPr sz="1800" b="0">
                <a:solidFill>
                  <a:srgbClr val="60777D"/>
                </a:solidFill>
                <a:latin typeface="Arial"/>
                <a:ea typeface="Arial"/>
                <a:cs typeface="Arial"/>
              </a:defRPr>
            </a:lvl2pPr>
            <a:lvl3pPr>
              <a:defRPr sz="1800" b="0">
                <a:solidFill>
                  <a:srgbClr val="60777D"/>
                </a:solidFill>
                <a:latin typeface="Arial"/>
                <a:ea typeface="Arial"/>
                <a:cs typeface="Arial"/>
              </a:defRPr>
            </a:lvl3pPr>
            <a:lvl4pPr>
              <a:defRPr sz="1800" b="0">
                <a:solidFill>
                  <a:srgbClr val="60777D"/>
                </a:solidFill>
                <a:latin typeface="Arial"/>
                <a:ea typeface="Arial"/>
                <a:cs typeface="Arial"/>
              </a:defRPr>
            </a:lvl4pPr>
            <a:lvl5pPr>
              <a:defRPr sz="1800" b="0">
                <a:solidFill>
                  <a:srgbClr val="60777D"/>
                </a:solidFill>
                <a:latin typeface="Arial"/>
                <a:ea typeface="Arial"/>
                <a:cs typeface="Arial"/>
              </a:defRPr>
            </a:lvl5pPr>
            <a:lvl6pPr>
              <a:defRPr sz="1800" b="0">
                <a:solidFill>
                  <a:srgbClr val="60777D"/>
                </a:solidFill>
                <a:latin typeface="Arial"/>
                <a:ea typeface="Arial"/>
                <a:cs typeface="Arial"/>
              </a:defRPr>
            </a:lvl6pPr>
            <a:lvl7pPr>
              <a:defRPr sz="1800" b="0">
                <a:solidFill>
                  <a:srgbClr val="60777D"/>
                </a:solidFill>
                <a:latin typeface="Arial"/>
                <a:ea typeface="Arial"/>
                <a:cs typeface="Arial"/>
              </a:defRPr>
            </a:lvl7pPr>
            <a:lvl8pPr>
              <a:defRPr sz="1800" b="0">
                <a:solidFill>
                  <a:srgbClr val="60777D"/>
                </a:solidFill>
                <a:latin typeface="Arial"/>
                <a:ea typeface="Arial"/>
                <a:cs typeface="Arial"/>
              </a:defRPr>
            </a:lvl8pPr>
            <a:lvl9pPr>
              <a:defRPr sz="1800" b="0">
                <a:solidFill>
                  <a:srgbClr val="60777D"/>
                </a:solidFill>
                <a:latin typeface="Arial"/>
                <a:ea typeface="Arial"/>
                <a:cs typeface="Arial"/>
              </a:defRPr>
            </a:lvl9pPr>
          </a:lstStyle>
          <a:p xmlns:a="http://schemas.openxmlformats.org/drawingml/2006/main">
            <a:pPr>
              <a:defRPr sz="1800" b="0">
                <a:solidFill>
                  <a:srgbClr val="60777D"/>
                </a:solidFill>
                <a:latin typeface="Arial"/>
                <a:ea typeface="Arial"/>
                <a:cs typeface="Arial"/>
              </a:defRPr>
            </a:pPr>
            <a:r>
              <a:rPr sz="1800" b="0">
                <a:solidFill>
                  <a:srgbClr val="60777D"/>
                </a:solidFill>
                <a:latin typeface="Arial"/>
                <a:ea typeface="Arial"/>
                <a:cs typeface="Arial"/>
              </a:rPr>
              <a:t>Minimum cash kept in the demo</a:t>
            </a:r>
          </a:p>
        </p:txBody>
      </p:sp>
      <p:sp>
        <p:nvSpPr>
          <p:cNvPr id="7" name="">
            <a:extLst xmlns:a="http://schemas.openxmlformats.org/drawingml/2006/main">
              <a:ext uri="{FF2B5EF4-FFF2-40B4-BE49-F238E27FC236}">
                <a16:creationId xmlns:a16="http://schemas.microsoft.com/office/drawing/2014/main" id="{467B7CAC-999B-49C0-854A-6100FF06BEF7}"/>
              </a:ext>
            </a:extLst>
          </p:cNvPr>
          <p:cNvSpPr>
            <a:spLocks xmlns:a="http://schemas.openxmlformats.org/drawingml/2006/main" noGrp="1"/>
          </p:cNvSpPr>
          <p:nvPr/>
        </p:nvSpPr>
        <p:spPr>
          <a:xfrm xmlns:a="http://schemas.openxmlformats.org/drawingml/2006/main">
            <a:off x="723900" y="521970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77D"/>
                </a:solidFill>
                <a:latin typeface="Arial"/>
                <a:ea typeface="Arial"/>
                <a:cs typeface="Arial"/>
              </a:defRPr>
            </a:defPPr>
            <a:lvl1pPr>
              <a:defRPr sz="1725" b="0">
                <a:solidFill>
                  <a:srgbClr val="60777D"/>
                </a:solidFill>
                <a:latin typeface="Arial"/>
                <a:ea typeface="Arial"/>
                <a:cs typeface="Arial"/>
              </a:defRPr>
            </a:lvl1pPr>
            <a:lvl2pPr>
              <a:defRPr sz="1725" b="0">
                <a:solidFill>
                  <a:srgbClr val="60777D"/>
                </a:solidFill>
                <a:latin typeface="Arial"/>
                <a:ea typeface="Arial"/>
                <a:cs typeface="Arial"/>
              </a:defRPr>
            </a:lvl2pPr>
            <a:lvl3pPr>
              <a:defRPr sz="1725" b="0">
                <a:solidFill>
                  <a:srgbClr val="60777D"/>
                </a:solidFill>
                <a:latin typeface="Arial"/>
                <a:ea typeface="Arial"/>
                <a:cs typeface="Arial"/>
              </a:defRPr>
            </a:lvl3pPr>
            <a:lvl4pPr>
              <a:defRPr sz="1725" b="0">
                <a:solidFill>
                  <a:srgbClr val="60777D"/>
                </a:solidFill>
                <a:latin typeface="Arial"/>
                <a:ea typeface="Arial"/>
                <a:cs typeface="Arial"/>
              </a:defRPr>
            </a:lvl4pPr>
            <a:lvl5pPr>
              <a:defRPr sz="1725" b="0">
                <a:solidFill>
                  <a:srgbClr val="60777D"/>
                </a:solidFill>
                <a:latin typeface="Arial"/>
                <a:ea typeface="Arial"/>
                <a:cs typeface="Arial"/>
              </a:defRPr>
            </a:lvl5pPr>
            <a:lvl6pPr>
              <a:defRPr sz="1725" b="0">
                <a:solidFill>
                  <a:srgbClr val="60777D"/>
                </a:solidFill>
                <a:latin typeface="Arial"/>
                <a:ea typeface="Arial"/>
                <a:cs typeface="Arial"/>
              </a:defRPr>
            </a:lvl6pPr>
            <a:lvl7pPr>
              <a:defRPr sz="1725" b="0">
                <a:solidFill>
                  <a:srgbClr val="60777D"/>
                </a:solidFill>
                <a:latin typeface="Arial"/>
                <a:ea typeface="Arial"/>
                <a:cs typeface="Arial"/>
              </a:defRPr>
            </a:lvl7pPr>
            <a:lvl8pPr>
              <a:defRPr sz="1725" b="0">
                <a:solidFill>
                  <a:srgbClr val="60777D"/>
                </a:solidFill>
                <a:latin typeface="Arial"/>
                <a:ea typeface="Arial"/>
                <a:cs typeface="Arial"/>
              </a:defRPr>
            </a:lvl8pPr>
            <a:lvl9pPr>
              <a:defRPr sz="1725" b="0">
                <a:solidFill>
                  <a:srgbClr val="60777D"/>
                </a:solidFill>
                <a:latin typeface="Arial"/>
                <a:ea typeface="Arial"/>
                <a:cs typeface="Arial"/>
              </a:defRPr>
            </a:lvl9pPr>
          </a:lstStyle>
          <a:p xmlns:a="http://schemas.openxmlformats.org/drawingml/2006/main">
            <a:pPr>
              <a:defRPr sz="1725" b="0">
                <a:solidFill>
                  <a:srgbClr val="60777D"/>
                </a:solidFill>
                <a:latin typeface="Arial"/>
                <a:ea typeface="Arial"/>
                <a:cs typeface="Arial"/>
              </a:defRPr>
            </a:pPr>
            <a:r>
              <a:rPr sz="1725" b="0">
                <a:solidFill>
                  <a:srgbClr val="60777D"/>
                </a:solidFill>
                <a:latin typeface="Arial"/>
                <a:ea typeface="Arial"/>
                <a:cs typeface="Arial"/>
              </a:rPr>
              <a:t>Base and delayed receipts must pass.</a:t>
            </a:r>
          </a:p>
          <a:p xmlns:a="http://schemas.openxmlformats.org/drawingml/2006/main">
            <a:pPr>
              <a:defRPr sz="1725" b="0">
                <a:solidFill>
                  <a:srgbClr val="60777D"/>
                </a:solidFill>
                <a:latin typeface="Arial"/>
                <a:ea typeface="Arial"/>
                <a:cs typeface="Arial"/>
              </a:defRPr>
            </a:pPr>
            <a:r>
              <a:rPr sz="1725" b="0">
                <a:solidFill>
                  <a:srgbClr val="60777D"/>
                </a:solidFill>
                <a:latin typeface="Arial"/>
                <a:ea typeface="Arial"/>
                <a:cs typeface="Arial"/>
              </a:rPr>
              <a:t>Higher future costs show a warning.</a:t>
            </a:r>
          </a:p>
        </p:txBody>
      </p:sp>
      <p:pic>
        <p:nvPicPr>
          <p:cNvPr id="8" name="">
            <a:extLst xmlns:a="http://schemas.openxmlformats.org/drawingml/2006/main">
              <a:ext uri="{FF2B5EF4-FFF2-40B4-BE49-F238E27FC236}">
                <a16:creationId xmlns:a16="http://schemas.microsoft.com/office/drawing/2014/main" id="{115799A0-B74E-40DA-80F7-F54B942F030B}"/>
              </a:ext>
            </a:extLst>
          </p:cNvPr>
          <p:cNvPicPr>
            <a:picLocks xmlns:a="http://schemas.openxmlformats.org/drawingml/2006/main" noChangeAspect="1"/>
          </p:cNvPicPr>
          <p:nvPr/>
        </p:nvPicPr>
        <p:blipFill>
          <a:blip xmlns:r="http://schemas.openxmlformats.org/officeDocument/2006/relationships" xmlns:a="http://schemas.openxmlformats.org/drawingml/2006/main" r:embed="R15db016a6c684985"/>
          <a:stretch xmlns:a="http://schemas.openxmlformats.org/drawingml/2006/main"/>
        </p:blipFill>
        <p:spPr>
          <a:xfrm xmlns:a="http://schemas.openxmlformats.org/drawingml/2006/main">
            <a:off x="5952833" y="1657350"/>
            <a:ext cx="4696408" cy="4314825"/>
          </a:xfrm>
          <a:prstGeom xmlns:a="http://schemas.openxmlformats.org/drawingml/2006/main" prst="rect">
            <a:avLst/>
          </a:prstGeom>
        </p:spPr>
      </p:pic>
    </p:spTree>
    <p:extLst>
      <p:ext uri="{BB962C8B-B14F-4D97-AF65-F5344CB8AC3E}">
        <p14:creationId xmlns:p14="http://schemas.microsoft.com/office/powerpoint/2010/main" val="1138058020"/>
      </p:ext>
    </p:extLst>
  </p:cSld>
</p:sld>
</file>

<file path=ppt/slides/slide4.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3DDD6C-F4CA-4B8C-903C-E4D645FD0E92}"/>
              </a:ext>
            </a:extLst>
          </p:cNvPr>
          <p:cNvSpPr>
            <a:spLocks xmlns:a="http://schemas.openxmlformats.org/drawingml/2006/main" noGrp="1"/>
          </p:cNvSpPr>
          <p:nvPr/>
        </p:nvSpPr>
        <p:spPr>
          <a:xfrm xmlns:a="http://schemas.openxmlformats.org/drawingml/2006/main">
            <a:off x="685800" y="590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43F"/>
                </a:solidFill>
                <a:latin typeface="Arial"/>
                <a:ea typeface="Arial"/>
                <a:cs typeface="Arial"/>
              </a:defRPr>
            </a:defPPr>
            <a:lvl1pPr>
              <a:defRPr sz="3300" b="1">
                <a:solidFill>
                  <a:srgbClr val="19343F"/>
                </a:solidFill>
                <a:latin typeface="Arial"/>
                <a:ea typeface="Arial"/>
                <a:cs typeface="Arial"/>
              </a:defRPr>
            </a:lvl1pPr>
            <a:lvl2pPr>
              <a:defRPr sz="3300" b="1">
                <a:solidFill>
                  <a:srgbClr val="19343F"/>
                </a:solidFill>
                <a:latin typeface="Arial"/>
                <a:ea typeface="Arial"/>
                <a:cs typeface="Arial"/>
              </a:defRPr>
            </a:lvl2pPr>
            <a:lvl3pPr>
              <a:defRPr sz="3300" b="1">
                <a:solidFill>
                  <a:srgbClr val="19343F"/>
                </a:solidFill>
                <a:latin typeface="Arial"/>
                <a:ea typeface="Arial"/>
                <a:cs typeface="Arial"/>
              </a:defRPr>
            </a:lvl3pPr>
            <a:lvl4pPr>
              <a:defRPr sz="3300" b="1">
                <a:solidFill>
                  <a:srgbClr val="19343F"/>
                </a:solidFill>
                <a:latin typeface="Arial"/>
                <a:ea typeface="Arial"/>
                <a:cs typeface="Arial"/>
              </a:defRPr>
            </a:lvl4pPr>
            <a:lvl5pPr>
              <a:defRPr sz="3300" b="1">
                <a:solidFill>
                  <a:srgbClr val="19343F"/>
                </a:solidFill>
                <a:latin typeface="Arial"/>
                <a:ea typeface="Arial"/>
                <a:cs typeface="Arial"/>
              </a:defRPr>
            </a:lvl5pPr>
            <a:lvl6pPr>
              <a:defRPr sz="3300" b="1">
                <a:solidFill>
                  <a:srgbClr val="19343F"/>
                </a:solidFill>
                <a:latin typeface="Arial"/>
                <a:ea typeface="Arial"/>
                <a:cs typeface="Arial"/>
              </a:defRPr>
            </a:lvl6pPr>
            <a:lvl7pPr>
              <a:defRPr sz="3300" b="1">
                <a:solidFill>
                  <a:srgbClr val="19343F"/>
                </a:solidFill>
                <a:latin typeface="Arial"/>
                <a:ea typeface="Arial"/>
                <a:cs typeface="Arial"/>
              </a:defRPr>
            </a:lvl7pPr>
            <a:lvl8pPr>
              <a:defRPr sz="3300" b="1">
                <a:solidFill>
                  <a:srgbClr val="19343F"/>
                </a:solidFill>
                <a:latin typeface="Arial"/>
                <a:ea typeface="Arial"/>
                <a:cs typeface="Arial"/>
              </a:defRPr>
            </a:lvl8pPr>
            <a:lvl9pPr>
              <a:defRPr sz="3300" b="1">
                <a:solidFill>
                  <a:srgbClr val="19343F"/>
                </a:solidFill>
                <a:latin typeface="Arial"/>
                <a:ea typeface="Arial"/>
                <a:cs typeface="Arial"/>
              </a:defRPr>
            </a:lvl9pPr>
          </a:lstStyle>
          <a:p xmlns:a="http://schemas.openxmlformats.org/drawingml/2006/main">
            <a:pPr>
              <a:defRPr sz="3300" b="1">
                <a:solidFill>
                  <a:srgbClr val="19343F"/>
                </a:solidFill>
                <a:latin typeface="Arial"/>
                <a:ea typeface="Arial"/>
                <a:cs typeface="Arial"/>
              </a:defRPr>
            </a:pPr>
            <a:r>
              <a:rPr sz="3300" b="1">
                <a:solidFill>
                  <a:srgbClr val="19343F"/>
                </a:solidFill>
                <a:latin typeface="Arial"/>
                <a:ea typeface="Arial"/>
                <a:cs typeface="Arial"/>
              </a:rPr>
              <a:t>Payment review</a:t>
            </a:r>
          </a:p>
        </p:txBody>
      </p:sp>
      <p:sp>
        <p:nvSpPr>
          <p:cNvPr id="2" name="">
            <a:extLst xmlns:a="http://schemas.openxmlformats.org/drawingml/2006/main">
              <a:ext uri="{FF2B5EF4-FFF2-40B4-BE49-F238E27FC236}">
                <a16:creationId xmlns:a16="http://schemas.microsoft.com/office/drawing/2014/main" id="{8583D884-7AF5-4259-B1E4-178E5F6642F3}"/>
              </a:ext>
            </a:extLst>
          </p:cNvPr>
          <p:cNvSpPr>
            <a:spLocks xmlns:a="http://schemas.openxmlformats.org/drawingml/2006/main" noGrp="1"/>
          </p:cNvSpPr>
          <p:nvPr/>
        </p:nvSpPr>
        <p:spPr>
          <a:xfrm xmlns:a="http://schemas.openxmlformats.org/drawingml/2006/main">
            <a:off x="685800" y="64103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BuildTrust AI  ·  Fictional sandbox demonstration</a:t>
            </a:r>
          </a:p>
        </p:txBody>
      </p:sp>
      <p:sp>
        <p:nvSpPr>
          <p:cNvPr id="3" name="">
            <a:extLst xmlns:a="http://schemas.openxmlformats.org/drawingml/2006/main">
              <a:ext uri="{FF2B5EF4-FFF2-40B4-BE49-F238E27FC236}">
                <a16:creationId xmlns:a16="http://schemas.microsoft.com/office/drawing/2014/main" id="{1ED94A44-B712-4047-976C-27FE4972FCCD}"/>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349546BD-7B64-4592-B81C-1F636FC8E2DC}"/>
              </a:ext>
            </a:extLst>
          </p:cNvPr>
          <p:cNvSpPr>
            <a:spLocks xmlns:a="http://schemas.openxmlformats.org/drawingml/2006/main" noGrp="1"/>
          </p:cNvSpPr>
          <p:nvPr/>
        </p:nvSpPr>
        <p:spPr>
          <a:xfrm xmlns:a="http://schemas.openxmlformats.org/drawingml/2006/main">
            <a:off x="723900" y="1809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9343F"/>
                </a:solidFill>
                <a:latin typeface="Arial"/>
                <a:ea typeface="Arial"/>
                <a:cs typeface="Arial"/>
              </a:defRPr>
            </a:defPPr>
            <a:lvl1pPr>
              <a:defRPr sz="2175" b="1">
                <a:solidFill>
                  <a:srgbClr val="19343F"/>
                </a:solidFill>
                <a:latin typeface="Arial"/>
                <a:ea typeface="Arial"/>
                <a:cs typeface="Arial"/>
              </a:defRPr>
            </a:lvl1pPr>
            <a:lvl2pPr>
              <a:defRPr sz="2175" b="1">
                <a:solidFill>
                  <a:srgbClr val="19343F"/>
                </a:solidFill>
                <a:latin typeface="Arial"/>
                <a:ea typeface="Arial"/>
                <a:cs typeface="Arial"/>
              </a:defRPr>
            </a:lvl2pPr>
            <a:lvl3pPr>
              <a:defRPr sz="2175" b="1">
                <a:solidFill>
                  <a:srgbClr val="19343F"/>
                </a:solidFill>
                <a:latin typeface="Arial"/>
                <a:ea typeface="Arial"/>
                <a:cs typeface="Arial"/>
              </a:defRPr>
            </a:lvl3pPr>
            <a:lvl4pPr>
              <a:defRPr sz="2175" b="1">
                <a:solidFill>
                  <a:srgbClr val="19343F"/>
                </a:solidFill>
                <a:latin typeface="Arial"/>
                <a:ea typeface="Arial"/>
                <a:cs typeface="Arial"/>
              </a:defRPr>
            </a:lvl4pPr>
            <a:lvl5pPr>
              <a:defRPr sz="2175" b="1">
                <a:solidFill>
                  <a:srgbClr val="19343F"/>
                </a:solidFill>
                <a:latin typeface="Arial"/>
                <a:ea typeface="Arial"/>
                <a:cs typeface="Arial"/>
              </a:defRPr>
            </a:lvl5pPr>
            <a:lvl6pPr>
              <a:defRPr sz="2175" b="1">
                <a:solidFill>
                  <a:srgbClr val="19343F"/>
                </a:solidFill>
                <a:latin typeface="Arial"/>
                <a:ea typeface="Arial"/>
                <a:cs typeface="Arial"/>
              </a:defRPr>
            </a:lvl6pPr>
            <a:lvl7pPr>
              <a:defRPr sz="2175" b="1">
                <a:solidFill>
                  <a:srgbClr val="19343F"/>
                </a:solidFill>
                <a:latin typeface="Arial"/>
                <a:ea typeface="Arial"/>
                <a:cs typeface="Arial"/>
              </a:defRPr>
            </a:lvl7pPr>
            <a:lvl8pPr>
              <a:defRPr sz="2175" b="1">
                <a:solidFill>
                  <a:srgbClr val="19343F"/>
                </a:solidFill>
                <a:latin typeface="Arial"/>
                <a:ea typeface="Arial"/>
                <a:cs typeface="Arial"/>
              </a:defRPr>
            </a:lvl8pPr>
            <a:lvl9pPr>
              <a:defRPr sz="2175" b="1">
                <a:solidFill>
                  <a:srgbClr val="19343F"/>
                </a:solidFill>
                <a:latin typeface="Arial"/>
                <a:ea typeface="Arial"/>
                <a:cs typeface="Arial"/>
              </a:defRPr>
            </a:lvl9pPr>
          </a:lstStyle>
          <a:p xmlns:a="http://schemas.openxmlformats.org/drawingml/2006/main">
            <a:pPr>
              <a:defRPr sz="2175" b="1">
                <a:solidFill>
                  <a:srgbClr val="19343F"/>
                </a:solidFill>
                <a:latin typeface="Arial"/>
                <a:ea typeface="Arial"/>
                <a:cs typeface="Arial"/>
              </a:defRPr>
            </a:pPr>
            <a:r>
              <a:rPr sz="2175" b="1">
                <a:solidFill>
                  <a:srgbClr val="19343F"/>
                </a:solidFill>
                <a:latin typeface="Arial"/>
                <a:ea typeface="Arial"/>
                <a:cs typeface="Arial"/>
              </a:rPr>
              <a:t>Approved quantities   +   Order   +   Delivery   +   Invoice</a:t>
            </a:r>
          </a:p>
        </p:txBody>
      </p:sp>
      <p:sp>
        <p:nvSpPr>
          <p:cNvPr id="5" name="">
            <a:extLst xmlns:a="http://schemas.openxmlformats.org/drawingml/2006/main">
              <a:ext uri="{FF2B5EF4-FFF2-40B4-BE49-F238E27FC236}">
                <a16:creationId xmlns:a16="http://schemas.microsoft.com/office/drawing/2014/main" id="{CB50A114-7FB0-4FEF-9890-E4EC38E7F41D}"/>
              </a:ext>
            </a:extLst>
          </p:cNvPr>
          <p:cNvSpPr>
            <a:spLocks xmlns:a="http://schemas.openxmlformats.org/drawingml/2006/main" noGrp="1"/>
          </p:cNvSpPr>
          <p:nvPr/>
        </p:nvSpPr>
        <p:spPr>
          <a:xfrm xmlns:a="http://schemas.openxmlformats.org/drawingml/2006/main">
            <a:off x="723900" y="28384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9434D"/>
                </a:solidFill>
                <a:latin typeface="Arial"/>
                <a:ea typeface="Arial"/>
                <a:cs typeface="Arial"/>
              </a:defRPr>
            </a:defPPr>
            <a:lvl1pPr>
              <a:defRPr sz="2175" b="0">
                <a:solidFill>
                  <a:srgbClr val="29434D"/>
                </a:solidFill>
                <a:latin typeface="Arial"/>
                <a:ea typeface="Arial"/>
                <a:cs typeface="Arial"/>
              </a:defRPr>
            </a:lvl1pPr>
            <a:lvl2pPr>
              <a:defRPr sz="2175" b="0">
                <a:solidFill>
                  <a:srgbClr val="29434D"/>
                </a:solidFill>
                <a:latin typeface="Arial"/>
                <a:ea typeface="Arial"/>
                <a:cs typeface="Arial"/>
              </a:defRPr>
            </a:lvl2pPr>
            <a:lvl3pPr>
              <a:defRPr sz="2175" b="0">
                <a:solidFill>
                  <a:srgbClr val="29434D"/>
                </a:solidFill>
                <a:latin typeface="Arial"/>
                <a:ea typeface="Arial"/>
                <a:cs typeface="Arial"/>
              </a:defRPr>
            </a:lvl3pPr>
            <a:lvl4pPr>
              <a:defRPr sz="2175" b="0">
                <a:solidFill>
                  <a:srgbClr val="29434D"/>
                </a:solidFill>
                <a:latin typeface="Arial"/>
                <a:ea typeface="Arial"/>
                <a:cs typeface="Arial"/>
              </a:defRPr>
            </a:lvl4pPr>
            <a:lvl5pPr>
              <a:defRPr sz="2175" b="0">
                <a:solidFill>
                  <a:srgbClr val="29434D"/>
                </a:solidFill>
                <a:latin typeface="Arial"/>
                <a:ea typeface="Arial"/>
                <a:cs typeface="Arial"/>
              </a:defRPr>
            </a:lvl5pPr>
            <a:lvl6pPr>
              <a:defRPr sz="2175" b="0">
                <a:solidFill>
                  <a:srgbClr val="29434D"/>
                </a:solidFill>
                <a:latin typeface="Arial"/>
                <a:ea typeface="Arial"/>
                <a:cs typeface="Arial"/>
              </a:defRPr>
            </a:lvl6pPr>
            <a:lvl7pPr>
              <a:defRPr sz="2175" b="0">
                <a:solidFill>
                  <a:srgbClr val="29434D"/>
                </a:solidFill>
                <a:latin typeface="Arial"/>
                <a:ea typeface="Arial"/>
                <a:cs typeface="Arial"/>
              </a:defRPr>
            </a:lvl7pPr>
            <a:lvl8pPr>
              <a:defRPr sz="2175" b="0">
                <a:solidFill>
                  <a:srgbClr val="29434D"/>
                </a:solidFill>
                <a:latin typeface="Arial"/>
                <a:ea typeface="Arial"/>
                <a:cs typeface="Arial"/>
              </a:defRPr>
            </a:lvl8pPr>
            <a:lvl9pPr>
              <a:defRPr sz="2175" b="0">
                <a:solidFill>
                  <a:srgbClr val="29434D"/>
                </a:solidFill>
                <a:latin typeface="Arial"/>
                <a:ea typeface="Arial"/>
                <a:cs typeface="Arial"/>
              </a:defRPr>
            </a:lvl9pPr>
          </a:lstStyle>
          <a:p xmlns:a="http://schemas.openxmlformats.org/drawingml/2006/main">
            <a:pPr>
              <a:defRPr sz="2175" b="0">
                <a:solidFill>
                  <a:srgbClr val="29434D"/>
                </a:solidFill>
                <a:latin typeface="Arial"/>
                <a:ea typeface="Arial"/>
                <a:cs typeface="Arial"/>
              </a:defRPr>
            </a:pPr>
            <a:r>
              <a:rPr sz="2175" b="0">
                <a:solidFill>
                  <a:srgbClr val="29434D"/>
                </a:solidFill>
                <a:latin typeface="Arial"/>
                <a:ea typeface="Arial"/>
                <a:cs typeface="Arial"/>
              </a:rPr>
              <a:t>Read files  →  Compare records  →  Check risks and cash</a:t>
            </a:r>
          </a:p>
        </p:txBody>
      </p:sp>
      <p:sp>
        <p:nvSpPr>
          <p:cNvPr id="6" name="">
            <a:extLst xmlns:a="http://schemas.openxmlformats.org/drawingml/2006/main">
              <a:ext uri="{FF2B5EF4-FFF2-40B4-BE49-F238E27FC236}">
                <a16:creationId xmlns:a16="http://schemas.microsoft.com/office/drawing/2014/main" id="{D2EA15CF-B697-48E7-9EED-D7D504C2A7F8}"/>
              </a:ext>
            </a:extLst>
          </p:cNvPr>
          <p:cNvSpPr>
            <a:spLocks xmlns:a="http://schemas.openxmlformats.org/drawingml/2006/main" noGrp="1"/>
          </p:cNvSpPr>
          <p:nvPr/>
        </p:nvSpPr>
        <p:spPr>
          <a:xfrm xmlns:a="http://schemas.openxmlformats.org/drawingml/2006/main">
            <a:off x="723900" y="38671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86E62"/>
                </a:solidFill>
                <a:latin typeface="Arial"/>
                <a:ea typeface="Arial"/>
                <a:cs typeface="Arial"/>
              </a:defRPr>
            </a:defPPr>
            <a:lvl1pPr>
              <a:defRPr sz="2475" b="1">
                <a:solidFill>
                  <a:srgbClr val="286E62"/>
                </a:solidFill>
                <a:latin typeface="Arial"/>
                <a:ea typeface="Arial"/>
                <a:cs typeface="Arial"/>
              </a:defRPr>
            </a:lvl1pPr>
            <a:lvl2pPr>
              <a:defRPr sz="2475" b="1">
                <a:solidFill>
                  <a:srgbClr val="286E62"/>
                </a:solidFill>
                <a:latin typeface="Arial"/>
                <a:ea typeface="Arial"/>
                <a:cs typeface="Arial"/>
              </a:defRPr>
            </a:lvl2pPr>
            <a:lvl3pPr>
              <a:defRPr sz="2475" b="1">
                <a:solidFill>
                  <a:srgbClr val="286E62"/>
                </a:solidFill>
                <a:latin typeface="Arial"/>
                <a:ea typeface="Arial"/>
                <a:cs typeface="Arial"/>
              </a:defRPr>
            </a:lvl3pPr>
            <a:lvl4pPr>
              <a:defRPr sz="2475" b="1">
                <a:solidFill>
                  <a:srgbClr val="286E62"/>
                </a:solidFill>
                <a:latin typeface="Arial"/>
                <a:ea typeface="Arial"/>
                <a:cs typeface="Arial"/>
              </a:defRPr>
            </a:lvl4pPr>
            <a:lvl5pPr>
              <a:defRPr sz="2475" b="1">
                <a:solidFill>
                  <a:srgbClr val="286E62"/>
                </a:solidFill>
                <a:latin typeface="Arial"/>
                <a:ea typeface="Arial"/>
                <a:cs typeface="Arial"/>
              </a:defRPr>
            </a:lvl5pPr>
            <a:lvl6pPr>
              <a:defRPr sz="2475" b="1">
                <a:solidFill>
                  <a:srgbClr val="286E62"/>
                </a:solidFill>
                <a:latin typeface="Arial"/>
                <a:ea typeface="Arial"/>
                <a:cs typeface="Arial"/>
              </a:defRPr>
            </a:lvl6pPr>
            <a:lvl7pPr>
              <a:defRPr sz="2475" b="1">
                <a:solidFill>
                  <a:srgbClr val="286E62"/>
                </a:solidFill>
                <a:latin typeface="Arial"/>
                <a:ea typeface="Arial"/>
                <a:cs typeface="Arial"/>
              </a:defRPr>
            </a:lvl7pPr>
            <a:lvl8pPr>
              <a:defRPr sz="2475" b="1">
                <a:solidFill>
                  <a:srgbClr val="286E62"/>
                </a:solidFill>
                <a:latin typeface="Arial"/>
                <a:ea typeface="Arial"/>
                <a:cs typeface="Arial"/>
              </a:defRPr>
            </a:lvl8pPr>
            <a:lvl9pPr>
              <a:defRPr sz="2475" b="1">
                <a:solidFill>
                  <a:srgbClr val="286E62"/>
                </a:solidFill>
                <a:latin typeface="Arial"/>
                <a:ea typeface="Arial"/>
                <a:cs typeface="Arial"/>
              </a:defRPr>
            </a:lvl9pPr>
          </a:lstStyle>
          <a:p xmlns:a="http://schemas.openxmlformats.org/drawingml/2006/main">
            <a:pPr>
              <a:defRPr sz="2475" b="1">
                <a:solidFill>
                  <a:srgbClr val="286E62"/>
                </a:solidFill>
                <a:latin typeface="Arial"/>
                <a:ea typeface="Arial"/>
                <a:cs typeface="Arial"/>
              </a:defRPr>
            </a:pPr>
            <a:r>
              <a:rPr sz="2475" b="1">
                <a:solidFill>
                  <a:srgbClr val="286E62"/>
                </a:solidFill>
                <a:latin typeface="Arial"/>
                <a:ea typeface="Arial"/>
                <a:cs typeface="Arial"/>
              </a:rPr>
              <a:t>Exact proposal  →  Approval by a different person</a:t>
            </a:r>
          </a:p>
        </p:txBody>
      </p:sp>
      <p:sp>
        <p:nvSpPr>
          <p:cNvPr id="7" name="">
            <a:extLst xmlns:a="http://schemas.openxmlformats.org/drawingml/2006/main">
              <a:ext uri="{FF2B5EF4-FFF2-40B4-BE49-F238E27FC236}">
                <a16:creationId xmlns:a16="http://schemas.microsoft.com/office/drawing/2014/main" id="{701FBA0C-903C-49B4-9F59-2C25BCD24B59}"/>
              </a:ext>
            </a:extLst>
          </p:cNvPr>
          <p:cNvSpPr>
            <a:spLocks xmlns:a="http://schemas.openxmlformats.org/drawingml/2006/main" noGrp="1"/>
          </p:cNvSpPr>
          <p:nvPr/>
        </p:nvSpPr>
        <p:spPr>
          <a:xfrm xmlns:a="http://schemas.openxmlformats.org/drawingml/2006/main">
            <a:off x="723900" y="49625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34D"/>
                </a:solidFill>
                <a:latin typeface="Arial"/>
                <a:ea typeface="Arial"/>
                <a:cs typeface="Arial"/>
              </a:defRPr>
            </a:defPPr>
            <a:lvl1pPr>
              <a:defRPr sz="2100" b="0">
                <a:solidFill>
                  <a:srgbClr val="29434D"/>
                </a:solidFill>
                <a:latin typeface="Arial"/>
                <a:ea typeface="Arial"/>
                <a:cs typeface="Arial"/>
              </a:defRPr>
            </a:lvl1pPr>
            <a:lvl2pPr>
              <a:defRPr sz="2100" b="0">
                <a:solidFill>
                  <a:srgbClr val="29434D"/>
                </a:solidFill>
                <a:latin typeface="Arial"/>
                <a:ea typeface="Arial"/>
                <a:cs typeface="Arial"/>
              </a:defRPr>
            </a:lvl2pPr>
            <a:lvl3pPr>
              <a:defRPr sz="2100" b="0">
                <a:solidFill>
                  <a:srgbClr val="29434D"/>
                </a:solidFill>
                <a:latin typeface="Arial"/>
                <a:ea typeface="Arial"/>
                <a:cs typeface="Arial"/>
              </a:defRPr>
            </a:lvl3pPr>
            <a:lvl4pPr>
              <a:defRPr sz="2100" b="0">
                <a:solidFill>
                  <a:srgbClr val="29434D"/>
                </a:solidFill>
                <a:latin typeface="Arial"/>
                <a:ea typeface="Arial"/>
                <a:cs typeface="Arial"/>
              </a:defRPr>
            </a:lvl4pPr>
            <a:lvl5pPr>
              <a:defRPr sz="2100" b="0">
                <a:solidFill>
                  <a:srgbClr val="29434D"/>
                </a:solidFill>
                <a:latin typeface="Arial"/>
                <a:ea typeface="Arial"/>
                <a:cs typeface="Arial"/>
              </a:defRPr>
            </a:lvl5pPr>
            <a:lvl6pPr>
              <a:defRPr sz="2100" b="0">
                <a:solidFill>
                  <a:srgbClr val="29434D"/>
                </a:solidFill>
                <a:latin typeface="Arial"/>
                <a:ea typeface="Arial"/>
                <a:cs typeface="Arial"/>
              </a:defRPr>
            </a:lvl6pPr>
            <a:lvl7pPr>
              <a:defRPr sz="2100" b="0">
                <a:solidFill>
                  <a:srgbClr val="29434D"/>
                </a:solidFill>
                <a:latin typeface="Arial"/>
                <a:ea typeface="Arial"/>
                <a:cs typeface="Arial"/>
              </a:defRPr>
            </a:lvl7pPr>
            <a:lvl8pPr>
              <a:defRPr sz="2100" b="0">
                <a:solidFill>
                  <a:srgbClr val="29434D"/>
                </a:solidFill>
                <a:latin typeface="Arial"/>
                <a:ea typeface="Arial"/>
                <a:cs typeface="Arial"/>
              </a:defRPr>
            </a:lvl8pPr>
            <a:lvl9pPr>
              <a:defRPr sz="2100" b="0">
                <a:solidFill>
                  <a:srgbClr val="29434D"/>
                </a:solidFill>
                <a:latin typeface="Arial"/>
                <a:ea typeface="Arial"/>
                <a:cs typeface="Arial"/>
              </a:defRPr>
            </a:lvl9pPr>
          </a:lstStyle>
          <a:p xmlns:a="http://schemas.openxmlformats.org/drawingml/2006/main">
            <a:pPr>
              <a:defRPr sz="2100" b="0">
                <a:solidFill>
                  <a:srgbClr val="29434D"/>
                </a:solidFill>
                <a:latin typeface="Arial"/>
                <a:ea typeface="Arial"/>
                <a:cs typeface="Arial"/>
              </a:defRPr>
            </a:pPr>
            <a:r>
              <a:rPr sz="2100" b="0">
                <a:solidFill>
                  <a:srgbClr val="29434D"/>
                </a:solidFill>
                <a:latin typeface="Arial"/>
                <a:ea typeface="Arial"/>
                <a:cs typeface="Arial"/>
              </a:rPr>
              <a:t>Recheck  →  Simulated payment  →  Receipt, ledger and audit</a:t>
            </a:r>
          </a:p>
        </p:txBody>
      </p:sp>
    </p:spTree>
    <p:extLst>
      <p:ext uri="{BB962C8B-B14F-4D97-AF65-F5344CB8AC3E}">
        <p14:creationId xmlns:p14="http://schemas.microsoft.com/office/powerpoint/2010/main" val="550808420"/>
      </p:ext>
    </p:extLst>
  </p:cSld>
</p:sld>
</file>

<file path=ppt/slides/slide5.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4095E7B-FF53-4EEB-817F-1C8AEA309F5D}"/>
              </a:ext>
            </a:extLst>
          </p:cNvPr>
          <p:cNvSpPr>
            <a:spLocks xmlns:a="http://schemas.openxmlformats.org/drawingml/2006/main" noGrp="1"/>
          </p:cNvSpPr>
          <p:nvPr/>
        </p:nvSpPr>
        <p:spPr>
          <a:xfrm xmlns:a="http://schemas.openxmlformats.org/drawingml/2006/main">
            <a:off x="685800" y="590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43F"/>
                </a:solidFill>
                <a:latin typeface="Arial"/>
                <a:ea typeface="Arial"/>
                <a:cs typeface="Arial"/>
              </a:defRPr>
            </a:defPPr>
            <a:lvl1pPr>
              <a:defRPr sz="3300" b="1">
                <a:solidFill>
                  <a:srgbClr val="19343F"/>
                </a:solidFill>
                <a:latin typeface="Arial"/>
                <a:ea typeface="Arial"/>
                <a:cs typeface="Arial"/>
              </a:defRPr>
            </a:lvl1pPr>
            <a:lvl2pPr>
              <a:defRPr sz="3300" b="1">
                <a:solidFill>
                  <a:srgbClr val="19343F"/>
                </a:solidFill>
                <a:latin typeface="Arial"/>
                <a:ea typeface="Arial"/>
                <a:cs typeface="Arial"/>
              </a:defRPr>
            </a:lvl2pPr>
            <a:lvl3pPr>
              <a:defRPr sz="3300" b="1">
                <a:solidFill>
                  <a:srgbClr val="19343F"/>
                </a:solidFill>
                <a:latin typeface="Arial"/>
                <a:ea typeface="Arial"/>
                <a:cs typeface="Arial"/>
              </a:defRPr>
            </a:lvl3pPr>
            <a:lvl4pPr>
              <a:defRPr sz="3300" b="1">
                <a:solidFill>
                  <a:srgbClr val="19343F"/>
                </a:solidFill>
                <a:latin typeface="Arial"/>
                <a:ea typeface="Arial"/>
                <a:cs typeface="Arial"/>
              </a:defRPr>
            </a:lvl4pPr>
            <a:lvl5pPr>
              <a:defRPr sz="3300" b="1">
                <a:solidFill>
                  <a:srgbClr val="19343F"/>
                </a:solidFill>
                <a:latin typeface="Arial"/>
                <a:ea typeface="Arial"/>
                <a:cs typeface="Arial"/>
              </a:defRPr>
            </a:lvl5pPr>
            <a:lvl6pPr>
              <a:defRPr sz="3300" b="1">
                <a:solidFill>
                  <a:srgbClr val="19343F"/>
                </a:solidFill>
                <a:latin typeface="Arial"/>
                <a:ea typeface="Arial"/>
                <a:cs typeface="Arial"/>
              </a:defRPr>
            </a:lvl6pPr>
            <a:lvl7pPr>
              <a:defRPr sz="3300" b="1">
                <a:solidFill>
                  <a:srgbClr val="19343F"/>
                </a:solidFill>
                <a:latin typeface="Arial"/>
                <a:ea typeface="Arial"/>
                <a:cs typeface="Arial"/>
              </a:defRPr>
            </a:lvl7pPr>
            <a:lvl8pPr>
              <a:defRPr sz="3300" b="1">
                <a:solidFill>
                  <a:srgbClr val="19343F"/>
                </a:solidFill>
                <a:latin typeface="Arial"/>
                <a:ea typeface="Arial"/>
                <a:cs typeface="Arial"/>
              </a:defRPr>
            </a:lvl8pPr>
            <a:lvl9pPr>
              <a:defRPr sz="3300" b="1">
                <a:solidFill>
                  <a:srgbClr val="19343F"/>
                </a:solidFill>
                <a:latin typeface="Arial"/>
                <a:ea typeface="Arial"/>
                <a:cs typeface="Arial"/>
              </a:defRPr>
            </a:lvl9pPr>
          </a:lstStyle>
          <a:p xmlns:a="http://schemas.openxmlformats.org/drawingml/2006/main">
            <a:pPr>
              <a:defRPr sz="3300" b="1">
                <a:solidFill>
                  <a:srgbClr val="19343F"/>
                </a:solidFill>
                <a:latin typeface="Arial"/>
                <a:ea typeface="Arial"/>
                <a:cs typeface="Arial"/>
              </a:defRPr>
            </a:pPr>
            <a:r>
              <a:rPr sz="3300" b="1">
                <a:solidFill>
                  <a:srgbClr val="19343F"/>
                </a:solidFill>
                <a:latin typeface="Arial"/>
                <a:ea typeface="Arial"/>
                <a:cs typeface="Arial"/>
              </a:rPr>
              <a:t>How the app works</a:t>
            </a:r>
          </a:p>
        </p:txBody>
      </p:sp>
      <p:sp>
        <p:nvSpPr>
          <p:cNvPr id="2" name="">
            <a:extLst xmlns:a="http://schemas.openxmlformats.org/drawingml/2006/main">
              <a:ext uri="{FF2B5EF4-FFF2-40B4-BE49-F238E27FC236}">
                <a16:creationId xmlns:a16="http://schemas.microsoft.com/office/drawing/2014/main" id="{84D16908-6B51-4681-AD0E-1CBD64F121A6}"/>
              </a:ext>
            </a:extLst>
          </p:cNvPr>
          <p:cNvSpPr>
            <a:spLocks xmlns:a="http://schemas.openxmlformats.org/drawingml/2006/main" noGrp="1"/>
          </p:cNvSpPr>
          <p:nvPr/>
        </p:nvSpPr>
        <p:spPr>
          <a:xfrm xmlns:a="http://schemas.openxmlformats.org/drawingml/2006/main">
            <a:off x="685800" y="64103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BuildTrust AI  ·  Fictional sandbox demonstration</a:t>
            </a:r>
          </a:p>
        </p:txBody>
      </p:sp>
      <p:sp>
        <p:nvSpPr>
          <p:cNvPr id="3" name="">
            <a:extLst xmlns:a="http://schemas.openxmlformats.org/drawingml/2006/main">
              <a:ext uri="{FF2B5EF4-FFF2-40B4-BE49-F238E27FC236}">
                <a16:creationId xmlns:a16="http://schemas.microsoft.com/office/drawing/2014/main" id="{8F26EB95-0D4B-4100-9DC3-839A83B017E0}"/>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D223DD7-396A-46F1-8B6C-D57379A71399}"/>
              </a:ext>
            </a:extLst>
          </p:cNvPr>
          <p:cNvSpPr>
            <a:spLocks xmlns:a="http://schemas.openxmlformats.org/drawingml/2006/main" noGrp="1"/>
          </p:cNvSpPr>
          <p:nvPr/>
        </p:nvSpPr>
        <p:spPr>
          <a:xfrm xmlns:a="http://schemas.openxmlformats.org/drawingml/2006/main">
            <a:off x="685800" y="1952625"/>
            <a:ext cx="2667000" cy="990600"/>
          </a:xfrm>
          <a:prstGeom xmlns:a="http://schemas.openxmlformats.org/drawingml/2006/main" prst="rect">
            <a:avLst/>
          </a:prstGeom>
          <a:solidFill xmlns:a="http://schemas.openxmlformats.org/drawingml/2006/main">
            <a:srgbClr val="EDF3EF"/>
          </a:solidFill>
          <a:ln xmlns:a="http://schemas.openxmlformats.org/drawingml/2006/main" w="9525">
            <a:solidFill>
              <a:srgbClr val="87A99C"/>
            </a:solidFill>
          </a:ln>
        </p:spPr>
        <p:txBody>
          <a:bodyPr xmlns:a="http://schemas.openxmlformats.org/drawingml/2006/main"/>
          <a:lstStyle xmlns:a="http://schemas.openxmlformats.org/drawingml/2006/main">
            <a:defPPr>
              <a:defRPr sz="1950">
                <a:solidFill>
                  <a:srgbClr val="29434D"/>
                </a:solidFill>
                <a:latin typeface="Arial"/>
                <a:ea typeface="Arial"/>
                <a:cs typeface="Arial"/>
              </a:defRPr>
            </a:defPPr>
            <a:lvl1pPr>
              <a:defRPr sz="1950">
                <a:solidFill>
                  <a:srgbClr val="29434D"/>
                </a:solidFill>
                <a:latin typeface="Arial"/>
                <a:ea typeface="Arial"/>
                <a:cs typeface="Arial"/>
              </a:defRPr>
            </a:lvl1pPr>
            <a:lvl2pPr>
              <a:defRPr sz="1950">
                <a:solidFill>
                  <a:srgbClr val="29434D"/>
                </a:solidFill>
                <a:latin typeface="Arial"/>
                <a:ea typeface="Arial"/>
                <a:cs typeface="Arial"/>
              </a:defRPr>
            </a:lvl2pPr>
            <a:lvl3pPr>
              <a:defRPr sz="1950">
                <a:solidFill>
                  <a:srgbClr val="29434D"/>
                </a:solidFill>
                <a:latin typeface="Arial"/>
                <a:ea typeface="Arial"/>
                <a:cs typeface="Arial"/>
              </a:defRPr>
            </a:lvl3pPr>
            <a:lvl4pPr>
              <a:defRPr sz="1950">
                <a:solidFill>
                  <a:srgbClr val="29434D"/>
                </a:solidFill>
                <a:latin typeface="Arial"/>
                <a:ea typeface="Arial"/>
                <a:cs typeface="Arial"/>
              </a:defRPr>
            </a:lvl4pPr>
            <a:lvl5pPr>
              <a:defRPr sz="1950">
                <a:solidFill>
                  <a:srgbClr val="29434D"/>
                </a:solidFill>
                <a:latin typeface="Arial"/>
                <a:ea typeface="Arial"/>
                <a:cs typeface="Arial"/>
              </a:defRPr>
            </a:lvl5pPr>
            <a:lvl6pPr>
              <a:defRPr sz="1950">
                <a:solidFill>
                  <a:srgbClr val="29434D"/>
                </a:solidFill>
                <a:latin typeface="Arial"/>
                <a:ea typeface="Arial"/>
                <a:cs typeface="Arial"/>
              </a:defRPr>
            </a:lvl6pPr>
            <a:lvl7pPr>
              <a:defRPr sz="1950">
                <a:solidFill>
                  <a:srgbClr val="29434D"/>
                </a:solidFill>
                <a:latin typeface="Arial"/>
                <a:ea typeface="Arial"/>
                <a:cs typeface="Arial"/>
              </a:defRPr>
            </a:lvl7pPr>
            <a:lvl8pPr>
              <a:defRPr sz="1950">
                <a:solidFill>
                  <a:srgbClr val="29434D"/>
                </a:solidFill>
                <a:latin typeface="Arial"/>
                <a:ea typeface="Arial"/>
                <a:cs typeface="Arial"/>
              </a:defRPr>
            </a:lvl8pPr>
            <a:lvl9pPr>
              <a:defRPr sz="1950">
                <a:solidFill>
                  <a:srgbClr val="29434D"/>
                </a:solidFill>
                <a:latin typeface="Arial"/>
                <a:ea typeface="Arial"/>
                <a:cs typeface="Arial"/>
              </a:defRPr>
            </a:lvl9pPr>
          </a:lstStyle>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React / TypeScript</a:t>
            </a:r>
          </a:p>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Financial workspace</a:t>
            </a:r>
          </a:p>
        </p:txBody>
      </p:sp>
      <p:sp>
        <p:nvSpPr>
          <p:cNvPr id="5" name="">
            <a:extLst xmlns:a="http://schemas.openxmlformats.org/drawingml/2006/main">
              <a:ext uri="{FF2B5EF4-FFF2-40B4-BE49-F238E27FC236}">
                <a16:creationId xmlns:a16="http://schemas.microsoft.com/office/drawing/2014/main" id="{1A84AFFE-6840-4870-A0A9-3E69ED9C87B8}"/>
              </a:ext>
            </a:extLst>
          </p:cNvPr>
          <p:cNvSpPr>
            <a:spLocks xmlns:a="http://schemas.openxmlformats.org/drawingml/2006/main" noGrp="1"/>
          </p:cNvSpPr>
          <p:nvPr/>
        </p:nvSpPr>
        <p:spPr>
          <a:xfrm xmlns:a="http://schemas.openxmlformats.org/drawingml/2006/main">
            <a:off x="4495800" y="1952625"/>
            <a:ext cx="3333750" cy="990600"/>
          </a:xfrm>
          <a:prstGeom xmlns:a="http://schemas.openxmlformats.org/drawingml/2006/main" prst="rect">
            <a:avLst/>
          </a:prstGeom>
          <a:solidFill xmlns:a="http://schemas.openxmlformats.org/drawingml/2006/main">
            <a:srgbClr val="EDF3EF"/>
          </a:solidFill>
          <a:ln xmlns:a="http://schemas.openxmlformats.org/drawingml/2006/main" w="9525">
            <a:solidFill>
              <a:srgbClr val="87A99C"/>
            </a:solidFill>
          </a:ln>
        </p:spPr>
        <p:txBody>
          <a:bodyPr xmlns:a="http://schemas.openxmlformats.org/drawingml/2006/main"/>
          <a:lstStyle xmlns:a="http://schemas.openxmlformats.org/drawingml/2006/main">
            <a:defPPr>
              <a:defRPr sz="1950">
                <a:solidFill>
                  <a:srgbClr val="29434D"/>
                </a:solidFill>
                <a:latin typeface="Arial"/>
                <a:ea typeface="Arial"/>
                <a:cs typeface="Arial"/>
              </a:defRPr>
            </a:defPPr>
            <a:lvl1pPr>
              <a:defRPr sz="1950">
                <a:solidFill>
                  <a:srgbClr val="29434D"/>
                </a:solidFill>
                <a:latin typeface="Arial"/>
                <a:ea typeface="Arial"/>
                <a:cs typeface="Arial"/>
              </a:defRPr>
            </a:lvl1pPr>
            <a:lvl2pPr>
              <a:defRPr sz="1950">
                <a:solidFill>
                  <a:srgbClr val="29434D"/>
                </a:solidFill>
                <a:latin typeface="Arial"/>
                <a:ea typeface="Arial"/>
                <a:cs typeface="Arial"/>
              </a:defRPr>
            </a:lvl2pPr>
            <a:lvl3pPr>
              <a:defRPr sz="1950">
                <a:solidFill>
                  <a:srgbClr val="29434D"/>
                </a:solidFill>
                <a:latin typeface="Arial"/>
                <a:ea typeface="Arial"/>
                <a:cs typeface="Arial"/>
              </a:defRPr>
            </a:lvl3pPr>
            <a:lvl4pPr>
              <a:defRPr sz="1950">
                <a:solidFill>
                  <a:srgbClr val="29434D"/>
                </a:solidFill>
                <a:latin typeface="Arial"/>
                <a:ea typeface="Arial"/>
                <a:cs typeface="Arial"/>
              </a:defRPr>
            </a:lvl4pPr>
            <a:lvl5pPr>
              <a:defRPr sz="1950">
                <a:solidFill>
                  <a:srgbClr val="29434D"/>
                </a:solidFill>
                <a:latin typeface="Arial"/>
                <a:ea typeface="Arial"/>
                <a:cs typeface="Arial"/>
              </a:defRPr>
            </a:lvl5pPr>
            <a:lvl6pPr>
              <a:defRPr sz="1950">
                <a:solidFill>
                  <a:srgbClr val="29434D"/>
                </a:solidFill>
                <a:latin typeface="Arial"/>
                <a:ea typeface="Arial"/>
                <a:cs typeface="Arial"/>
              </a:defRPr>
            </a:lvl6pPr>
            <a:lvl7pPr>
              <a:defRPr sz="1950">
                <a:solidFill>
                  <a:srgbClr val="29434D"/>
                </a:solidFill>
                <a:latin typeface="Arial"/>
                <a:ea typeface="Arial"/>
                <a:cs typeface="Arial"/>
              </a:defRPr>
            </a:lvl7pPr>
            <a:lvl8pPr>
              <a:defRPr sz="1950">
                <a:solidFill>
                  <a:srgbClr val="29434D"/>
                </a:solidFill>
                <a:latin typeface="Arial"/>
                <a:ea typeface="Arial"/>
                <a:cs typeface="Arial"/>
              </a:defRPr>
            </a:lvl8pPr>
            <a:lvl9pPr>
              <a:defRPr sz="1950">
                <a:solidFill>
                  <a:srgbClr val="29434D"/>
                </a:solidFill>
                <a:latin typeface="Arial"/>
                <a:ea typeface="Arial"/>
                <a:cs typeface="Arial"/>
              </a:defRPr>
            </a:lvl9pPr>
          </a:lstStyle>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FastAPI</a:t>
            </a:r>
          </a:p>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Role and project checks</a:t>
            </a:r>
          </a:p>
        </p:txBody>
      </p:sp>
      <p:sp>
        <p:nvSpPr>
          <p:cNvPr id="6" name="">
            <a:extLst xmlns:a="http://schemas.openxmlformats.org/drawingml/2006/main">
              <a:ext uri="{FF2B5EF4-FFF2-40B4-BE49-F238E27FC236}">
                <a16:creationId xmlns:a16="http://schemas.microsoft.com/office/drawing/2014/main" id="{FF2501EF-CFA4-4EB1-B2E5-08F998994FB5}"/>
              </a:ext>
            </a:extLst>
          </p:cNvPr>
          <p:cNvSpPr>
            <a:spLocks xmlns:a="http://schemas.openxmlformats.org/drawingml/2006/main" noGrp="1"/>
          </p:cNvSpPr>
          <p:nvPr/>
        </p:nvSpPr>
        <p:spPr>
          <a:xfrm xmlns:a="http://schemas.openxmlformats.org/drawingml/2006/main">
            <a:off x="8953500" y="1952625"/>
            <a:ext cx="2552700" cy="990600"/>
          </a:xfrm>
          <a:prstGeom xmlns:a="http://schemas.openxmlformats.org/drawingml/2006/main" prst="rect">
            <a:avLst/>
          </a:prstGeom>
          <a:solidFill xmlns:a="http://schemas.openxmlformats.org/drawingml/2006/main">
            <a:srgbClr val="EDF3EF"/>
          </a:solidFill>
          <a:ln xmlns:a="http://schemas.openxmlformats.org/drawingml/2006/main" w="9525">
            <a:solidFill>
              <a:srgbClr val="87A99C"/>
            </a:solidFill>
          </a:ln>
        </p:spPr>
        <p:txBody>
          <a:bodyPr xmlns:a="http://schemas.openxmlformats.org/drawingml/2006/main"/>
          <a:lstStyle xmlns:a="http://schemas.openxmlformats.org/drawingml/2006/main">
            <a:defPPr>
              <a:defRPr sz="1950">
                <a:solidFill>
                  <a:srgbClr val="29434D"/>
                </a:solidFill>
                <a:latin typeface="Arial"/>
                <a:ea typeface="Arial"/>
                <a:cs typeface="Arial"/>
              </a:defRPr>
            </a:defPPr>
            <a:lvl1pPr>
              <a:defRPr sz="1950">
                <a:solidFill>
                  <a:srgbClr val="29434D"/>
                </a:solidFill>
                <a:latin typeface="Arial"/>
                <a:ea typeface="Arial"/>
                <a:cs typeface="Arial"/>
              </a:defRPr>
            </a:lvl1pPr>
            <a:lvl2pPr>
              <a:defRPr sz="1950">
                <a:solidFill>
                  <a:srgbClr val="29434D"/>
                </a:solidFill>
                <a:latin typeface="Arial"/>
                <a:ea typeface="Arial"/>
                <a:cs typeface="Arial"/>
              </a:defRPr>
            </a:lvl2pPr>
            <a:lvl3pPr>
              <a:defRPr sz="1950">
                <a:solidFill>
                  <a:srgbClr val="29434D"/>
                </a:solidFill>
                <a:latin typeface="Arial"/>
                <a:ea typeface="Arial"/>
                <a:cs typeface="Arial"/>
              </a:defRPr>
            </a:lvl3pPr>
            <a:lvl4pPr>
              <a:defRPr sz="1950">
                <a:solidFill>
                  <a:srgbClr val="29434D"/>
                </a:solidFill>
                <a:latin typeface="Arial"/>
                <a:ea typeface="Arial"/>
                <a:cs typeface="Arial"/>
              </a:defRPr>
            </a:lvl4pPr>
            <a:lvl5pPr>
              <a:defRPr sz="1950">
                <a:solidFill>
                  <a:srgbClr val="29434D"/>
                </a:solidFill>
                <a:latin typeface="Arial"/>
                <a:ea typeface="Arial"/>
                <a:cs typeface="Arial"/>
              </a:defRPr>
            </a:lvl5pPr>
            <a:lvl6pPr>
              <a:defRPr sz="1950">
                <a:solidFill>
                  <a:srgbClr val="29434D"/>
                </a:solidFill>
                <a:latin typeface="Arial"/>
                <a:ea typeface="Arial"/>
                <a:cs typeface="Arial"/>
              </a:defRPr>
            </a:lvl6pPr>
            <a:lvl7pPr>
              <a:defRPr sz="1950">
                <a:solidFill>
                  <a:srgbClr val="29434D"/>
                </a:solidFill>
                <a:latin typeface="Arial"/>
                <a:ea typeface="Arial"/>
                <a:cs typeface="Arial"/>
              </a:defRPr>
            </a:lvl7pPr>
            <a:lvl8pPr>
              <a:defRPr sz="1950">
                <a:solidFill>
                  <a:srgbClr val="29434D"/>
                </a:solidFill>
                <a:latin typeface="Arial"/>
                <a:ea typeface="Arial"/>
                <a:cs typeface="Arial"/>
              </a:defRPr>
            </a:lvl8pPr>
            <a:lvl9pPr>
              <a:defRPr sz="1950">
                <a:solidFill>
                  <a:srgbClr val="29434D"/>
                </a:solidFill>
                <a:latin typeface="Arial"/>
                <a:ea typeface="Arial"/>
                <a:cs typeface="Arial"/>
              </a:defRPr>
            </a:lvl9pPr>
          </a:lstStyle>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SQLite + audit</a:t>
            </a:r>
          </a:p>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Exact money</a:t>
            </a:r>
          </a:p>
        </p:txBody>
      </p:sp>
      <p:sp>
        <p:nvSpPr>
          <p:cNvPr id="7" name="">
            <a:extLst xmlns:a="http://schemas.openxmlformats.org/drawingml/2006/main">
              <a:ext uri="{FF2B5EF4-FFF2-40B4-BE49-F238E27FC236}">
                <a16:creationId xmlns:a16="http://schemas.microsoft.com/office/drawing/2014/main" id="{92B22CC5-D0B5-4475-B97C-BDBD09A02ADB}"/>
              </a:ext>
            </a:extLst>
          </p:cNvPr>
          <p:cNvSpPr>
            <a:spLocks xmlns:a="http://schemas.openxmlformats.org/drawingml/2006/main" noGrp="1"/>
          </p:cNvSpPr>
          <p:nvPr/>
        </p:nvSpPr>
        <p:spPr>
          <a:xfrm xmlns:a="http://schemas.openxmlformats.org/drawingml/2006/main">
            <a:off x="3600450" y="21431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286E62"/>
                </a:solidFill>
                <a:latin typeface="Arial"/>
                <a:ea typeface="Arial"/>
                <a:cs typeface="Arial"/>
              </a:defRPr>
            </a:defPPr>
            <a:lvl1pPr>
              <a:defRPr sz="3375" b="0">
                <a:solidFill>
                  <a:srgbClr val="286E62"/>
                </a:solidFill>
                <a:latin typeface="Arial"/>
                <a:ea typeface="Arial"/>
                <a:cs typeface="Arial"/>
              </a:defRPr>
            </a:lvl1pPr>
            <a:lvl2pPr>
              <a:defRPr sz="3375" b="0">
                <a:solidFill>
                  <a:srgbClr val="286E62"/>
                </a:solidFill>
                <a:latin typeface="Arial"/>
                <a:ea typeface="Arial"/>
                <a:cs typeface="Arial"/>
              </a:defRPr>
            </a:lvl2pPr>
            <a:lvl3pPr>
              <a:defRPr sz="3375" b="0">
                <a:solidFill>
                  <a:srgbClr val="286E62"/>
                </a:solidFill>
                <a:latin typeface="Arial"/>
                <a:ea typeface="Arial"/>
                <a:cs typeface="Arial"/>
              </a:defRPr>
            </a:lvl3pPr>
            <a:lvl4pPr>
              <a:defRPr sz="3375" b="0">
                <a:solidFill>
                  <a:srgbClr val="286E62"/>
                </a:solidFill>
                <a:latin typeface="Arial"/>
                <a:ea typeface="Arial"/>
                <a:cs typeface="Arial"/>
              </a:defRPr>
            </a:lvl4pPr>
            <a:lvl5pPr>
              <a:defRPr sz="3375" b="0">
                <a:solidFill>
                  <a:srgbClr val="286E62"/>
                </a:solidFill>
                <a:latin typeface="Arial"/>
                <a:ea typeface="Arial"/>
                <a:cs typeface="Arial"/>
              </a:defRPr>
            </a:lvl5pPr>
            <a:lvl6pPr>
              <a:defRPr sz="3375" b="0">
                <a:solidFill>
                  <a:srgbClr val="286E62"/>
                </a:solidFill>
                <a:latin typeface="Arial"/>
                <a:ea typeface="Arial"/>
                <a:cs typeface="Arial"/>
              </a:defRPr>
            </a:lvl6pPr>
            <a:lvl7pPr>
              <a:defRPr sz="3375" b="0">
                <a:solidFill>
                  <a:srgbClr val="286E62"/>
                </a:solidFill>
                <a:latin typeface="Arial"/>
                <a:ea typeface="Arial"/>
                <a:cs typeface="Arial"/>
              </a:defRPr>
            </a:lvl7pPr>
            <a:lvl8pPr>
              <a:defRPr sz="3375" b="0">
                <a:solidFill>
                  <a:srgbClr val="286E62"/>
                </a:solidFill>
                <a:latin typeface="Arial"/>
                <a:ea typeface="Arial"/>
                <a:cs typeface="Arial"/>
              </a:defRPr>
            </a:lvl8pPr>
            <a:lvl9pPr>
              <a:defRPr sz="3375" b="0">
                <a:solidFill>
                  <a:srgbClr val="286E62"/>
                </a:solidFill>
                <a:latin typeface="Arial"/>
                <a:ea typeface="Arial"/>
                <a:cs typeface="Arial"/>
              </a:defRPr>
            </a:lvl9pPr>
          </a:lstStyle>
          <a:p xmlns:a="http://schemas.openxmlformats.org/drawingml/2006/main">
            <a:pPr>
              <a:defRPr sz="3375" b="0">
                <a:solidFill>
                  <a:srgbClr val="286E62"/>
                </a:solidFill>
                <a:latin typeface="Arial"/>
                <a:ea typeface="Arial"/>
                <a:cs typeface="Arial"/>
              </a:defRPr>
            </a:pPr>
            <a:r>
              <a:rPr sz="3375" b="0">
                <a:solidFill>
                  <a:srgbClr val="286E62"/>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B09F8C49-27B8-49C8-98FA-42A724F996C6}"/>
              </a:ext>
            </a:extLst>
          </p:cNvPr>
          <p:cNvSpPr>
            <a:spLocks xmlns:a="http://schemas.openxmlformats.org/drawingml/2006/main" noGrp="1"/>
          </p:cNvSpPr>
          <p:nvPr/>
        </p:nvSpPr>
        <p:spPr>
          <a:xfrm xmlns:a="http://schemas.openxmlformats.org/drawingml/2006/main">
            <a:off x="8086725" y="2143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286E62"/>
                </a:solidFill>
                <a:latin typeface="Arial"/>
                <a:ea typeface="Arial"/>
                <a:cs typeface="Arial"/>
              </a:defRPr>
            </a:defPPr>
            <a:lvl1pPr>
              <a:defRPr sz="3375" b="0">
                <a:solidFill>
                  <a:srgbClr val="286E62"/>
                </a:solidFill>
                <a:latin typeface="Arial"/>
                <a:ea typeface="Arial"/>
                <a:cs typeface="Arial"/>
              </a:defRPr>
            </a:lvl1pPr>
            <a:lvl2pPr>
              <a:defRPr sz="3375" b="0">
                <a:solidFill>
                  <a:srgbClr val="286E62"/>
                </a:solidFill>
                <a:latin typeface="Arial"/>
                <a:ea typeface="Arial"/>
                <a:cs typeface="Arial"/>
              </a:defRPr>
            </a:lvl2pPr>
            <a:lvl3pPr>
              <a:defRPr sz="3375" b="0">
                <a:solidFill>
                  <a:srgbClr val="286E62"/>
                </a:solidFill>
                <a:latin typeface="Arial"/>
                <a:ea typeface="Arial"/>
                <a:cs typeface="Arial"/>
              </a:defRPr>
            </a:lvl3pPr>
            <a:lvl4pPr>
              <a:defRPr sz="3375" b="0">
                <a:solidFill>
                  <a:srgbClr val="286E62"/>
                </a:solidFill>
                <a:latin typeface="Arial"/>
                <a:ea typeface="Arial"/>
                <a:cs typeface="Arial"/>
              </a:defRPr>
            </a:lvl4pPr>
            <a:lvl5pPr>
              <a:defRPr sz="3375" b="0">
                <a:solidFill>
                  <a:srgbClr val="286E62"/>
                </a:solidFill>
                <a:latin typeface="Arial"/>
                <a:ea typeface="Arial"/>
                <a:cs typeface="Arial"/>
              </a:defRPr>
            </a:lvl5pPr>
            <a:lvl6pPr>
              <a:defRPr sz="3375" b="0">
                <a:solidFill>
                  <a:srgbClr val="286E62"/>
                </a:solidFill>
                <a:latin typeface="Arial"/>
                <a:ea typeface="Arial"/>
                <a:cs typeface="Arial"/>
              </a:defRPr>
            </a:lvl6pPr>
            <a:lvl7pPr>
              <a:defRPr sz="3375" b="0">
                <a:solidFill>
                  <a:srgbClr val="286E62"/>
                </a:solidFill>
                <a:latin typeface="Arial"/>
                <a:ea typeface="Arial"/>
                <a:cs typeface="Arial"/>
              </a:defRPr>
            </a:lvl7pPr>
            <a:lvl8pPr>
              <a:defRPr sz="3375" b="0">
                <a:solidFill>
                  <a:srgbClr val="286E62"/>
                </a:solidFill>
                <a:latin typeface="Arial"/>
                <a:ea typeface="Arial"/>
                <a:cs typeface="Arial"/>
              </a:defRPr>
            </a:lvl8pPr>
            <a:lvl9pPr>
              <a:defRPr sz="3375" b="0">
                <a:solidFill>
                  <a:srgbClr val="286E62"/>
                </a:solidFill>
                <a:latin typeface="Arial"/>
                <a:ea typeface="Arial"/>
                <a:cs typeface="Arial"/>
              </a:defRPr>
            </a:lvl9pPr>
          </a:lstStyle>
          <a:p xmlns:a="http://schemas.openxmlformats.org/drawingml/2006/main">
            <a:pPr>
              <a:defRPr sz="3375" b="0">
                <a:solidFill>
                  <a:srgbClr val="286E62"/>
                </a:solidFill>
                <a:latin typeface="Arial"/>
                <a:ea typeface="Arial"/>
                <a:cs typeface="Arial"/>
              </a:defRPr>
            </a:pPr>
            <a:r>
              <a:rPr sz="3375" b="0">
                <a:solidFill>
                  <a:srgbClr val="286E6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1A0162B6-91C4-46EC-AED9-7FD097EAA728}"/>
              </a:ext>
            </a:extLst>
          </p:cNvPr>
          <p:cNvSpPr>
            <a:spLocks xmlns:a="http://schemas.openxmlformats.org/drawingml/2006/main" noGrp="1"/>
          </p:cNvSpPr>
          <p:nvPr/>
        </p:nvSpPr>
        <p:spPr>
          <a:xfrm xmlns:a="http://schemas.openxmlformats.org/drawingml/2006/main">
            <a:off x="685800" y="4095750"/>
            <a:ext cx="2667000" cy="1104900"/>
          </a:xfrm>
          <a:prstGeom xmlns:a="http://schemas.openxmlformats.org/drawingml/2006/main" prst="rect">
            <a:avLst/>
          </a:prstGeom>
          <a:solidFill xmlns:a="http://schemas.openxmlformats.org/drawingml/2006/main">
            <a:srgbClr val="EDF3EF"/>
          </a:solidFill>
          <a:ln xmlns:a="http://schemas.openxmlformats.org/drawingml/2006/main" w="9525">
            <a:solidFill>
              <a:srgbClr val="87A99C"/>
            </a:solidFill>
          </a:ln>
        </p:spPr>
        <p:txBody>
          <a:bodyPr xmlns:a="http://schemas.openxmlformats.org/drawingml/2006/main"/>
          <a:lstStyle xmlns:a="http://schemas.openxmlformats.org/drawingml/2006/main">
            <a:defPPr>
              <a:defRPr sz="1950">
                <a:solidFill>
                  <a:srgbClr val="29434D"/>
                </a:solidFill>
                <a:latin typeface="Arial"/>
                <a:ea typeface="Arial"/>
                <a:cs typeface="Arial"/>
              </a:defRPr>
            </a:defPPr>
            <a:lvl1pPr>
              <a:defRPr sz="1950">
                <a:solidFill>
                  <a:srgbClr val="29434D"/>
                </a:solidFill>
                <a:latin typeface="Arial"/>
                <a:ea typeface="Arial"/>
                <a:cs typeface="Arial"/>
              </a:defRPr>
            </a:lvl1pPr>
            <a:lvl2pPr>
              <a:defRPr sz="1950">
                <a:solidFill>
                  <a:srgbClr val="29434D"/>
                </a:solidFill>
                <a:latin typeface="Arial"/>
                <a:ea typeface="Arial"/>
                <a:cs typeface="Arial"/>
              </a:defRPr>
            </a:lvl2pPr>
            <a:lvl3pPr>
              <a:defRPr sz="1950">
                <a:solidFill>
                  <a:srgbClr val="29434D"/>
                </a:solidFill>
                <a:latin typeface="Arial"/>
                <a:ea typeface="Arial"/>
                <a:cs typeface="Arial"/>
              </a:defRPr>
            </a:lvl3pPr>
            <a:lvl4pPr>
              <a:defRPr sz="1950">
                <a:solidFill>
                  <a:srgbClr val="29434D"/>
                </a:solidFill>
                <a:latin typeface="Arial"/>
                <a:ea typeface="Arial"/>
                <a:cs typeface="Arial"/>
              </a:defRPr>
            </a:lvl4pPr>
            <a:lvl5pPr>
              <a:defRPr sz="1950">
                <a:solidFill>
                  <a:srgbClr val="29434D"/>
                </a:solidFill>
                <a:latin typeface="Arial"/>
                <a:ea typeface="Arial"/>
                <a:cs typeface="Arial"/>
              </a:defRPr>
            </a:lvl5pPr>
            <a:lvl6pPr>
              <a:defRPr sz="1950">
                <a:solidFill>
                  <a:srgbClr val="29434D"/>
                </a:solidFill>
                <a:latin typeface="Arial"/>
                <a:ea typeface="Arial"/>
                <a:cs typeface="Arial"/>
              </a:defRPr>
            </a:lvl6pPr>
            <a:lvl7pPr>
              <a:defRPr sz="1950">
                <a:solidFill>
                  <a:srgbClr val="29434D"/>
                </a:solidFill>
                <a:latin typeface="Arial"/>
                <a:ea typeface="Arial"/>
                <a:cs typeface="Arial"/>
              </a:defRPr>
            </a:lvl7pPr>
            <a:lvl8pPr>
              <a:defRPr sz="1950">
                <a:solidFill>
                  <a:srgbClr val="29434D"/>
                </a:solidFill>
                <a:latin typeface="Arial"/>
                <a:ea typeface="Arial"/>
                <a:cs typeface="Arial"/>
              </a:defRPr>
            </a:lvl8pPr>
            <a:lvl9pPr>
              <a:defRPr sz="1950">
                <a:solidFill>
                  <a:srgbClr val="29434D"/>
                </a:solidFill>
                <a:latin typeface="Arial"/>
                <a:ea typeface="Arial"/>
                <a:cs typeface="Arial"/>
              </a:defRPr>
            </a:lvl9pPr>
          </a:lstStyle>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Saved workflow</a:t>
            </a:r>
          </a:p>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Steps and evidence</a:t>
            </a:r>
          </a:p>
        </p:txBody>
      </p:sp>
      <p:sp>
        <p:nvSpPr>
          <p:cNvPr id="10" name="">
            <a:extLst xmlns:a="http://schemas.openxmlformats.org/drawingml/2006/main">
              <a:ext uri="{FF2B5EF4-FFF2-40B4-BE49-F238E27FC236}">
                <a16:creationId xmlns:a16="http://schemas.microsoft.com/office/drawing/2014/main" id="{3897FCB1-8B44-4269-93B3-6D730CA1140D}"/>
              </a:ext>
            </a:extLst>
          </p:cNvPr>
          <p:cNvSpPr>
            <a:spLocks xmlns:a="http://schemas.openxmlformats.org/drawingml/2006/main" noGrp="1"/>
          </p:cNvSpPr>
          <p:nvPr/>
        </p:nvSpPr>
        <p:spPr>
          <a:xfrm xmlns:a="http://schemas.openxmlformats.org/drawingml/2006/main">
            <a:off x="4495800" y="4095750"/>
            <a:ext cx="3333750" cy="1104900"/>
          </a:xfrm>
          <a:prstGeom xmlns:a="http://schemas.openxmlformats.org/drawingml/2006/main" prst="rect">
            <a:avLst/>
          </a:prstGeom>
          <a:solidFill xmlns:a="http://schemas.openxmlformats.org/drawingml/2006/main">
            <a:srgbClr val="EDF3EF"/>
          </a:solidFill>
          <a:ln xmlns:a="http://schemas.openxmlformats.org/drawingml/2006/main" w="9525">
            <a:solidFill>
              <a:srgbClr val="87A99C"/>
            </a:solidFill>
          </a:ln>
        </p:spPr>
        <p:txBody>
          <a:bodyPr xmlns:a="http://schemas.openxmlformats.org/drawingml/2006/main"/>
          <a:lstStyle xmlns:a="http://schemas.openxmlformats.org/drawingml/2006/main">
            <a:defPPr>
              <a:defRPr sz="1950">
                <a:solidFill>
                  <a:srgbClr val="29434D"/>
                </a:solidFill>
                <a:latin typeface="Arial"/>
                <a:ea typeface="Arial"/>
                <a:cs typeface="Arial"/>
              </a:defRPr>
            </a:defPPr>
            <a:lvl1pPr>
              <a:defRPr sz="1950">
                <a:solidFill>
                  <a:srgbClr val="29434D"/>
                </a:solidFill>
                <a:latin typeface="Arial"/>
                <a:ea typeface="Arial"/>
                <a:cs typeface="Arial"/>
              </a:defRPr>
            </a:lvl1pPr>
            <a:lvl2pPr>
              <a:defRPr sz="1950">
                <a:solidFill>
                  <a:srgbClr val="29434D"/>
                </a:solidFill>
                <a:latin typeface="Arial"/>
                <a:ea typeface="Arial"/>
                <a:cs typeface="Arial"/>
              </a:defRPr>
            </a:lvl2pPr>
            <a:lvl3pPr>
              <a:defRPr sz="1950">
                <a:solidFill>
                  <a:srgbClr val="29434D"/>
                </a:solidFill>
                <a:latin typeface="Arial"/>
                <a:ea typeface="Arial"/>
                <a:cs typeface="Arial"/>
              </a:defRPr>
            </a:lvl3pPr>
            <a:lvl4pPr>
              <a:defRPr sz="1950">
                <a:solidFill>
                  <a:srgbClr val="29434D"/>
                </a:solidFill>
                <a:latin typeface="Arial"/>
                <a:ea typeface="Arial"/>
                <a:cs typeface="Arial"/>
              </a:defRPr>
            </a:lvl4pPr>
            <a:lvl5pPr>
              <a:defRPr sz="1950">
                <a:solidFill>
                  <a:srgbClr val="29434D"/>
                </a:solidFill>
                <a:latin typeface="Arial"/>
                <a:ea typeface="Arial"/>
                <a:cs typeface="Arial"/>
              </a:defRPr>
            </a:lvl5pPr>
            <a:lvl6pPr>
              <a:defRPr sz="1950">
                <a:solidFill>
                  <a:srgbClr val="29434D"/>
                </a:solidFill>
                <a:latin typeface="Arial"/>
                <a:ea typeface="Arial"/>
                <a:cs typeface="Arial"/>
              </a:defRPr>
            </a:lvl6pPr>
            <a:lvl7pPr>
              <a:defRPr sz="1950">
                <a:solidFill>
                  <a:srgbClr val="29434D"/>
                </a:solidFill>
                <a:latin typeface="Arial"/>
                <a:ea typeface="Arial"/>
                <a:cs typeface="Arial"/>
              </a:defRPr>
            </a:lvl7pPr>
            <a:lvl8pPr>
              <a:defRPr sz="1950">
                <a:solidFill>
                  <a:srgbClr val="29434D"/>
                </a:solidFill>
                <a:latin typeface="Arial"/>
                <a:ea typeface="Arial"/>
                <a:cs typeface="Arial"/>
              </a:defRPr>
            </a:lvl8pPr>
            <a:lvl9pPr>
              <a:defRPr sz="1950">
                <a:solidFill>
                  <a:srgbClr val="29434D"/>
                </a:solidFill>
                <a:latin typeface="Arial"/>
                <a:ea typeface="Arial"/>
                <a:cs typeface="Arial"/>
              </a:defRPr>
            </a:lvl9pPr>
          </a:lstStyle>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Rule-based checks</a:t>
            </a:r>
          </a:p>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Claims, risk and cash</a:t>
            </a:r>
          </a:p>
        </p:txBody>
      </p:sp>
      <p:sp>
        <p:nvSpPr>
          <p:cNvPr id="11" name="">
            <a:extLst xmlns:a="http://schemas.openxmlformats.org/drawingml/2006/main">
              <a:ext uri="{FF2B5EF4-FFF2-40B4-BE49-F238E27FC236}">
                <a16:creationId xmlns:a16="http://schemas.microsoft.com/office/drawing/2014/main" id="{1095626B-AF75-455A-8FA9-C89A7129F005}"/>
              </a:ext>
            </a:extLst>
          </p:cNvPr>
          <p:cNvSpPr>
            <a:spLocks xmlns:a="http://schemas.openxmlformats.org/drawingml/2006/main" noGrp="1"/>
          </p:cNvSpPr>
          <p:nvPr/>
        </p:nvSpPr>
        <p:spPr>
          <a:xfrm xmlns:a="http://schemas.openxmlformats.org/drawingml/2006/main">
            <a:off x="8953500" y="4095750"/>
            <a:ext cx="2552700" cy="1104900"/>
          </a:xfrm>
          <a:prstGeom xmlns:a="http://schemas.openxmlformats.org/drawingml/2006/main" prst="rect">
            <a:avLst/>
          </a:prstGeom>
          <a:solidFill xmlns:a="http://schemas.openxmlformats.org/drawingml/2006/main">
            <a:srgbClr val="EDF3EF"/>
          </a:solidFill>
          <a:ln xmlns:a="http://schemas.openxmlformats.org/drawingml/2006/main" w="9525">
            <a:solidFill>
              <a:srgbClr val="87A99C"/>
            </a:solidFill>
          </a:ln>
        </p:spPr>
        <p:txBody>
          <a:bodyPr xmlns:a="http://schemas.openxmlformats.org/drawingml/2006/main"/>
          <a:lstStyle xmlns:a="http://schemas.openxmlformats.org/drawingml/2006/main">
            <a:defPPr>
              <a:defRPr sz="1950">
                <a:solidFill>
                  <a:srgbClr val="29434D"/>
                </a:solidFill>
                <a:latin typeface="Arial"/>
                <a:ea typeface="Arial"/>
                <a:cs typeface="Arial"/>
              </a:defRPr>
            </a:defPPr>
            <a:lvl1pPr>
              <a:defRPr sz="1950">
                <a:solidFill>
                  <a:srgbClr val="29434D"/>
                </a:solidFill>
                <a:latin typeface="Arial"/>
                <a:ea typeface="Arial"/>
                <a:cs typeface="Arial"/>
              </a:defRPr>
            </a:lvl1pPr>
            <a:lvl2pPr>
              <a:defRPr sz="1950">
                <a:solidFill>
                  <a:srgbClr val="29434D"/>
                </a:solidFill>
                <a:latin typeface="Arial"/>
                <a:ea typeface="Arial"/>
                <a:cs typeface="Arial"/>
              </a:defRPr>
            </a:lvl2pPr>
            <a:lvl3pPr>
              <a:defRPr sz="1950">
                <a:solidFill>
                  <a:srgbClr val="29434D"/>
                </a:solidFill>
                <a:latin typeface="Arial"/>
                <a:ea typeface="Arial"/>
                <a:cs typeface="Arial"/>
              </a:defRPr>
            </a:lvl3pPr>
            <a:lvl4pPr>
              <a:defRPr sz="1950">
                <a:solidFill>
                  <a:srgbClr val="29434D"/>
                </a:solidFill>
                <a:latin typeface="Arial"/>
                <a:ea typeface="Arial"/>
                <a:cs typeface="Arial"/>
              </a:defRPr>
            </a:lvl4pPr>
            <a:lvl5pPr>
              <a:defRPr sz="1950">
                <a:solidFill>
                  <a:srgbClr val="29434D"/>
                </a:solidFill>
                <a:latin typeface="Arial"/>
                <a:ea typeface="Arial"/>
                <a:cs typeface="Arial"/>
              </a:defRPr>
            </a:lvl5pPr>
            <a:lvl6pPr>
              <a:defRPr sz="1950">
                <a:solidFill>
                  <a:srgbClr val="29434D"/>
                </a:solidFill>
                <a:latin typeface="Arial"/>
                <a:ea typeface="Arial"/>
                <a:cs typeface="Arial"/>
              </a:defRPr>
            </a:lvl6pPr>
            <a:lvl7pPr>
              <a:defRPr sz="1950">
                <a:solidFill>
                  <a:srgbClr val="29434D"/>
                </a:solidFill>
                <a:latin typeface="Arial"/>
                <a:ea typeface="Arial"/>
                <a:cs typeface="Arial"/>
              </a:defRPr>
            </a:lvl7pPr>
            <a:lvl8pPr>
              <a:defRPr sz="1950">
                <a:solidFill>
                  <a:srgbClr val="29434D"/>
                </a:solidFill>
                <a:latin typeface="Arial"/>
                <a:ea typeface="Arial"/>
                <a:cs typeface="Arial"/>
              </a:defRPr>
            </a:lvl8pPr>
            <a:lvl9pPr>
              <a:defRPr sz="1950">
                <a:solidFill>
                  <a:srgbClr val="29434D"/>
                </a:solidFill>
                <a:latin typeface="Arial"/>
                <a:ea typeface="Arial"/>
                <a:cs typeface="Arial"/>
              </a:defRPr>
            </a:lvl9pPr>
          </a:lstStyle>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Human approval</a:t>
            </a:r>
          </a:p>
          <a:p xmlns:a="http://schemas.openxmlformats.org/drawingml/2006/main">
            <a:pPr>
              <a:defRPr sz="1950">
                <a:solidFill>
                  <a:srgbClr val="29434D"/>
                </a:solidFill>
                <a:latin typeface="Arial"/>
                <a:ea typeface="Arial"/>
                <a:cs typeface="Arial"/>
              </a:defRPr>
            </a:pPr>
            <a:r>
              <a:rPr sz="1950">
                <a:solidFill>
                  <a:srgbClr val="29434D"/>
                </a:solidFill>
                <a:latin typeface="Arial"/>
                <a:ea typeface="Arial"/>
                <a:cs typeface="Arial"/>
              </a:rPr>
              <a:t>Payment record</a:t>
            </a:r>
          </a:p>
        </p:txBody>
      </p:sp>
      <p:sp>
        <p:nvSpPr>
          <p:cNvPr id="12" name="">
            <a:extLst xmlns:a="http://schemas.openxmlformats.org/drawingml/2006/main">
              <a:ext uri="{FF2B5EF4-FFF2-40B4-BE49-F238E27FC236}">
                <a16:creationId xmlns:a16="http://schemas.microsoft.com/office/drawing/2014/main" id="{134A1E08-F629-470D-9424-6420D615B324}"/>
              </a:ext>
            </a:extLst>
          </p:cNvPr>
          <p:cNvSpPr>
            <a:spLocks xmlns:a="http://schemas.openxmlformats.org/drawingml/2006/main" noGrp="1"/>
          </p:cNvSpPr>
          <p:nvPr/>
        </p:nvSpPr>
        <p:spPr>
          <a:xfrm xmlns:a="http://schemas.openxmlformats.org/drawingml/2006/main">
            <a:off x="3600450" y="43529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286E62"/>
                </a:solidFill>
                <a:latin typeface="Arial"/>
                <a:ea typeface="Arial"/>
                <a:cs typeface="Arial"/>
              </a:defRPr>
            </a:defPPr>
            <a:lvl1pPr>
              <a:defRPr sz="3375" b="0">
                <a:solidFill>
                  <a:srgbClr val="286E62"/>
                </a:solidFill>
                <a:latin typeface="Arial"/>
                <a:ea typeface="Arial"/>
                <a:cs typeface="Arial"/>
              </a:defRPr>
            </a:lvl1pPr>
            <a:lvl2pPr>
              <a:defRPr sz="3375" b="0">
                <a:solidFill>
                  <a:srgbClr val="286E62"/>
                </a:solidFill>
                <a:latin typeface="Arial"/>
                <a:ea typeface="Arial"/>
                <a:cs typeface="Arial"/>
              </a:defRPr>
            </a:lvl2pPr>
            <a:lvl3pPr>
              <a:defRPr sz="3375" b="0">
                <a:solidFill>
                  <a:srgbClr val="286E62"/>
                </a:solidFill>
                <a:latin typeface="Arial"/>
                <a:ea typeface="Arial"/>
                <a:cs typeface="Arial"/>
              </a:defRPr>
            </a:lvl3pPr>
            <a:lvl4pPr>
              <a:defRPr sz="3375" b="0">
                <a:solidFill>
                  <a:srgbClr val="286E62"/>
                </a:solidFill>
                <a:latin typeface="Arial"/>
                <a:ea typeface="Arial"/>
                <a:cs typeface="Arial"/>
              </a:defRPr>
            </a:lvl4pPr>
            <a:lvl5pPr>
              <a:defRPr sz="3375" b="0">
                <a:solidFill>
                  <a:srgbClr val="286E62"/>
                </a:solidFill>
                <a:latin typeface="Arial"/>
                <a:ea typeface="Arial"/>
                <a:cs typeface="Arial"/>
              </a:defRPr>
            </a:lvl5pPr>
            <a:lvl6pPr>
              <a:defRPr sz="3375" b="0">
                <a:solidFill>
                  <a:srgbClr val="286E62"/>
                </a:solidFill>
                <a:latin typeface="Arial"/>
                <a:ea typeface="Arial"/>
                <a:cs typeface="Arial"/>
              </a:defRPr>
            </a:lvl6pPr>
            <a:lvl7pPr>
              <a:defRPr sz="3375" b="0">
                <a:solidFill>
                  <a:srgbClr val="286E62"/>
                </a:solidFill>
                <a:latin typeface="Arial"/>
                <a:ea typeface="Arial"/>
                <a:cs typeface="Arial"/>
              </a:defRPr>
            </a:lvl7pPr>
            <a:lvl8pPr>
              <a:defRPr sz="3375" b="0">
                <a:solidFill>
                  <a:srgbClr val="286E62"/>
                </a:solidFill>
                <a:latin typeface="Arial"/>
                <a:ea typeface="Arial"/>
                <a:cs typeface="Arial"/>
              </a:defRPr>
            </a:lvl8pPr>
            <a:lvl9pPr>
              <a:defRPr sz="3375" b="0">
                <a:solidFill>
                  <a:srgbClr val="286E62"/>
                </a:solidFill>
                <a:latin typeface="Arial"/>
                <a:ea typeface="Arial"/>
                <a:cs typeface="Arial"/>
              </a:defRPr>
            </a:lvl9pPr>
          </a:lstStyle>
          <a:p xmlns:a="http://schemas.openxmlformats.org/drawingml/2006/main">
            <a:pPr>
              <a:defRPr sz="3375" b="0">
                <a:solidFill>
                  <a:srgbClr val="286E62"/>
                </a:solidFill>
                <a:latin typeface="Arial"/>
                <a:ea typeface="Arial"/>
                <a:cs typeface="Arial"/>
              </a:defRPr>
            </a:pPr>
            <a:r>
              <a:rPr sz="3375" b="0">
                <a:solidFill>
                  <a:srgbClr val="286E62"/>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2FEBDF5B-8621-4764-9254-8717BA979FB7}"/>
              </a:ext>
            </a:extLst>
          </p:cNvPr>
          <p:cNvSpPr>
            <a:spLocks xmlns:a="http://schemas.openxmlformats.org/drawingml/2006/main" noGrp="1"/>
          </p:cNvSpPr>
          <p:nvPr/>
        </p:nvSpPr>
        <p:spPr>
          <a:xfrm xmlns:a="http://schemas.openxmlformats.org/drawingml/2006/main">
            <a:off x="8086725" y="4352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286E62"/>
                </a:solidFill>
                <a:latin typeface="Arial"/>
                <a:ea typeface="Arial"/>
                <a:cs typeface="Arial"/>
              </a:defRPr>
            </a:defPPr>
            <a:lvl1pPr>
              <a:defRPr sz="3375" b="0">
                <a:solidFill>
                  <a:srgbClr val="286E62"/>
                </a:solidFill>
                <a:latin typeface="Arial"/>
                <a:ea typeface="Arial"/>
                <a:cs typeface="Arial"/>
              </a:defRPr>
            </a:lvl1pPr>
            <a:lvl2pPr>
              <a:defRPr sz="3375" b="0">
                <a:solidFill>
                  <a:srgbClr val="286E62"/>
                </a:solidFill>
                <a:latin typeface="Arial"/>
                <a:ea typeface="Arial"/>
                <a:cs typeface="Arial"/>
              </a:defRPr>
            </a:lvl2pPr>
            <a:lvl3pPr>
              <a:defRPr sz="3375" b="0">
                <a:solidFill>
                  <a:srgbClr val="286E62"/>
                </a:solidFill>
                <a:latin typeface="Arial"/>
                <a:ea typeface="Arial"/>
                <a:cs typeface="Arial"/>
              </a:defRPr>
            </a:lvl3pPr>
            <a:lvl4pPr>
              <a:defRPr sz="3375" b="0">
                <a:solidFill>
                  <a:srgbClr val="286E62"/>
                </a:solidFill>
                <a:latin typeface="Arial"/>
                <a:ea typeface="Arial"/>
                <a:cs typeface="Arial"/>
              </a:defRPr>
            </a:lvl4pPr>
            <a:lvl5pPr>
              <a:defRPr sz="3375" b="0">
                <a:solidFill>
                  <a:srgbClr val="286E62"/>
                </a:solidFill>
                <a:latin typeface="Arial"/>
                <a:ea typeface="Arial"/>
                <a:cs typeface="Arial"/>
              </a:defRPr>
            </a:lvl5pPr>
            <a:lvl6pPr>
              <a:defRPr sz="3375" b="0">
                <a:solidFill>
                  <a:srgbClr val="286E62"/>
                </a:solidFill>
                <a:latin typeface="Arial"/>
                <a:ea typeface="Arial"/>
                <a:cs typeface="Arial"/>
              </a:defRPr>
            </a:lvl6pPr>
            <a:lvl7pPr>
              <a:defRPr sz="3375" b="0">
                <a:solidFill>
                  <a:srgbClr val="286E62"/>
                </a:solidFill>
                <a:latin typeface="Arial"/>
                <a:ea typeface="Arial"/>
                <a:cs typeface="Arial"/>
              </a:defRPr>
            </a:lvl7pPr>
            <a:lvl8pPr>
              <a:defRPr sz="3375" b="0">
                <a:solidFill>
                  <a:srgbClr val="286E62"/>
                </a:solidFill>
                <a:latin typeface="Arial"/>
                <a:ea typeface="Arial"/>
                <a:cs typeface="Arial"/>
              </a:defRPr>
            </a:lvl8pPr>
            <a:lvl9pPr>
              <a:defRPr sz="3375" b="0">
                <a:solidFill>
                  <a:srgbClr val="286E62"/>
                </a:solidFill>
                <a:latin typeface="Arial"/>
                <a:ea typeface="Arial"/>
                <a:cs typeface="Arial"/>
              </a:defRPr>
            </a:lvl9pPr>
          </a:lstStyle>
          <a:p xmlns:a="http://schemas.openxmlformats.org/drawingml/2006/main">
            <a:pPr>
              <a:defRPr sz="3375" b="0">
                <a:solidFill>
                  <a:srgbClr val="286E62"/>
                </a:solidFill>
                <a:latin typeface="Arial"/>
                <a:ea typeface="Arial"/>
                <a:cs typeface="Arial"/>
              </a:defRPr>
            </a:pPr>
            <a:r>
              <a:rPr sz="3375" b="0">
                <a:solidFill>
                  <a:srgbClr val="286E62"/>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AB151847-D7CE-4ED1-8AE7-BEE1D15AB459}"/>
              </a:ext>
            </a:extLst>
          </p:cNvPr>
          <p:cNvSpPr>
            <a:spLocks xmlns:a="http://schemas.openxmlformats.org/drawingml/2006/main" noGrp="1"/>
          </p:cNvSpPr>
          <p:nvPr/>
        </p:nvSpPr>
        <p:spPr>
          <a:xfrm xmlns:a="http://schemas.openxmlformats.org/drawingml/2006/main">
            <a:off x="5810250" y="3181350"/>
            <a:ext cx="590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286E62"/>
                </a:solidFill>
                <a:latin typeface="Arial"/>
                <a:ea typeface="Arial"/>
                <a:cs typeface="Arial"/>
              </a:defRPr>
            </a:defPPr>
            <a:lvl1pPr>
              <a:defRPr sz="3225" b="0">
                <a:solidFill>
                  <a:srgbClr val="286E62"/>
                </a:solidFill>
                <a:latin typeface="Arial"/>
                <a:ea typeface="Arial"/>
                <a:cs typeface="Arial"/>
              </a:defRPr>
            </a:lvl1pPr>
            <a:lvl2pPr>
              <a:defRPr sz="3225" b="0">
                <a:solidFill>
                  <a:srgbClr val="286E62"/>
                </a:solidFill>
                <a:latin typeface="Arial"/>
                <a:ea typeface="Arial"/>
                <a:cs typeface="Arial"/>
              </a:defRPr>
            </a:lvl2pPr>
            <a:lvl3pPr>
              <a:defRPr sz="3225" b="0">
                <a:solidFill>
                  <a:srgbClr val="286E62"/>
                </a:solidFill>
                <a:latin typeface="Arial"/>
                <a:ea typeface="Arial"/>
                <a:cs typeface="Arial"/>
              </a:defRPr>
            </a:lvl3pPr>
            <a:lvl4pPr>
              <a:defRPr sz="3225" b="0">
                <a:solidFill>
                  <a:srgbClr val="286E62"/>
                </a:solidFill>
                <a:latin typeface="Arial"/>
                <a:ea typeface="Arial"/>
                <a:cs typeface="Arial"/>
              </a:defRPr>
            </a:lvl4pPr>
            <a:lvl5pPr>
              <a:defRPr sz="3225" b="0">
                <a:solidFill>
                  <a:srgbClr val="286E62"/>
                </a:solidFill>
                <a:latin typeface="Arial"/>
                <a:ea typeface="Arial"/>
                <a:cs typeface="Arial"/>
              </a:defRPr>
            </a:lvl5pPr>
            <a:lvl6pPr>
              <a:defRPr sz="3225" b="0">
                <a:solidFill>
                  <a:srgbClr val="286E62"/>
                </a:solidFill>
                <a:latin typeface="Arial"/>
                <a:ea typeface="Arial"/>
                <a:cs typeface="Arial"/>
              </a:defRPr>
            </a:lvl6pPr>
            <a:lvl7pPr>
              <a:defRPr sz="3225" b="0">
                <a:solidFill>
                  <a:srgbClr val="286E62"/>
                </a:solidFill>
                <a:latin typeface="Arial"/>
                <a:ea typeface="Arial"/>
                <a:cs typeface="Arial"/>
              </a:defRPr>
            </a:lvl7pPr>
            <a:lvl8pPr>
              <a:defRPr sz="3225" b="0">
                <a:solidFill>
                  <a:srgbClr val="286E62"/>
                </a:solidFill>
                <a:latin typeface="Arial"/>
                <a:ea typeface="Arial"/>
                <a:cs typeface="Arial"/>
              </a:defRPr>
            </a:lvl8pPr>
            <a:lvl9pPr>
              <a:defRPr sz="3225" b="0">
                <a:solidFill>
                  <a:srgbClr val="286E62"/>
                </a:solidFill>
                <a:latin typeface="Arial"/>
                <a:ea typeface="Arial"/>
                <a:cs typeface="Arial"/>
              </a:defRPr>
            </a:lvl9pPr>
          </a:lstStyle>
          <a:p xmlns:a="http://schemas.openxmlformats.org/drawingml/2006/main">
            <a:pPr>
              <a:defRPr sz="3225" b="0">
                <a:solidFill>
                  <a:srgbClr val="286E62"/>
                </a:solidFill>
                <a:latin typeface="Arial"/>
                <a:ea typeface="Arial"/>
                <a:cs typeface="Arial"/>
              </a:defRPr>
            </a:pPr>
            <a:r>
              <a:rPr sz="3225" b="0">
                <a:solidFill>
                  <a:srgbClr val="286E6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00AA963D-0415-4F1F-8A04-B84ECD9D5A7A}"/>
              </a:ext>
            </a:extLst>
          </p:cNvPr>
          <p:cNvSpPr>
            <a:spLocks xmlns:a="http://schemas.openxmlformats.org/drawingml/2006/main" noGrp="1"/>
          </p:cNvSpPr>
          <p:nvPr/>
        </p:nvSpPr>
        <p:spPr>
          <a:xfrm xmlns:a="http://schemas.openxmlformats.org/drawingml/2006/main">
            <a:off x="9906000" y="3181350"/>
            <a:ext cx="590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286E62"/>
                </a:solidFill>
                <a:latin typeface="Arial"/>
                <a:ea typeface="Arial"/>
                <a:cs typeface="Arial"/>
              </a:defRPr>
            </a:defPPr>
            <a:lvl1pPr>
              <a:defRPr sz="3225" b="0">
                <a:solidFill>
                  <a:srgbClr val="286E62"/>
                </a:solidFill>
                <a:latin typeface="Arial"/>
                <a:ea typeface="Arial"/>
                <a:cs typeface="Arial"/>
              </a:defRPr>
            </a:lvl1pPr>
            <a:lvl2pPr>
              <a:defRPr sz="3225" b="0">
                <a:solidFill>
                  <a:srgbClr val="286E62"/>
                </a:solidFill>
                <a:latin typeface="Arial"/>
                <a:ea typeface="Arial"/>
                <a:cs typeface="Arial"/>
              </a:defRPr>
            </a:lvl2pPr>
            <a:lvl3pPr>
              <a:defRPr sz="3225" b="0">
                <a:solidFill>
                  <a:srgbClr val="286E62"/>
                </a:solidFill>
                <a:latin typeface="Arial"/>
                <a:ea typeface="Arial"/>
                <a:cs typeface="Arial"/>
              </a:defRPr>
            </a:lvl3pPr>
            <a:lvl4pPr>
              <a:defRPr sz="3225" b="0">
                <a:solidFill>
                  <a:srgbClr val="286E62"/>
                </a:solidFill>
                <a:latin typeface="Arial"/>
                <a:ea typeface="Arial"/>
                <a:cs typeface="Arial"/>
              </a:defRPr>
            </a:lvl4pPr>
            <a:lvl5pPr>
              <a:defRPr sz="3225" b="0">
                <a:solidFill>
                  <a:srgbClr val="286E62"/>
                </a:solidFill>
                <a:latin typeface="Arial"/>
                <a:ea typeface="Arial"/>
                <a:cs typeface="Arial"/>
              </a:defRPr>
            </a:lvl5pPr>
            <a:lvl6pPr>
              <a:defRPr sz="3225" b="0">
                <a:solidFill>
                  <a:srgbClr val="286E62"/>
                </a:solidFill>
                <a:latin typeface="Arial"/>
                <a:ea typeface="Arial"/>
                <a:cs typeface="Arial"/>
              </a:defRPr>
            </a:lvl6pPr>
            <a:lvl7pPr>
              <a:defRPr sz="3225" b="0">
                <a:solidFill>
                  <a:srgbClr val="286E62"/>
                </a:solidFill>
                <a:latin typeface="Arial"/>
                <a:ea typeface="Arial"/>
                <a:cs typeface="Arial"/>
              </a:defRPr>
            </a:lvl7pPr>
            <a:lvl8pPr>
              <a:defRPr sz="3225" b="0">
                <a:solidFill>
                  <a:srgbClr val="286E62"/>
                </a:solidFill>
                <a:latin typeface="Arial"/>
                <a:ea typeface="Arial"/>
                <a:cs typeface="Arial"/>
              </a:defRPr>
            </a:lvl8pPr>
            <a:lvl9pPr>
              <a:defRPr sz="3225" b="0">
                <a:solidFill>
                  <a:srgbClr val="286E62"/>
                </a:solidFill>
                <a:latin typeface="Arial"/>
                <a:ea typeface="Arial"/>
                <a:cs typeface="Arial"/>
              </a:defRPr>
            </a:lvl9pPr>
          </a:lstStyle>
          <a:p xmlns:a="http://schemas.openxmlformats.org/drawingml/2006/main">
            <a:pPr>
              <a:defRPr sz="3225" b="0">
                <a:solidFill>
                  <a:srgbClr val="286E62"/>
                </a:solidFill>
                <a:latin typeface="Arial"/>
                <a:ea typeface="Arial"/>
                <a:cs typeface="Arial"/>
              </a:defRPr>
            </a:pPr>
            <a:r>
              <a:rPr sz="3225" b="0">
                <a:solidFill>
                  <a:srgbClr val="286E62"/>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11020D91-D3EE-470D-BD2A-4E8FB09A5532}"/>
              </a:ext>
            </a:extLst>
          </p:cNvPr>
          <p:cNvSpPr>
            <a:spLocks xmlns:a="http://schemas.openxmlformats.org/drawingml/2006/main" noGrp="1"/>
          </p:cNvSpPr>
          <p:nvPr/>
        </p:nvSpPr>
        <p:spPr>
          <a:xfrm xmlns:a="http://schemas.openxmlformats.org/drawingml/2006/main">
            <a:off x="714375" y="56102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77D"/>
                </a:solidFill>
                <a:latin typeface="Arial"/>
                <a:ea typeface="Arial"/>
                <a:cs typeface="Arial"/>
              </a:defRPr>
            </a:defPPr>
            <a:lvl1pPr>
              <a:defRPr sz="1725" b="0">
                <a:solidFill>
                  <a:srgbClr val="60777D"/>
                </a:solidFill>
                <a:latin typeface="Arial"/>
                <a:ea typeface="Arial"/>
                <a:cs typeface="Arial"/>
              </a:defRPr>
            </a:lvl1pPr>
            <a:lvl2pPr>
              <a:defRPr sz="1725" b="0">
                <a:solidFill>
                  <a:srgbClr val="60777D"/>
                </a:solidFill>
                <a:latin typeface="Arial"/>
                <a:ea typeface="Arial"/>
                <a:cs typeface="Arial"/>
              </a:defRPr>
            </a:lvl2pPr>
            <a:lvl3pPr>
              <a:defRPr sz="1725" b="0">
                <a:solidFill>
                  <a:srgbClr val="60777D"/>
                </a:solidFill>
                <a:latin typeface="Arial"/>
                <a:ea typeface="Arial"/>
                <a:cs typeface="Arial"/>
              </a:defRPr>
            </a:lvl3pPr>
            <a:lvl4pPr>
              <a:defRPr sz="1725" b="0">
                <a:solidFill>
                  <a:srgbClr val="60777D"/>
                </a:solidFill>
                <a:latin typeface="Arial"/>
                <a:ea typeface="Arial"/>
                <a:cs typeface="Arial"/>
              </a:defRPr>
            </a:lvl4pPr>
            <a:lvl5pPr>
              <a:defRPr sz="1725" b="0">
                <a:solidFill>
                  <a:srgbClr val="60777D"/>
                </a:solidFill>
                <a:latin typeface="Arial"/>
                <a:ea typeface="Arial"/>
                <a:cs typeface="Arial"/>
              </a:defRPr>
            </a:lvl5pPr>
            <a:lvl6pPr>
              <a:defRPr sz="1725" b="0">
                <a:solidFill>
                  <a:srgbClr val="60777D"/>
                </a:solidFill>
                <a:latin typeface="Arial"/>
                <a:ea typeface="Arial"/>
                <a:cs typeface="Arial"/>
              </a:defRPr>
            </a:lvl6pPr>
            <a:lvl7pPr>
              <a:defRPr sz="1725" b="0">
                <a:solidFill>
                  <a:srgbClr val="60777D"/>
                </a:solidFill>
                <a:latin typeface="Arial"/>
                <a:ea typeface="Arial"/>
                <a:cs typeface="Arial"/>
              </a:defRPr>
            </a:lvl7pPr>
            <a:lvl8pPr>
              <a:defRPr sz="1725" b="0">
                <a:solidFill>
                  <a:srgbClr val="60777D"/>
                </a:solidFill>
                <a:latin typeface="Arial"/>
                <a:ea typeface="Arial"/>
                <a:cs typeface="Arial"/>
              </a:defRPr>
            </a:lvl8pPr>
            <a:lvl9pPr>
              <a:defRPr sz="1725" b="0">
                <a:solidFill>
                  <a:srgbClr val="60777D"/>
                </a:solidFill>
                <a:latin typeface="Arial"/>
                <a:ea typeface="Arial"/>
                <a:cs typeface="Arial"/>
              </a:defRPr>
            </a:lvl9pPr>
          </a:lstStyle>
          <a:p xmlns:a="http://schemas.openxmlformats.org/drawingml/2006/main">
            <a:pPr>
              <a:defRPr sz="1725" b="0">
                <a:solidFill>
                  <a:srgbClr val="60777D"/>
                </a:solidFill>
                <a:latin typeface="Arial"/>
                <a:ea typeface="Arial"/>
                <a:cs typeface="Arial"/>
              </a:defRPr>
            </a:pPr>
            <a:r>
              <a:rPr sz="1725" b="0">
                <a:solidFill>
                  <a:srgbClr val="60777D"/>
                </a:solidFill>
                <a:latin typeface="Arial"/>
                <a:ea typeface="Arial"/>
                <a:cs typeface="Arial"/>
              </a:rPr>
              <a:t>AI can explain the evidence. People approve financial actions.</a:t>
            </a:r>
          </a:p>
        </p:txBody>
      </p:sp>
    </p:spTree>
    <p:extLst>
      <p:ext uri="{BB962C8B-B14F-4D97-AF65-F5344CB8AC3E}">
        <p14:creationId xmlns:p14="http://schemas.microsoft.com/office/powerpoint/2010/main" val="837505189"/>
      </p:ext>
    </p:extLst>
  </p:cSld>
</p:sld>
</file>

<file path=ppt/slides/slide6.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61E142-68C0-4FD0-BE7E-D87FF36A9EAC}"/>
              </a:ext>
            </a:extLst>
          </p:cNvPr>
          <p:cNvSpPr>
            <a:spLocks xmlns:a="http://schemas.openxmlformats.org/drawingml/2006/main" noGrp="1"/>
          </p:cNvSpPr>
          <p:nvPr/>
        </p:nvSpPr>
        <p:spPr>
          <a:xfrm xmlns:a="http://schemas.openxmlformats.org/drawingml/2006/main">
            <a:off x="685800" y="590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43F"/>
                </a:solidFill>
                <a:latin typeface="Arial"/>
                <a:ea typeface="Arial"/>
                <a:cs typeface="Arial"/>
              </a:defRPr>
            </a:defPPr>
            <a:lvl1pPr>
              <a:defRPr sz="3300" b="1">
                <a:solidFill>
                  <a:srgbClr val="19343F"/>
                </a:solidFill>
                <a:latin typeface="Arial"/>
                <a:ea typeface="Arial"/>
                <a:cs typeface="Arial"/>
              </a:defRPr>
            </a:lvl1pPr>
            <a:lvl2pPr>
              <a:defRPr sz="3300" b="1">
                <a:solidFill>
                  <a:srgbClr val="19343F"/>
                </a:solidFill>
                <a:latin typeface="Arial"/>
                <a:ea typeface="Arial"/>
                <a:cs typeface="Arial"/>
              </a:defRPr>
            </a:lvl2pPr>
            <a:lvl3pPr>
              <a:defRPr sz="3300" b="1">
                <a:solidFill>
                  <a:srgbClr val="19343F"/>
                </a:solidFill>
                <a:latin typeface="Arial"/>
                <a:ea typeface="Arial"/>
                <a:cs typeface="Arial"/>
              </a:defRPr>
            </a:lvl3pPr>
            <a:lvl4pPr>
              <a:defRPr sz="3300" b="1">
                <a:solidFill>
                  <a:srgbClr val="19343F"/>
                </a:solidFill>
                <a:latin typeface="Arial"/>
                <a:ea typeface="Arial"/>
                <a:cs typeface="Arial"/>
              </a:defRPr>
            </a:lvl4pPr>
            <a:lvl5pPr>
              <a:defRPr sz="3300" b="1">
                <a:solidFill>
                  <a:srgbClr val="19343F"/>
                </a:solidFill>
                <a:latin typeface="Arial"/>
                <a:ea typeface="Arial"/>
                <a:cs typeface="Arial"/>
              </a:defRPr>
            </a:lvl5pPr>
            <a:lvl6pPr>
              <a:defRPr sz="3300" b="1">
                <a:solidFill>
                  <a:srgbClr val="19343F"/>
                </a:solidFill>
                <a:latin typeface="Arial"/>
                <a:ea typeface="Arial"/>
                <a:cs typeface="Arial"/>
              </a:defRPr>
            </a:lvl6pPr>
            <a:lvl7pPr>
              <a:defRPr sz="3300" b="1">
                <a:solidFill>
                  <a:srgbClr val="19343F"/>
                </a:solidFill>
                <a:latin typeface="Arial"/>
                <a:ea typeface="Arial"/>
                <a:cs typeface="Arial"/>
              </a:defRPr>
            </a:lvl7pPr>
            <a:lvl8pPr>
              <a:defRPr sz="3300" b="1">
                <a:solidFill>
                  <a:srgbClr val="19343F"/>
                </a:solidFill>
                <a:latin typeface="Arial"/>
                <a:ea typeface="Arial"/>
                <a:cs typeface="Arial"/>
              </a:defRPr>
            </a:lvl8pPr>
            <a:lvl9pPr>
              <a:defRPr sz="3300" b="1">
                <a:solidFill>
                  <a:srgbClr val="19343F"/>
                </a:solidFill>
                <a:latin typeface="Arial"/>
                <a:ea typeface="Arial"/>
                <a:cs typeface="Arial"/>
              </a:defRPr>
            </a:lvl9pPr>
          </a:lstStyle>
          <a:p xmlns:a="http://schemas.openxmlformats.org/drawingml/2006/main">
            <a:pPr>
              <a:defRPr sz="3300" b="1">
                <a:solidFill>
                  <a:srgbClr val="19343F"/>
                </a:solidFill>
                <a:latin typeface="Arial"/>
                <a:ea typeface="Arial"/>
                <a:cs typeface="Arial"/>
              </a:defRPr>
            </a:pPr>
            <a:r>
              <a:rPr sz="3300" b="1">
                <a:solidFill>
                  <a:srgbClr val="19343F"/>
                </a:solidFill>
                <a:latin typeface="Arial"/>
                <a:ea typeface="Arial"/>
                <a:cs typeface="Arial"/>
              </a:rPr>
              <a:t>An inflated steel invoice</a:t>
            </a:r>
          </a:p>
        </p:txBody>
      </p:sp>
      <p:sp>
        <p:nvSpPr>
          <p:cNvPr id="2" name="">
            <a:extLst xmlns:a="http://schemas.openxmlformats.org/drawingml/2006/main">
              <a:ext uri="{FF2B5EF4-FFF2-40B4-BE49-F238E27FC236}">
                <a16:creationId xmlns:a16="http://schemas.microsoft.com/office/drawing/2014/main" id="{166FA854-122B-4836-BDC9-4BBC9530A0D4}"/>
              </a:ext>
            </a:extLst>
          </p:cNvPr>
          <p:cNvSpPr>
            <a:spLocks xmlns:a="http://schemas.openxmlformats.org/drawingml/2006/main" noGrp="1"/>
          </p:cNvSpPr>
          <p:nvPr/>
        </p:nvSpPr>
        <p:spPr>
          <a:xfrm xmlns:a="http://schemas.openxmlformats.org/drawingml/2006/main">
            <a:off x="685800" y="64103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BuildTrust AI  ·  Fictional sandbox demonstration</a:t>
            </a:r>
          </a:p>
        </p:txBody>
      </p:sp>
      <p:sp>
        <p:nvSpPr>
          <p:cNvPr id="3" name="">
            <a:extLst xmlns:a="http://schemas.openxmlformats.org/drawingml/2006/main">
              <a:ext uri="{FF2B5EF4-FFF2-40B4-BE49-F238E27FC236}">
                <a16:creationId xmlns:a16="http://schemas.microsoft.com/office/drawing/2014/main" id="{42CC9535-C223-4549-9134-76D38E469422}"/>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7ACD7DC4-EAFA-4BDB-B5FA-BC6FE377D14D}"/>
              </a:ext>
            </a:extLst>
          </p:cNvPr>
          <p:cNvGraphicFramePr/>
          <p:nvPr/>
        </p:nvGraphicFramePr>
        <p:xfrm>
          <a:off xmlns:a="http://schemas.openxmlformats.org/drawingml/2006/main" x="685800" y="1809750"/>
          <a:ext xmlns:a="http://schemas.openxmlformats.org/drawingml/2006/main" cx="4572000" cy="2952750"/>
        </p:xfrm>
        <a:graphic xmlns:a="http://schemas.openxmlformats.org/drawingml/2006/main">
          <a:graphicData uri="http://schemas.openxmlformats.org/drawingml/2006/table">
            <a:tbl>
              <a:tblPr/>
              <a:tblGrid>
                <a:gridCol w="3238500"/>
                <a:gridCol w="1333500"/>
              </a:tblGrid>
              <a:tr h="590550">
                <a:tc>
                  <a:txBody>
                    <a:bodyPr/>
                    <a:lstStyle/>
                    <a:p>
                      <a:r>
                        <a:rPr sz="1800" b="1">
                          <a:solidFill>
                            <a:srgbClr val="FFFFFF"/>
                          </a:solidFill>
                          <a:latin typeface="Arial"/>
                          <a:ea typeface="Arial"/>
                          <a:cs typeface="Arial"/>
                        </a:rPr>
                        <a:t>Record</a:t>
                      </a:r>
                    </a:p>
                  </a:txBody>
                  <a:tcPr marL="91440" marR="91440" marT="45720" marB="45720">
                    <a:lnL w="9525">
                      <a:solidFill>
                        <a:srgbClr val="D9E4DE"/>
                      </a:solidFill>
                      <a:prstDash val="solid"/>
                    </a:lnL>
                    <a:lnR w="9525">
                      <a:solidFill>
                        <a:srgbClr val="D9E4DE"/>
                      </a:solidFill>
                      <a:prstDash val="solid"/>
                    </a:lnR>
                    <a:lnT w="9525">
                      <a:solidFill>
                        <a:srgbClr val="D9E4DE"/>
                      </a:solidFill>
                      <a:prstDash val="solid"/>
                    </a:lnT>
                    <a:lnB w="9525">
                      <a:solidFill>
                        <a:srgbClr val="D9E4DE"/>
                      </a:solidFill>
                      <a:prstDash val="solid"/>
                    </a:lnB>
                    <a:solidFill>
                      <a:srgbClr val="19343F"/>
                    </a:solidFill>
                  </a:tcPr>
                </a:tc>
                <a:tc>
                  <a:txBody>
                    <a:bodyPr/>
                    <a:lstStyle/>
                    <a:p>
                      <a:r>
                        <a:rPr sz="1800" b="1">
                          <a:solidFill>
                            <a:srgbClr val="FFFFFF"/>
                          </a:solidFill>
                          <a:latin typeface="Arial"/>
                          <a:ea typeface="Arial"/>
                          <a:cs typeface="Arial"/>
                        </a:rPr>
                        <a:t>Tonnes</a:t>
                      </a:r>
                    </a:p>
                  </a:txBody>
                  <a:tcPr marL="91440" marR="91440" marT="45720" marB="45720">
                    <a:lnR w="9525">
                      <a:solidFill>
                        <a:srgbClr val="D9E4DE"/>
                      </a:solidFill>
                      <a:prstDash val="solid"/>
                    </a:lnR>
                    <a:lnT w="9525">
                      <a:solidFill>
                        <a:srgbClr val="D9E4DE"/>
                      </a:solidFill>
                      <a:prstDash val="solid"/>
                    </a:lnT>
                    <a:lnB w="9525">
                      <a:solidFill>
                        <a:srgbClr val="D9E4DE"/>
                      </a:solidFill>
                      <a:prstDash val="solid"/>
                    </a:lnB>
                    <a:solidFill>
                      <a:srgbClr val="19343F"/>
                    </a:solidFill>
                  </a:tcPr>
                </a:tc>
              </a:tr>
              <a:tr h="590550">
                <a:tc>
                  <a:txBody>
                    <a:bodyPr/>
                    <a:lstStyle/>
                    <a:p>
                      <a:r>
                        <a:rPr sz="1800" b="0">
                          <a:solidFill>
                            <a:srgbClr val="29434D"/>
                          </a:solidFill>
                          <a:latin typeface="Arial"/>
                          <a:ea typeface="Arial"/>
                          <a:cs typeface="Arial"/>
                        </a:rPr>
                        <a:t>Approved BOQ</a:t>
                      </a:r>
                    </a:p>
                  </a:txBody>
                  <a:tcPr marL="91440" marR="91440" marT="45720" marB="45720">
                    <a:lnL w="9525">
                      <a:solidFill>
                        <a:srgbClr val="D9E4DE"/>
                      </a:solidFill>
                      <a:prstDash val="solid"/>
                    </a:lnL>
                    <a:lnR w="9525">
                      <a:solidFill>
                        <a:srgbClr val="D9E4DE"/>
                      </a:solidFill>
                      <a:prstDash val="solid"/>
                    </a:lnR>
                    <a:lnB w="9525">
                      <a:solidFill>
                        <a:srgbClr val="D9E4DE"/>
                      </a:solidFill>
                      <a:prstDash val="solid"/>
                    </a:lnB>
                    <a:solidFill>
                      <a:srgbClr val="FFFFFF"/>
                    </a:solidFill>
                  </a:tcPr>
                </a:tc>
                <a:tc>
                  <a:txBody>
                    <a:bodyPr/>
                    <a:lstStyle/>
                    <a:p>
                      <a:r>
                        <a:rPr sz="1800" b="0">
                          <a:solidFill>
                            <a:srgbClr val="29434D"/>
                          </a:solidFill>
                          <a:latin typeface="Arial"/>
                          <a:ea typeface="Arial"/>
                          <a:cs typeface="Arial"/>
                        </a:rPr>
                        <a:t>80</a:t>
                      </a:r>
                    </a:p>
                  </a:txBody>
                  <a:tcPr marL="91440" marR="91440" marT="45720" marB="45720">
                    <a:lnR w="9525">
                      <a:solidFill>
                        <a:srgbClr val="D9E4DE"/>
                      </a:solidFill>
                      <a:prstDash val="solid"/>
                    </a:lnR>
                    <a:lnB w="9525">
                      <a:solidFill>
                        <a:srgbClr val="D9E4DE"/>
                      </a:solidFill>
                      <a:prstDash val="solid"/>
                    </a:lnB>
                    <a:solidFill>
                      <a:srgbClr val="FFFFFF"/>
                    </a:solidFill>
                  </a:tcPr>
                </a:tc>
              </a:tr>
              <a:tr h="590550">
                <a:tc>
                  <a:txBody>
                    <a:bodyPr/>
                    <a:lstStyle/>
                    <a:p>
                      <a:r>
                        <a:rPr sz="1800" b="0">
                          <a:solidFill>
                            <a:srgbClr val="29434D"/>
                          </a:solidFill>
                          <a:latin typeface="Arial"/>
                          <a:ea typeface="Arial"/>
                          <a:cs typeface="Arial"/>
                        </a:rPr>
                        <a:t>Purchase order</a:t>
                      </a:r>
                    </a:p>
                  </a:txBody>
                  <a:tcPr marL="91440" marR="91440" marT="45720" marB="45720">
                    <a:lnL w="9525">
                      <a:solidFill>
                        <a:srgbClr val="D9E4DE"/>
                      </a:solidFill>
                      <a:prstDash val="solid"/>
                    </a:lnL>
                    <a:lnR w="9525">
                      <a:solidFill>
                        <a:srgbClr val="D9E4DE"/>
                      </a:solidFill>
                      <a:prstDash val="solid"/>
                    </a:lnR>
                    <a:lnB w="9525">
                      <a:solidFill>
                        <a:srgbClr val="D9E4DE"/>
                      </a:solidFill>
                      <a:prstDash val="solid"/>
                    </a:lnB>
                    <a:solidFill>
                      <a:srgbClr val="EDF3EF"/>
                    </a:solidFill>
                  </a:tcPr>
                </a:tc>
                <a:tc>
                  <a:txBody>
                    <a:bodyPr/>
                    <a:lstStyle/>
                    <a:p>
                      <a:r>
                        <a:rPr sz="1800" b="0">
                          <a:solidFill>
                            <a:srgbClr val="29434D"/>
                          </a:solidFill>
                          <a:latin typeface="Arial"/>
                          <a:ea typeface="Arial"/>
                          <a:cs typeface="Arial"/>
                        </a:rPr>
                        <a:t>80</a:t>
                      </a:r>
                    </a:p>
                  </a:txBody>
                  <a:tcPr marL="91440" marR="91440" marT="45720" marB="45720">
                    <a:lnR w="9525">
                      <a:solidFill>
                        <a:srgbClr val="D9E4DE"/>
                      </a:solidFill>
                      <a:prstDash val="solid"/>
                    </a:lnR>
                    <a:lnB w="9525">
                      <a:solidFill>
                        <a:srgbClr val="D9E4DE"/>
                      </a:solidFill>
                      <a:prstDash val="solid"/>
                    </a:lnB>
                    <a:solidFill>
                      <a:srgbClr val="EDF3EF"/>
                    </a:solidFill>
                  </a:tcPr>
                </a:tc>
              </a:tr>
              <a:tr h="590550">
                <a:tc>
                  <a:txBody>
                    <a:bodyPr/>
                    <a:lstStyle/>
                    <a:p>
                      <a:r>
                        <a:rPr sz="1800" b="0">
                          <a:solidFill>
                            <a:srgbClr val="29434D"/>
                          </a:solidFill>
                          <a:latin typeface="Arial"/>
                          <a:ea typeface="Arial"/>
                          <a:cs typeface="Arial"/>
                        </a:rPr>
                        <a:t>Accepted delivery</a:t>
                      </a:r>
                    </a:p>
                  </a:txBody>
                  <a:tcPr marL="91440" marR="91440" marT="45720" marB="45720">
                    <a:lnL w="9525">
                      <a:solidFill>
                        <a:srgbClr val="D9E4DE"/>
                      </a:solidFill>
                      <a:prstDash val="solid"/>
                    </a:lnL>
                    <a:lnR w="9525">
                      <a:solidFill>
                        <a:srgbClr val="D9E4DE"/>
                      </a:solidFill>
                      <a:prstDash val="solid"/>
                    </a:lnR>
                    <a:lnB w="9525">
                      <a:solidFill>
                        <a:srgbClr val="D9E4DE"/>
                      </a:solidFill>
                      <a:prstDash val="solid"/>
                    </a:lnB>
                    <a:solidFill>
                      <a:srgbClr val="FFFFFF"/>
                    </a:solidFill>
                  </a:tcPr>
                </a:tc>
                <a:tc>
                  <a:txBody>
                    <a:bodyPr/>
                    <a:lstStyle/>
                    <a:p>
                      <a:r>
                        <a:rPr sz="1800" b="0">
                          <a:solidFill>
                            <a:srgbClr val="29434D"/>
                          </a:solidFill>
                          <a:latin typeface="Arial"/>
                          <a:ea typeface="Arial"/>
                          <a:cs typeface="Arial"/>
                        </a:rPr>
                        <a:t>80</a:t>
                      </a:r>
                    </a:p>
                  </a:txBody>
                  <a:tcPr marL="91440" marR="91440" marT="45720" marB="45720">
                    <a:lnR w="9525">
                      <a:solidFill>
                        <a:srgbClr val="D9E4DE"/>
                      </a:solidFill>
                      <a:prstDash val="solid"/>
                    </a:lnR>
                    <a:lnB w="9525">
                      <a:solidFill>
                        <a:srgbClr val="D9E4DE"/>
                      </a:solidFill>
                      <a:prstDash val="solid"/>
                    </a:lnB>
                    <a:solidFill>
                      <a:srgbClr val="FFFFFF"/>
                    </a:solidFill>
                  </a:tcPr>
                </a:tc>
              </a:tr>
              <a:tr h="590550">
                <a:tc>
                  <a:txBody>
                    <a:bodyPr/>
                    <a:lstStyle/>
                    <a:p>
                      <a:r>
                        <a:rPr sz="1800" b="0">
                          <a:solidFill>
                            <a:srgbClr val="29434D"/>
                          </a:solidFill>
                          <a:latin typeface="Arial"/>
                          <a:ea typeface="Arial"/>
                          <a:cs typeface="Arial"/>
                        </a:rPr>
                        <a:t>Supplier invoice</a:t>
                      </a:r>
                    </a:p>
                  </a:txBody>
                  <a:tcPr marL="91440" marR="91440" marT="45720" marB="45720">
                    <a:lnL w="9525">
                      <a:solidFill>
                        <a:srgbClr val="D9E4DE"/>
                      </a:solidFill>
                      <a:prstDash val="solid"/>
                    </a:lnL>
                    <a:lnR w="9525">
                      <a:solidFill>
                        <a:srgbClr val="D9E4DE"/>
                      </a:solidFill>
                      <a:prstDash val="solid"/>
                    </a:lnR>
                    <a:lnB w="9525">
                      <a:solidFill>
                        <a:srgbClr val="D9E4DE"/>
                      </a:solidFill>
                      <a:prstDash val="solid"/>
                    </a:lnB>
                    <a:solidFill>
                      <a:srgbClr val="EDF3EF"/>
                    </a:solidFill>
                  </a:tcPr>
                </a:tc>
                <a:tc>
                  <a:txBody>
                    <a:bodyPr/>
                    <a:lstStyle/>
                    <a:p>
                      <a:r>
                        <a:rPr sz="1800" b="0">
                          <a:solidFill>
                            <a:srgbClr val="29434D"/>
                          </a:solidFill>
                          <a:latin typeface="Arial"/>
                          <a:ea typeface="Arial"/>
                          <a:cs typeface="Arial"/>
                        </a:rPr>
                        <a:t>95</a:t>
                      </a:r>
                    </a:p>
                  </a:txBody>
                  <a:tcPr marL="91440" marR="91440" marT="45720" marB="45720">
                    <a:lnR w="9525">
                      <a:solidFill>
                        <a:srgbClr val="D9E4DE"/>
                      </a:solidFill>
                      <a:prstDash val="solid"/>
                    </a:lnR>
                    <a:lnB w="9525">
                      <a:solidFill>
                        <a:srgbClr val="D9E4DE"/>
                      </a:solidFill>
                      <a:prstDash val="solid"/>
                    </a:lnB>
                    <a:solidFill>
                      <a:srgbClr val="EDF3EF"/>
                    </a:solidFill>
                  </a:tcPr>
                </a:tc>
              </a:tr>
            </a:tbl>
          </a:graphicData>
        </a:graphic>
      </p:graphicFrame>
      <p:sp>
        <p:nvSpPr>
          <p:cNvPr id="5" name="">
            <a:extLst xmlns:a="http://schemas.openxmlformats.org/drawingml/2006/main">
              <a:ext uri="{FF2B5EF4-FFF2-40B4-BE49-F238E27FC236}">
                <a16:creationId xmlns:a16="http://schemas.microsoft.com/office/drawing/2014/main" id="{832B394B-E0A5-45A4-912A-83A62C07879A}"/>
              </a:ext>
            </a:extLst>
          </p:cNvPr>
          <p:cNvSpPr>
            <a:spLocks xmlns:a="http://schemas.openxmlformats.org/drawingml/2006/main" noGrp="1"/>
          </p:cNvSpPr>
          <p:nvPr/>
        </p:nvSpPr>
        <p:spPr>
          <a:xfrm xmlns:a="http://schemas.openxmlformats.org/drawingml/2006/main">
            <a:off x="723900" y="5010150"/>
            <a:ext cx="5143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A14B42"/>
                </a:solidFill>
                <a:latin typeface="Arial"/>
                <a:ea typeface="Arial"/>
                <a:cs typeface="Arial"/>
              </a:defRPr>
            </a:defPPr>
            <a:lvl1pPr>
              <a:defRPr sz="3675" b="1">
                <a:solidFill>
                  <a:srgbClr val="A14B42"/>
                </a:solidFill>
                <a:latin typeface="Arial"/>
                <a:ea typeface="Arial"/>
                <a:cs typeface="Arial"/>
              </a:defRPr>
            </a:lvl1pPr>
            <a:lvl2pPr>
              <a:defRPr sz="3675" b="1">
                <a:solidFill>
                  <a:srgbClr val="A14B42"/>
                </a:solidFill>
                <a:latin typeface="Arial"/>
                <a:ea typeface="Arial"/>
                <a:cs typeface="Arial"/>
              </a:defRPr>
            </a:lvl2pPr>
            <a:lvl3pPr>
              <a:defRPr sz="3675" b="1">
                <a:solidFill>
                  <a:srgbClr val="A14B42"/>
                </a:solidFill>
                <a:latin typeface="Arial"/>
                <a:ea typeface="Arial"/>
                <a:cs typeface="Arial"/>
              </a:defRPr>
            </a:lvl3pPr>
            <a:lvl4pPr>
              <a:defRPr sz="3675" b="1">
                <a:solidFill>
                  <a:srgbClr val="A14B42"/>
                </a:solidFill>
                <a:latin typeface="Arial"/>
                <a:ea typeface="Arial"/>
                <a:cs typeface="Arial"/>
              </a:defRPr>
            </a:lvl4pPr>
            <a:lvl5pPr>
              <a:defRPr sz="3675" b="1">
                <a:solidFill>
                  <a:srgbClr val="A14B42"/>
                </a:solidFill>
                <a:latin typeface="Arial"/>
                <a:ea typeface="Arial"/>
                <a:cs typeface="Arial"/>
              </a:defRPr>
            </a:lvl5pPr>
            <a:lvl6pPr>
              <a:defRPr sz="3675" b="1">
                <a:solidFill>
                  <a:srgbClr val="A14B42"/>
                </a:solidFill>
                <a:latin typeface="Arial"/>
                <a:ea typeface="Arial"/>
                <a:cs typeface="Arial"/>
              </a:defRPr>
            </a:lvl6pPr>
            <a:lvl7pPr>
              <a:defRPr sz="3675" b="1">
                <a:solidFill>
                  <a:srgbClr val="A14B42"/>
                </a:solidFill>
                <a:latin typeface="Arial"/>
                <a:ea typeface="Arial"/>
                <a:cs typeface="Arial"/>
              </a:defRPr>
            </a:lvl7pPr>
            <a:lvl8pPr>
              <a:defRPr sz="3675" b="1">
                <a:solidFill>
                  <a:srgbClr val="A14B42"/>
                </a:solidFill>
                <a:latin typeface="Arial"/>
                <a:ea typeface="Arial"/>
                <a:cs typeface="Arial"/>
              </a:defRPr>
            </a:lvl8pPr>
            <a:lvl9pPr>
              <a:defRPr sz="3675" b="1">
                <a:solidFill>
                  <a:srgbClr val="A14B42"/>
                </a:solidFill>
                <a:latin typeface="Arial"/>
                <a:ea typeface="Arial"/>
                <a:cs typeface="Arial"/>
              </a:defRPr>
            </a:lvl9pPr>
          </a:lstStyle>
          <a:p xmlns:a="http://schemas.openxmlformats.org/drawingml/2006/main">
            <a:pPr>
              <a:defRPr sz="3675" b="1">
                <a:solidFill>
                  <a:srgbClr val="A14B42"/>
                </a:solidFill>
                <a:latin typeface="Arial"/>
                <a:ea typeface="Arial"/>
                <a:cs typeface="Arial"/>
              </a:defRPr>
            </a:pPr>
            <a:r>
              <a:rPr sz="3675" b="1">
                <a:solidFill>
                  <a:srgbClr val="A14B42"/>
                </a:solidFill>
                <a:latin typeface="Arial"/>
                <a:ea typeface="Arial"/>
                <a:cs typeface="Arial"/>
              </a:rPr>
              <a:t>BDT 1,050,000</a:t>
            </a:r>
          </a:p>
        </p:txBody>
      </p:sp>
      <p:sp>
        <p:nvSpPr>
          <p:cNvPr id="6" name="">
            <a:extLst xmlns:a="http://schemas.openxmlformats.org/drawingml/2006/main">
              <a:ext uri="{FF2B5EF4-FFF2-40B4-BE49-F238E27FC236}">
                <a16:creationId xmlns:a16="http://schemas.microsoft.com/office/drawing/2014/main" id="{1D6A3CED-11C2-42EA-AD34-84C2C14DD341}"/>
              </a:ext>
            </a:extLst>
          </p:cNvPr>
          <p:cNvSpPr>
            <a:spLocks xmlns:a="http://schemas.openxmlformats.org/drawingml/2006/main" noGrp="1"/>
          </p:cNvSpPr>
          <p:nvPr/>
        </p:nvSpPr>
        <p:spPr>
          <a:xfrm xmlns:a="http://schemas.openxmlformats.org/drawingml/2006/main">
            <a:off x="742950" y="57626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A14B42"/>
                </a:solidFill>
                <a:latin typeface="Arial"/>
                <a:ea typeface="Arial"/>
                <a:cs typeface="Arial"/>
              </a:defRPr>
            </a:defPPr>
            <a:lvl1pPr>
              <a:defRPr sz="1725" b="0">
                <a:solidFill>
                  <a:srgbClr val="A14B42"/>
                </a:solidFill>
                <a:latin typeface="Arial"/>
                <a:ea typeface="Arial"/>
                <a:cs typeface="Arial"/>
              </a:defRPr>
            </a:lvl1pPr>
            <a:lvl2pPr>
              <a:defRPr sz="1725" b="0">
                <a:solidFill>
                  <a:srgbClr val="A14B42"/>
                </a:solidFill>
                <a:latin typeface="Arial"/>
                <a:ea typeface="Arial"/>
                <a:cs typeface="Arial"/>
              </a:defRPr>
            </a:lvl2pPr>
            <a:lvl3pPr>
              <a:defRPr sz="1725" b="0">
                <a:solidFill>
                  <a:srgbClr val="A14B42"/>
                </a:solidFill>
                <a:latin typeface="Arial"/>
                <a:ea typeface="Arial"/>
                <a:cs typeface="Arial"/>
              </a:defRPr>
            </a:lvl3pPr>
            <a:lvl4pPr>
              <a:defRPr sz="1725" b="0">
                <a:solidFill>
                  <a:srgbClr val="A14B42"/>
                </a:solidFill>
                <a:latin typeface="Arial"/>
                <a:ea typeface="Arial"/>
                <a:cs typeface="Arial"/>
              </a:defRPr>
            </a:lvl4pPr>
            <a:lvl5pPr>
              <a:defRPr sz="1725" b="0">
                <a:solidFill>
                  <a:srgbClr val="A14B42"/>
                </a:solidFill>
                <a:latin typeface="Arial"/>
                <a:ea typeface="Arial"/>
                <a:cs typeface="Arial"/>
              </a:defRPr>
            </a:lvl5pPr>
            <a:lvl6pPr>
              <a:defRPr sz="1725" b="0">
                <a:solidFill>
                  <a:srgbClr val="A14B42"/>
                </a:solidFill>
                <a:latin typeface="Arial"/>
                <a:ea typeface="Arial"/>
                <a:cs typeface="Arial"/>
              </a:defRPr>
            </a:lvl6pPr>
            <a:lvl7pPr>
              <a:defRPr sz="1725" b="0">
                <a:solidFill>
                  <a:srgbClr val="A14B42"/>
                </a:solidFill>
                <a:latin typeface="Arial"/>
                <a:ea typeface="Arial"/>
                <a:cs typeface="Arial"/>
              </a:defRPr>
            </a:lvl7pPr>
            <a:lvl8pPr>
              <a:defRPr sz="1725" b="0">
                <a:solidFill>
                  <a:srgbClr val="A14B42"/>
                </a:solidFill>
                <a:latin typeface="Arial"/>
                <a:ea typeface="Arial"/>
                <a:cs typeface="Arial"/>
              </a:defRPr>
            </a:lvl8pPr>
            <a:lvl9pPr>
              <a:defRPr sz="1725" b="0">
                <a:solidFill>
                  <a:srgbClr val="A14B42"/>
                </a:solidFill>
                <a:latin typeface="Arial"/>
                <a:ea typeface="Arial"/>
                <a:cs typeface="Arial"/>
              </a:defRPr>
            </a:lvl9pPr>
          </a:lstStyle>
          <a:p xmlns:a="http://schemas.openxmlformats.org/drawingml/2006/main">
            <a:pPr>
              <a:defRPr sz="1725" b="0">
                <a:solidFill>
                  <a:srgbClr val="A14B42"/>
                </a:solidFill>
                <a:latin typeface="Arial"/>
                <a:ea typeface="Arial"/>
                <a:cs typeface="Arial"/>
              </a:defRPr>
            </a:pPr>
            <a:r>
              <a:rPr sz="1725" b="0">
                <a:solidFill>
                  <a:srgbClr val="A14B42"/>
                </a:solidFill>
                <a:latin typeface="Arial"/>
                <a:ea typeface="Arial"/>
                <a:cs typeface="Arial"/>
              </a:rPr>
              <a:t>Extra claim: 18.75% above supported quantity. Payment blocked.</a:t>
            </a:r>
          </a:p>
        </p:txBody>
      </p:sp>
      <p:pic>
        <p:nvPicPr>
          <p:cNvPr id="7" name="">
            <a:extLst xmlns:a="http://schemas.openxmlformats.org/drawingml/2006/main">
              <a:ext uri="{FF2B5EF4-FFF2-40B4-BE49-F238E27FC236}">
                <a16:creationId xmlns:a16="http://schemas.microsoft.com/office/drawing/2014/main" id="{76984364-1630-40BE-8F98-F28D9DF6F9AB}"/>
              </a:ext>
            </a:extLst>
          </p:cNvPr>
          <p:cNvPicPr>
            <a:picLocks xmlns:a="http://schemas.openxmlformats.org/drawingml/2006/main" noChangeAspect="1"/>
          </p:cNvPicPr>
          <p:nvPr/>
        </p:nvPicPr>
        <p:blipFill>
          <a:blip xmlns:r="http://schemas.openxmlformats.org/officeDocument/2006/relationships" xmlns:a="http://schemas.openxmlformats.org/drawingml/2006/main" r:embed="R44aade95ddc845b2"/>
          <a:stretch xmlns:a="http://schemas.openxmlformats.org/drawingml/2006/main"/>
        </p:blipFill>
        <p:spPr>
          <a:xfrm xmlns:a="http://schemas.openxmlformats.org/drawingml/2006/main">
            <a:off x="5619750" y="3360320"/>
            <a:ext cx="5867400" cy="708861"/>
          </a:xfrm>
          <a:prstGeom xmlns:a="http://schemas.openxmlformats.org/drawingml/2006/main" prst="rect">
            <a:avLst/>
          </a:prstGeom>
        </p:spPr>
      </p:pic>
    </p:spTree>
    <p:extLst>
      <p:ext uri="{BB962C8B-B14F-4D97-AF65-F5344CB8AC3E}">
        <p14:creationId xmlns:p14="http://schemas.microsoft.com/office/powerpoint/2010/main" val="733509236"/>
      </p:ext>
    </p:extLst>
  </p:cSld>
</p:sld>
</file>

<file path=ppt/slides/slide7.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9883ADE-BC4D-4FA2-97D8-1C574EAEBAC6}"/>
              </a:ext>
            </a:extLst>
          </p:cNvPr>
          <p:cNvSpPr>
            <a:spLocks xmlns:a="http://schemas.openxmlformats.org/drawingml/2006/main" noGrp="1"/>
          </p:cNvSpPr>
          <p:nvPr/>
        </p:nvSpPr>
        <p:spPr>
          <a:xfrm xmlns:a="http://schemas.openxmlformats.org/drawingml/2006/main">
            <a:off x="685800" y="590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43F"/>
                </a:solidFill>
                <a:latin typeface="Arial"/>
                <a:ea typeface="Arial"/>
                <a:cs typeface="Arial"/>
              </a:defRPr>
            </a:defPPr>
            <a:lvl1pPr>
              <a:defRPr sz="3300" b="1">
                <a:solidFill>
                  <a:srgbClr val="19343F"/>
                </a:solidFill>
                <a:latin typeface="Arial"/>
                <a:ea typeface="Arial"/>
                <a:cs typeface="Arial"/>
              </a:defRPr>
            </a:lvl1pPr>
            <a:lvl2pPr>
              <a:defRPr sz="3300" b="1">
                <a:solidFill>
                  <a:srgbClr val="19343F"/>
                </a:solidFill>
                <a:latin typeface="Arial"/>
                <a:ea typeface="Arial"/>
                <a:cs typeface="Arial"/>
              </a:defRPr>
            </a:lvl2pPr>
            <a:lvl3pPr>
              <a:defRPr sz="3300" b="1">
                <a:solidFill>
                  <a:srgbClr val="19343F"/>
                </a:solidFill>
                <a:latin typeface="Arial"/>
                <a:ea typeface="Arial"/>
                <a:cs typeface="Arial"/>
              </a:defRPr>
            </a:lvl3pPr>
            <a:lvl4pPr>
              <a:defRPr sz="3300" b="1">
                <a:solidFill>
                  <a:srgbClr val="19343F"/>
                </a:solidFill>
                <a:latin typeface="Arial"/>
                <a:ea typeface="Arial"/>
                <a:cs typeface="Arial"/>
              </a:defRPr>
            </a:lvl4pPr>
            <a:lvl5pPr>
              <a:defRPr sz="3300" b="1">
                <a:solidFill>
                  <a:srgbClr val="19343F"/>
                </a:solidFill>
                <a:latin typeface="Arial"/>
                <a:ea typeface="Arial"/>
                <a:cs typeface="Arial"/>
              </a:defRPr>
            </a:lvl5pPr>
            <a:lvl6pPr>
              <a:defRPr sz="3300" b="1">
                <a:solidFill>
                  <a:srgbClr val="19343F"/>
                </a:solidFill>
                <a:latin typeface="Arial"/>
                <a:ea typeface="Arial"/>
                <a:cs typeface="Arial"/>
              </a:defRPr>
            </a:lvl6pPr>
            <a:lvl7pPr>
              <a:defRPr sz="3300" b="1">
                <a:solidFill>
                  <a:srgbClr val="19343F"/>
                </a:solidFill>
                <a:latin typeface="Arial"/>
                <a:ea typeface="Arial"/>
                <a:cs typeface="Arial"/>
              </a:defRPr>
            </a:lvl7pPr>
            <a:lvl8pPr>
              <a:defRPr sz="3300" b="1">
                <a:solidFill>
                  <a:srgbClr val="19343F"/>
                </a:solidFill>
                <a:latin typeface="Arial"/>
                <a:ea typeface="Arial"/>
                <a:cs typeface="Arial"/>
              </a:defRPr>
            </a:lvl8pPr>
            <a:lvl9pPr>
              <a:defRPr sz="3300" b="1">
                <a:solidFill>
                  <a:srgbClr val="19343F"/>
                </a:solidFill>
                <a:latin typeface="Arial"/>
                <a:ea typeface="Arial"/>
                <a:cs typeface="Arial"/>
              </a:defRPr>
            </a:lvl9pPr>
          </a:lstStyle>
          <a:p xmlns:a="http://schemas.openxmlformats.org/drawingml/2006/main">
            <a:pPr>
              <a:defRPr sz="3300" b="1">
                <a:solidFill>
                  <a:srgbClr val="19343F"/>
                </a:solidFill>
                <a:latin typeface="Arial"/>
                <a:ea typeface="Arial"/>
                <a:cs typeface="Arial"/>
              </a:defRPr>
            </a:pPr>
            <a:r>
              <a:rPr sz="3300" b="1">
                <a:solidFill>
                  <a:srgbClr val="19343F"/>
                </a:solidFill>
                <a:latin typeface="Arial"/>
                <a:ea typeface="Arial"/>
                <a:cs typeface="Arial"/>
              </a:rPr>
              <a:t>One approved payment</a:t>
            </a:r>
          </a:p>
        </p:txBody>
      </p:sp>
      <p:sp>
        <p:nvSpPr>
          <p:cNvPr id="2" name="">
            <a:extLst xmlns:a="http://schemas.openxmlformats.org/drawingml/2006/main">
              <a:ext uri="{FF2B5EF4-FFF2-40B4-BE49-F238E27FC236}">
                <a16:creationId xmlns:a16="http://schemas.microsoft.com/office/drawing/2014/main" id="{9AA4F295-DF28-408C-AA7A-6A7107EF2DCC}"/>
              </a:ext>
            </a:extLst>
          </p:cNvPr>
          <p:cNvSpPr>
            <a:spLocks xmlns:a="http://schemas.openxmlformats.org/drawingml/2006/main" noGrp="1"/>
          </p:cNvSpPr>
          <p:nvPr/>
        </p:nvSpPr>
        <p:spPr>
          <a:xfrm xmlns:a="http://schemas.openxmlformats.org/drawingml/2006/main">
            <a:off x="685800" y="64103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BuildTrust AI  ·  Fictional sandbox demonstration</a:t>
            </a:r>
          </a:p>
        </p:txBody>
      </p:sp>
      <p:sp>
        <p:nvSpPr>
          <p:cNvPr id="3" name="">
            <a:extLst xmlns:a="http://schemas.openxmlformats.org/drawingml/2006/main">
              <a:ext uri="{FF2B5EF4-FFF2-40B4-BE49-F238E27FC236}">
                <a16:creationId xmlns:a16="http://schemas.microsoft.com/office/drawing/2014/main" id="{F5D23C42-7CE0-4ABB-BC40-367BFD64CED2}"/>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68A6DB4A-EF18-4456-9E8C-43445776852B}"/>
              </a:ext>
            </a:extLst>
          </p:cNvPr>
          <p:cNvSpPr>
            <a:spLocks xmlns:a="http://schemas.openxmlformats.org/drawingml/2006/main" noGrp="1"/>
          </p:cNvSpPr>
          <p:nvPr/>
        </p:nvSpPr>
        <p:spPr>
          <a:xfrm xmlns:a="http://schemas.openxmlformats.org/drawingml/2006/main">
            <a:off x="685800" y="18478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286E62"/>
                </a:solidFill>
                <a:latin typeface="Arial"/>
                <a:ea typeface="Arial"/>
                <a:cs typeface="Arial"/>
              </a:defRPr>
            </a:defPPr>
            <a:lvl1pPr>
              <a:defRPr sz="4425" b="1">
                <a:solidFill>
                  <a:srgbClr val="286E62"/>
                </a:solidFill>
                <a:latin typeface="Arial"/>
                <a:ea typeface="Arial"/>
                <a:cs typeface="Arial"/>
              </a:defRPr>
            </a:lvl1pPr>
            <a:lvl2pPr>
              <a:defRPr sz="4425" b="1">
                <a:solidFill>
                  <a:srgbClr val="286E62"/>
                </a:solidFill>
                <a:latin typeface="Arial"/>
                <a:ea typeface="Arial"/>
                <a:cs typeface="Arial"/>
              </a:defRPr>
            </a:lvl2pPr>
            <a:lvl3pPr>
              <a:defRPr sz="4425" b="1">
                <a:solidFill>
                  <a:srgbClr val="286E62"/>
                </a:solidFill>
                <a:latin typeface="Arial"/>
                <a:ea typeface="Arial"/>
                <a:cs typeface="Arial"/>
              </a:defRPr>
            </a:lvl3pPr>
            <a:lvl4pPr>
              <a:defRPr sz="4425" b="1">
                <a:solidFill>
                  <a:srgbClr val="286E62"/>
                </a:solidFill>
                <a:latin typeface="Arial"/>
                <a:ea typeface="Arial"/>
                <a:cs typeface="Arial"/>
              </a:defRPr>
            </a:lvl4pPr>
            <a:lvl5pPr>
              <a:defRPr sz="4425" b="1">
                <a:solidFill>
                  <a:srgbClr val="286E62"/>
                </a:solidFill>
                <a:latin typeface="Arial"/>
                <a:ea typeface="Arial"/>
                <a:cs typeface="Arial"/>
              </a:defRPr>
            </a:lvl5pPr>
            <a:lvl6pPr>
              <a:defRPr sz="4425" b="1">
                <a:solidFill>
                  <a:srgbClr val="286E62"/>
                </a:solidFill>
                <a:latin typeface="Arial"/>
                <a:ea typeface="Arial"/>
                <a:cs typeface="Arial"/>
              </a:defRPr>
            </a:lvl6pPr>
            <a:lvl7pPr>
              <a:defRPr sz="4425" b="1">
                <a:solidFill>
                  <a:srgbClr val="286E62"/>
                </a:solidFill>
                <a:latin typeface="Arial"/>
                <a:ea typeface="Arial"/>
                <a:cs typeface="Arial"/>
              </a:defRPr>
            </a:lvl7pPr>
            <a:lvl8pPr>
              <a:defRPr sz="4425" b="1">
                <a:solidFill>
                  <a:srgbClr val="286E62"/>
                </a:solidFill>
                <a:latin typeface="Arial"/>
                <a:ea typeface="Arial"/>
                <a:cs typeface="Arial"/>
              </a:defRPr>
            </a:lvl8pPr>
            <a:lvl9pPr>
              <a:defRPr sz="4425" b="1">
                <a:solidFill>
                  <a:srgbClr val="286E62"/>
                </a:solidFill>
                <a:latin typeface="Arial"/>
                <a:ea typeface="Arial"/>
                <a:cs typeface="Arial"/>
              </a:defRPr>
            </a:lvl9pPr>
          </a:lstStyle>
          <a:p xmlns:a="http://schemas.openxmlformats.org/drawingml/2006/main">
            <a:pPr>
              <a:defRPr sz="4425" b="1">
                <a:solidFill>
                  <a:srgbClr val="286E62"/>
                </a:solidFill>
                <a:latin typeface="Arial"/>
                <a:ea typeface="Arial"/>
                <a:cs typeface="Arial"/>
              </a:defRPr>
            </a:pPr>
            <a:r>
              <a:rPr sz="4425" b="1">
                <a:solidFill>
                  <a:srgbClr val="286E62"/>
                </a:solidFill>
                <a:latin typeface="Arial"/>
                <a:ea typeface="Arial"/>
                <a:cs typeface="Arial"/>
              </a:rPr>
              <a:t>BDT 70,000</a:t>
            </a:r>
          </a:p>
        </p:txBody>
      </p:sp>
      <p:sp>
        <p:nvSpPr>
          <p:cNvPr id="5" name="">
            <a:extLst xmlns:a="http://schemas.openxmlformats.org/drawingml/2006/main">
              <a:ext uri="{FF2B5EF4-FFF2-40B4-BE49-F238E27FC236}">
                <a16:creationId xmlns:a16="http://schemas.microsoft.com/office/drawing/2014/main" id="{BB7434F3-4F8C-4351-AE07-EC9510892D1E}"/>
              </a:ext>
            </a:extLst>
          </p:cNvPr>
          <p:cNvSpPr>
            <a:spLocks xmlns:a="http://schemas.openxmlformats.org/drawingml/2006/main" noGrp="1"/>
          </p:cNvSpPr>
          <p:nvPr/>
        </p:nvSpPr>
        <p:spPr>
          <a:xfrm xmlns:a="http://schemas.openxmlformats.org/drawingml/2006/main">
            <a:off x="723900" y="2743200"/>
            <a:ext cx="442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777D"/>
                </a:solidFill>
                <a:latin typeface="Arial"/>
                <a:ea typeface="Arial"/>
                <a:cs typeface="Arial"/>
              </a:defRPr>
            </a:defPPr>
            <a:lvl1pPr>
              <a:defRPr sz="1875" b="0">
                <a:solidFill>
                  <a:srgbClr val="60777D"/>
                </a:solidFill>
                <a:latin typeface="Arial"/>
                <a:ea typeface="Arial"/>
                <a:cs typeface="Arial"/>
              </a:defRPr>
            </a:lvl1pPr>
            <a:lvl2pPr>
              <a:defRPr sz="1875" b="0">
                <a:solidFill>
                  <a:srgbClr val="60777D"/>
                </a:solidFill>
                <a:latin typeface="Arial"/>
                <a:ea typeface="Arial"/>
                <a:cs typeface="Arial"/>
              </a:defRPr>
            </a:lvl2pPr>
            <a:lvl3pPr>
              <a:defRPr sz="1875" b="0">
                <a:solidFill>
                  <a:srgbClr val="60777D"/>
                </a:solidFill>
                <a:latin typeface="Arial"/>
                <a:ea typeface="Arial"/>
                <a:cs typeface="Arial"/>
              </a:defRPr>
            </a:lvl3pPr>
            <a:lvl4pPr>
              <a:defRPr sz="1875" b="0">
                <a:solidFill>
                  <a:srgbClr val="60777D"/>
                </a:solidFill>
                <a:latin typeface="Arial"/>
                <a:ea typeface="Arial"/>
                <a:cs typeface="Arial"/>
              </a:defRPr>
            </a:lvl4pPr>
            <a:lvl5pPr>
              <a:defRPr sz="1875" b="0">
                <a:solidFill>
                  <a:srgbClr val="60777D"/>
                </a:solidFill>
                <a:latin typeface="Arial"/>
                <a:ea typeface="Arial"/>
                <a:cs typeface="Arial"/>
              </a:defRPr>
            </a:lvl5pPr>
            <a:lvl6pPr>
              <a:defRPr sz="1875" b="0">
                <a:solidFill>
                  <a:srgbClr val="60777D"/>
                </a:solidFill>
                <a:latin typeface="Arial"/>
                <a:ea typeface="Arial"/>
                <a:cs typeface="Arial"/>
              </a:defRPr>
            </a:lvl6pPr>
            <a:lvl7pPr>
              <a:defRPr sz="1875" b="0">
                <a:solidFill>
                  <a:srgbClr val="60777D"/>
                </a:solidFill>
                <a:latin typeface="Arial"/>
                <a:ea typeface="Arial"/>
                <a:cs typeface="Arial"/>
              </a:defRPr>
            </a:lvl7pPr>
            <a:lvl8pPr>
              <a:defRPr sz="1875" b="0">
                <a:solidFill>
                  <a:srgbClr val="60777D"/>
                </a:solidFill>
                <a:latin typeface="Arial"/>
                <a:ea typeface="Arial"/>
                <a:cs typeface="Arial"/>
              </a:defRPr>
            </a:lvl8pPr>
            <a:lvl9pPr>
              <a:defRPr sz="1875" b="0">
                <a:solidFill>
                  <a:srgbClr val="60777D"/>
                </a:solidFill>
                <a:latin typeface="Arial"/>
                <a:ea typeface="Arial"/>
                <a:cs typeface="Arial"/>
              </a:defRPr>
            </a:lvl9pPr>
          </a:lstStyle>
          <a:p xmlns:a="http://schemas.openxmlformats.org/drawingml/2006/main">
            <a:pPr>
              <a:defRPr sz="1875" b="0">
                <a:solidFill>
                  <a:srgbClr val="60777D"/>
                </a:solidFill>
                <a:latin typeface="Arial"/>
                <a:ea typeface="Arial"/>
                <a:cs typeface="Arial"/>
              </a:defRPr>
            </a:pPr>
            <a:r>
              <a:rPr sz="1875" b="0">
                <a:solidFill>
                  <a:srgbClr val="60777D"/>
                </a:solidFill>
                <a:latin typeface="Arial"/>
                <a:ea typeface="Arial"/>
                <a:cs typeface="Arial"/>
              </a:rPr>
              <a:t>One approved simulated payment</a:t>
            </a:r>
          </a:p>
        </p:txBody>
      </p:sp>
      <p:sp>
        <p:nvSpPr>
          <p:cNvPr id="6" name="">
            <a:extLst xmlns:a="http://schemas.openxmlformats.org/drawingml/2006/main">
              <a:ext uri="{FF2B5EF4-FFF2-40B4-BE49-F238E27FC236}">
                <a16:creationId xmlns:a16="http://schemas.microsoft.com/office/drawing/2014/main" id="{A3273BC3-CB30-440E-9DBF-9797BCB05AEA}"/>
              </a:ext>
            </a:extLst>
          </p:cNvPr>
          <p:cNvSpPr>
            <a:spLocks xmlns:a="http://schemas.openxmlformats.org/drawingml/2006/main" noGrp="1"/>
          </p:cNvSpPr>
          <p:nvPr/>
        </p:nvSpPr>
        <p:spPr>
          <a:xfrm xmlns:a="http://schemas.openxmlformats.org/drawingml/2006/main">
            <a:off x="723900" y="3819525"/>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9343F"/>
                </a:solidFill>
                <a:latin typeface="Arial"/>
                <a:ea typeface="Arial"/>
                <a:cs typeface="Arial"/>
              </a:defRPr>
            </a:defPPr>
            <a:lvl1pPr>
              <a:defRPr sz="2775" b="1">
                <a:solidFill>
                  <a:srgbClr val="19343F"/>
                </a:solidFill>
                <a:latin typeface="Arial"/>
                <a:ea typeface="Arial"/>
                <a:cs typeface="Arial"/>
              </a:defRPr>
            </a:lvl1pPr>
            <a:lvl2pPr>
              <a:defRPr sz="2775" b="1">
                <a:solidFill>
                  <a:srgbClr val="19343F"/>
                </a:solidFill>
                <a:latin typeface="Arial"/>
                <a:ea typeface="Arial"/>
                <a:cs typeface="Arial"/>
              </a:defRPr>
            </a:lvl2pPr>
            <a:lvl3pPr>
              <a:defRPr sz="2775" b="1">
                <a:solidFill>
                  <a:srgbClr val="19343F"/>
                </a:solidFill>
                <a:latin typeface="Arial"/>
                <a:ea typeface="Arial"/>
                <a:cs typeface="Arial"/>
              </a:defRPr>
            </a:lvl3pPr>
            <a:lvl4pPr>
              <a:defRPr sz="2775" b="1">
                <a:solidFill>
                  <a:srgbClr val="19343F"/>
                </a:solidFill>
                <a:latin typeface="Arial"/>
                <a:ea typeface="Arial"/>
                <a:cs typeface="Arial"/>
              </a:defRPr>
            </a:lvl4pPr>
            <a:lvl5pPr>
              <a:defRPr sz="2775" b="1">
                <a:solidFill>
                  <a:srgbClr val="19343F"/>
                </a:solidFill>
                <a:latin typeface="Arial"/>
                <a:ea typeface="Arial"/>
                <a:cs typeface="Arial"/>
              </a:defRPr>
            </a:lvl5pPr>
            <a:lvl6pPr>
              <a:defRPr sz="2775" b="1">
                <a:solidFill>
                  <a:srgbClr val="19343F"/>
                </a:solidFill>
                <a:latin typeface="Arial"/>
                <a:ea typeface="Arial"/>
                <a:cs typeface="Arial"/>
              </a:defRPr>
            </a:lvl6pPr>
            <a:lvl7pPr>
              <a:defRPr sz="2775" b="1">
                <a:solidFill>
                  <a:srgbClr val="19343F"/>
                </a:solidFill>
                <a:latin typeface="Arial"/>
                <a:ea typeface="Arial"/>
                <a:cs typeface="Arial"/>
              </a:defRPr>
            </a:lvl7pPr>
            <a:lvl8pPr>
              <a:defRPr sz="2775" b="1">
                <a:solidFill>
                  <a:srgbClr val="19343F"/>
                </a:solidFill>
                <a:latin typeface="Arial"/>
                <a:ea typeface="Arial"/>
                <a:cs typeface="Arial"/>
              </a:defRPr>
            </a:lvl8pPr>
            <a:lvl9pPr>
              <a:defRPr sz="2775" b="1">
                <a:solidFill>
                  <a:srgbClr val="19343F"/>
                </a:solidFill>
                <a:latin typeface="Arial"/>
                <a:ea typeface="Arial"/>
                <a:cs typeface="Arial"/>
              </a:defRPr>
            </a:lvl9pPr>
          </a:lstStyle>
          <a:p xmlns:a="http://schemas.openxmlformats.org/drawingml/2006/main">
            <a:pPr>
              <a:defRPr sz="2775" b="1">
                <a:solidFill>
                  <a:srgbClr val="19343F"/>
                </a:solidFill>
                <a:latin typeface="Arial"/>
                <a:ea typeface="Arial"/>
                <a:cs typeface="Arial"/>
              </a:defRPr>
            </a:pPr>
            <a:r>
              <a:rPr sz="2775" b="1">
                <a:solidFill>
                  <a:srgbClr val="19343F"/>
                </a:solidFill>
                <a:latin typeface="Arial"/>
                <a:ea typeface="Arial"/>
                <a:cs typeface="Arial"/>
              </a:rPr>
              <a:t>1,000,000 → 930,000</a:t>
            </a:r>
          </a:p>
        </p:txBody>
      </p:sp>
      <p:sp>
        <p:nvSpPr>
          <p:cNvPr id="7" name="">
            <a:extLst xmlns:a="http://schemas.openxmlformats.org/drawingml/2006/main">
              <a:ext uri="{FF2B5EF4-FFF2-40B4-BE49-F238E27FC236}">
                <a16:creationId xmlns:a16="http://schemas.microsoft.com/office/drawing/2014/main" id="{DB7F6D87-0F5E-4E15-9B0B-3F8F118C6B4F}"/>
              </a:ext>
            </a:extLst>
          </p:cNvPr>
          <p:cNvSpPr>
            <a:spLocks xmlns:a="http://schemas.openxmlformats.org/drawingml/2006/main" noGrp="1"/>
          </p:cNvSpPr>
          <p:nvPr/>
        </p:nvSpPr>
        <p:spPr>
          <a:xfrm xmlns:a="http://schemas.openxmlformats.org/drawingml/2006/main">
            <a:off x="742950" y="46005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77D"/>
                </a:solidFill>
                <a:latin typeface="Arial"/>
                <a:ea typeface="Arial"/>
                <a:cs typeface="Arial"/>
              </a:defRPr>
            </a:defPPr>
            <a:lvl1pPr>
              <a:defRPr sz="1725" b="0">
                <a:solidFill>
                  <a:srgbClr val="60777D"/>
                </a:solidFill>
                <a:latin typeface="Arial"/>
                <a:ea typeface="Arial"/>
                <a:cs typeface="Arial"/>
              </a:defRPr>
            </a:lvl1pPr>
            <a:lvl2pPr>
              <a:defRPr sz="1725" b="0">
                <a:solidFill>
                  <a:srgbClr val="60777D"/>
                </a:solidFill>
                <a:latin typeface="Arial"/>
                <a:ea typeface="Arial"/>
                <a:cs typeface="Arial"/>
              </a:defRPr>
            </a:lvl2pPr>
            <a:lvl3pPr>
              <a:defRPr sz="1725" b="0">
                <a:solidFill>
                  <a:srgbClr val="60777D"/>
                </a:solidFill>
                <a:latin typeface="Arial"/>
                <a:ea typeface="Arial"/>
                <a:cs typeface="Arial"/>
              </a:defRPr>
            </a:lvl3pPr>
            <a:lvl4pPr>
              <a:defRPr sz="1725" b="0">
                <a:solidFill>
                  <a:srgbClr val="60777D"/>
                </a:solidFill>
                <a:latin typeface="Arial"/>
                <a:ea typeface="Arial"/>
                <a:cs typeface="Arial"/>
              </a:defRPr>
            </a:lvl4pPr>
            <a:lvl5pPr>
              <a:defRPr sz="1725" b="0">
                <a:solidFill>
                  <a:srgbClr val="60777D"/>
                </a:solidFill>
                <a:latin typeface="Arial"/>
                <a:ea typeface="Arial"/>
                <a:cs typeface="Arial"/>
              </a:defRPr>
            </a:lvl5pPr>
            <a:lvl6pPr>
              <a:defRPr sz="1725" b="0">
                <a:solidFill>
                  <a:srgbClr val="60777D"/>
                </a:solidFill>
                <a:latin typeface="Arial"/>
                <a:ea typeface="Arial"/>
                <a:cs typeface="Arial"/>
              </a:defRPr>
            </a:lvl6pPr>
            <a:lvl7pPr>
              <a:defRPr sz="1725" b="0">
                <a:solidFill>
                  <a:srgbClr val="60777D"/>
                </a:solidFill>
                <a:latin typeface="Arial"/>
                <a:ea typeface="Arial"/>
                <a:cs typeface="Arial"/>
              </a:defRPr>
            </a:lvl7pPr>
            <a:lvl8pPr>
              <a:defRPr sz="1725" b="0">
                <a:solidFill>
                  <a:srgbClr val="60777D"/>
                </a:solidFill>
                <a:latin typeface="Arial"/>
                <a:ea typeface="Arial"/>
                <a:cs typeface="Arial"/>
              </a:defRPr>
            </a:lvl8pPr>
            <a:lvl9pPr>
              <a:defRPr sz="1725" b="0">
                <a:solidFill>
                  <a:srgbClr val="60777D"/>
                </a:solidFill>
                <a:latin typeface="Arial"/>
                <a:ea typeface="Arial"/>
                <a:cs typeface="Arial"/>
              </a:defRPr>
            </a:lvl9pPr>
          </a:lstStyle>
          <a:p xmlns:a="http://schemas.openxmlformats.org/drawingml/2006/main">
            <a:pPr>
              <a:defRPr sz="1725" b="0">
                <a:solidFill>
                  <a:srgbClr val="60777D"/>
                </a:solidFill>
                <a:latin typeface="Arial"/>
                <a:ea typeface="Arial"/>
                <a:cs typeface="Arial"/>
              </a:defRPr>
            </a:pPr>
            <a:r>
              <a:rPr sz="1725" b="0">
                <a:solidFill>
                  <a:srgbClr val="60777D"/>
                </a:solidFill>
                <a:latin typeface="Arial"/>
                <a:ea typeface="Arial"/>
                <a:cs typeface="Arial"/>
              </a:rPr>
              <a:t>Recorded cash in BDT</a:t>
            </a:r>
          </a:p>
        </p:txBody>
      </p:sp>
      <p:sp>
        <p:nvSpPr>
          <p:cNvPr id="8" name="">
            <a:extLst xmlns:a="http://schemas.openxmlformats.org/drawingml/2006/main">
              <a:ext uri="{FF2B5EF4-FFF2-40B4-BE49-F238E27FC236}">
                <a16:creationId xmlns:a16="http://schemas.microsoft.com/office/drawing/2014/main" id="{8F499CCB-A8F8-446B-ACBA-E350819050FD}"/>
              </a:ext>
            </a:extLst>
          </p:cNvPr>
          <p:cNvSpPr>
            <a:spLocks xmlns:a="http://schemas.openxmlformats.org/drawingml/2006/main" noGrp="1"/>
          </p:cNvSpPr>
          <p:nvPr/>
        </p:nvSpPr>
        <p:spPr>
          <a:xfrm xmlns:a="http://schemas.openxmlformats.org/drawingml/2006/main">
            <a:off x="742950" y="5334000"/>
            <a:ext cx="4667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86E62"/>
                </a:solidFill>
                <a:latin typeface="Arial"/>
                <a:ea typeface="Arial"/>
                <a:cs typeface="Arial"/>
              </a:defRPr>
            </a:defPPr>
            <a:lvl1pPr>
              <a:defRPr sz="1875" b="1">
                <a:solidFill>
                  <a:srgbClr val="286E62"/>
                </a:solidFill>
                <a:latin typeface="Arial"/>
                <a:ea typeface="Arial"/>
                <a:cs typeface="Arial"/>
              </a:defRPr>
            </a:lvl1pPr>
            <a:lvl2pPr>
              <a:defRPr sz="1875" b="1">
                <a:solidFill>
                  <a:srgbClr val="286E62"/>
                </a:solidFill>
                <a:latin typeface="Arial"/>
                <a:ea typeface="Arial"/>
                <a:cs typeface="Arial"/>
              </a:defRPr>
            </a:lvl2pPr>
            <a:lvl3pPr>
              <a:defRPr sz="1875" b="1">
                <a:solidFill>
                  <a:srgbClr val="286E62"/>
                </a:solidFill>
                <a:latin typeface="Arial"/>
                <a:ea typeface="Arial"/>
                <a:cs typeface="Arial"/>
              </a:defRPr>
            </a:lvl3pPr>
            <a:lvl4pPr>
              <a:defRPr sz="1875" b="1">
                <a:solidFill>
                  <a:srgbClr val="286E62"/>
                </a:solidFill>
                <a:latin typeface="Arial"/>
                <a:ea typeface="Arial"/>
                <a:cs typeface="Arial"/>
              </a:defRPr>
            </a:lvl4pPr>
            <a:lvl5pPr>
              <a:defRPr sz="1875" b="1">
                <a:solidFill>
                  <a:srgbClr val="286E62"/>
                </a:solidFill>
                <a:latin typeface="Arial"/>
                <a:ea typeface="Arial"/>
                <a:cs typeface="Arial"/>
              </a:defRPr>
            </a:lvl5pPr>
            <a:lvl6pPr>
              <a:defRPr sz="1875" b="1">
                <a:solidFill>
                  <a:srgbClr val="286E62"/>
                </a:solidFill>
                <a:latin typeface="Arial"/>
                <a:ea typeface="Arial"/>
                <a:cs typeface="Arial"/>
              </a:defRPr>
            </a:lvl6pPr>
            <a:lvl7pPr>
              <a:defRPr sz="1875" b="1">
                <a:solidFill>
                  <a:srgbClr val="286E62"/>
                </a:solidFill>
                <a:latin typeface="Arial"/>
                <a:ea typeface="Arial"/>
                <a:cs typeface="Arial"/>
              </a:defRPr>
            </a:lvl7pPr>
            <a:lvl8pPr>
              <a:defRPr sz="1875" b="1">
                <a:solidFill>
                  <a:srgbClr val="286E62"/>
                </a:solidFill>
                <a:latin typeface="Arial"/>
                <a:ea typeface="Arial"/>
                <a:cs typeface="Arial"/>
              </a:defRPr>
            </a:lvl8pPr>
            <a:lvl9pPr>
              <a:defRPr sz="1875" b="1">
                <a:solidFill>
                  <a:srgbClr val="286E62"/>
                </a:solidFill>
                <a:latin typeface="Arial"/>
                <a:ea typeface="Arial"/>
                <a:cs typeface="Arial"/>
              </a:defRPr>
            </a:lvl9pPr>
          </a:lstStyle>
          <a:p xmlns:a="http://schemas.openxmlformats.org/drawingml/2006/main">
            <a:pPr>
              <a:defRPr sz="1875" b="1">
                <a:solidFill>
                  <a:srgbClr val="286E62"/>
                </a:solidFill>
                <a:latin typeface="Arial"/>
                <a:ea typeface="Arial"/>
                <a:cs typeface="Arial"/>
              </a:defRPr>
            </a:pPr>
            <a:r>
              <a:rPr sz="1875" b="1">
                <a:solidFill>
                  <a:srgbClr val="286E62"/>
                </a:solidFill>
                <a:latin typeface="Arial"/>
                <a:ea typeface="Arial"/>
                <a:cs typeface="Arial"/>
              </a:rPr>
              <a:t>Repeat request: same receipt</a:t>
            </a:r>
          </a:p>
          <a:p xmlns:a="http://schemas.openxmlformats.org/drawingml/2006/main">
            <a:pPr>
              <a:defRPr sz="1875" b="1">
                <a:solidFill>
                  <a:srgbClr val="286E62"/>
                </a:solidFill>
                <a:latin typeface="Arial"/>
                <a:ea typeface="Arial"/>
                <a:cs typeface="Arial"/>
              </a:defRPr>
            </a:pPr>
            <a:r>
              <a:rPr sz="1875" b="1">
                <a:solidFill>
                  <a:srgbClr val="286E62"/>
                </a:solidFill>
                <a:latin typeface="Arial"/>
                <a:ea typeface="Arial"/>
                <a:cs typeface="Arial"/>
              </a:rPr>
              <a:t>Cash changes only once</a:t>
            </a:r>
          </a:p>
        </p:txBody>
      </p:sp>
      <p:pic>
        <p:nvPicPr>
          <p:cNvPr id="9" name="">
            <a:extLst xmlns:a="http://schemas.openxmlformats.org/drawingml/2006/main">
              <a:ext uri="{FF2B5EF4-FFF2-40B4-BE49-F238E27FC236}">
                <a16:creationId xmlns:a16="http://schemas.microsoft.com/office/drawing/2014/main" id="{6E65F5BA-BEBE-46A4-924D-193750B237D9}"/>
              </a:ext>
            </a:extLst>
          </p:cNvPr>
          <p:cNvPicPr>
            <a:picLocks xmlns:a="http://schemas.openxmlformats.org/drawingml/2006/main" noChangeAspect="1"/>
          </p:cNvPicPr>
          <p:nvPr/>
        </p:nvPicPr>
        <p:blipFill>
          <a:blip xmlns:r="http://schemas.openxmlformats.org/officeDocument/2006/relationships" xmlns:a="http://schemas.openxmlformats.org/drawingml/2006/main" r:embed="R2d46ef3310f64827"/>
          <a:stretch xmlns:a="http://schemas.openxmlformats.org/drawingml/2006/main"/>
        </p:blipFill>
        <p:spPr>
          <a:xfrm xmlns:a="http://schemas.openxmlformats.org/drawingml/2006/main">
            <a:off x="6725028" y="1657350"/>
            <a:ext cx="3923545" cy="4362450"/>
          </a:xfrm>
          <a:prstGeom xmlns:a="http://schemas.openxmlformats.org/drawingml/2006/main" prst="rect">
            <a:avLst/>
          </a:prstGeom>
        </p:spPr>
      </p:pic>
    </p:spTree>
    <p:extLst>
      <p:ext uri="{BB962C8B-B14F-4D97-AF65-F5344CB8AC3E}">
        <p14:creationId xmlns:p14="http://schemas.microsoft.com/office/powerpoint/2010/main" val="1432368541"/>
      </p:ext>
    </p:extLst>
  </p:cSld>
</p:sld>
</file>

<file path=ppt/slides/slide8.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6AEDE1-79A1-499E-AEAC-B3CD49FEA662}"/>
              </a:ext>
            </a:extLst>
          </p:cNvPr>
          <p:cNvSpPr>
            <a:spLocks xmlns:a="http://schemas.openxmlformats.org/drawingml/2006/main" noGrp="1"/>
          </p:cNvSpPr>
          <p:nvPr/>
        </p:nvSpPr>
        <p:spPr>
          <a:xfrm xmlns:a="http://schemas.openxmlformats.org/drawingml/2006/main">
            <a:off x="685800" y="590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43F"/>
                </a:solidFill>
                <a:latin typeface="Arial"/>
                <a:ea typeface="Arial"/>
                <a:cs typeface="Arial"/>
              </a:defRPr>
            </a:defPPr>
            <a:lvl1pPr>
              <a:defRPr sz="3300" b="1">
                <a:solidFill>
                  <a:srgbClr val="19343F"/>
                </a:solidFill>
                <a:latin typeface="Arial"/>
                <a:ea typeface="Arial"/>
                <a:cs typeface="Arial"/>
              </a:defRPr>
            </a:lvl1pPr>
            <a:lvl2pPr>
              <a:defRPr sz="3300" b="1">
                <a:solidFill>
                  <a:srgbClr val="19343F"/>
                </a:solidFill>
                <a:latin typeface="Arial"/>
                <a:ea typeface="Arial"/>
                <a:cs typeface="Arial"/>
              </a:defRPr>
            </a:lvl2pPr>
            <a:lvl3pPr>
              <a:defRPr sz="3300" b="1">
                <a:solidFill>
                  <a:srgbClr val="19343F"/>
                </a:solidFill>
                <a:latin typeface="Arial"/>
                <a:ea typeface="Arial"/>
                <a:cs typeface="Arial"/>
              </a:defRPr>
            </a:lvl3pPr>
            <a:lvl4pPr>
              <a:defRPr sz="3300" b="1">
                <a:solidFill>
                  <a:srgbClr val="19343F"/>
                </a:solidFill>
                <a:latin typeface="Arial"/>
                <a:ea typeface="Arial"/>
                <a:cs typeface="Arial"/>
              </a:defRPr>
            </a:lvl4pPr>
            <a:lvl5pPr>
              <a:defRPr sz="3300" b="1">
                <a:solidFill>
                  <a:srgbClr val="19343F"/>
                </a:solidFill>
                <a:latin typeface="Arial"/>
                <a:ea typeface="Arial"/>
                <a:cs typeface="Arial"/>
              </a:defRPr>
            </a:lvl5pPr>
            <a:lvl6pPr>
              <a:defRPr sz="3300" b="1">
                <a:solidFill>
                  <a:srgbClr val="19343F"/>
                </a:solidFill>
                <a:latin typeface="Arial"/>
                <a:ea typeface="Arial"/>
                <a:cs typeface="Arial"/>
              </a:defRPr>
            </a:lvl6pPr>
            <a:lvl7pPr>
              <a:defRPr sz="3300" b="1">
                <a:solidFill>
                  <a:srgbClr val="19343F"/>
                </a:solidFill>
                <a:latin typeface="Arial"/>
                <a:ea typeface="Arial"/>
                <a:cs typeface="Arial"/>
              </a:defRPr>
            </a:lvl7pPr>
            <a:lvl8pPr>
              <a:defRPr sz="3300" b="1">
                <a:solidFill>
                  <a:srgbClr val="19343F"/>
                </a:solidFill>
                <a:latin typeface="Arial"/>
                <a:ea typeface="Arial"/>
                <a:cs typeface="Arial"/>
              </a:defRPr>
            </a:lvl8pPr>
            <a:lvl9pPr>
              <a:defRPr sz="3300" b="1">
                <a:solidFill>
                  <a:srgbClr val="19343F"/>
                </a:solidFill>
                <a:latin typeface="Arial"/>
                <a:ea typeface="Arial"/>
                <a:cs typeface="Arial"/>
              </a:defRPr>
            </a:lvl9pPr>
          </a:lstStyle>
          <a:p xmlns:a="http://schemas.openxmlformats.org/drawingml/2006/main">
            <a:pPr>
              <a:defRPr sz="3300" b="1">
                <a:solidFill>
                  <a:srgbClr val="19343F"/>
                </a:solidFill>
                <a:latin typeface="Arial"/>
                <a:ea typeface="Arial"/>
                <a:cs typeface="Arial"/>
              </a:defRPr>
            </a:pPr>
            <a:r>
              <a:rPr sz="3300" b="1">
                <a:solidFill>
                  <a:srgbClr val="19343F"/>
                </a:solidFill>
                <a:latin typeface="Arial"/>
                <a:ea typeface="Arial"/>
                <a:cs typeface="Arial"/>
              </a:rPr>
              <a:t>Checks and limits</a:t>
            </a:r>
          </a:p>
        </p:txBody>
      </p:sp>
      <p:sp>
        <p:nvSpPr>
          <p:cNvPr id="2" name="">
            <a:extLst xmlns:a="http://schemas.openxmlformats.org/drawingml/2006/main">
              <a:ext uri="{FF2B5EF4-FFF2-40B4-BE49-F238E27FC236}">
                <a16:creationId xmlns:a16="http://schemas.microsoft.com/office/drawing/2014/main" id="{1E22328C-60EC-430F-9242-36E92954C85C}"/>
              </a:ext>
            </a:extLst>
          </p:cNvPr>
          <p:cNvSpPr>
            <a:spLocks xmlns:a="http://schemas.openxmlformats.org/drawingml/2006/main" noGrp="1"/>
          </p:cNvSpPr>
          <p:nvPr/>
        </p:nvSpPr>
        <p:spPr>
          <a:xfrm xmlns:a="http://schemas.openxmlformats.org/drawingml/2006/main">
            <a:off x="685800" y="64103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BuildTrust AI  ·  Fictional sandbox demonstration</a:t>
            </a:r>
          </a:p>
        </p:txBody>
      </p:sp>
      <p:sp>
        <p:nvSpPr>
          <p:cNvPr id="3" name="">
            <a:extLst xmlns:a="http://schemas.openxmlformats.org/drawingml/2006/main">
              <a:ext uri="{FF2B5EF4-FFF2-40B4-BE49-F238E27FC236}">
                <a16:creationId xmlns:a16="http://schemas.microsoft.com/office/drawing/2014/main" id="{2F9F52F3-0A06-498A-AAAA-BB646DB1EC57}"/>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77D"/>
                </a:solidFill>
                <a:latin typeface="Arial"/>
                <a:ea typeface="Arial"/>
                <a:cs typeface="Arial"/>
              </a:defRPr>
            </a:defPPr>
            <a:lvl1pPr>
              <a:defRPr sz="1200" b="0">
                <a:solidFill>
                  <a:srgbClr val="60777D"/>
                </a:solidFill>
                <a:latin typeface="Arial"/>
                <a:ea typeface="Arial"/>
                <a:cs typeface="Arial"/>
              </a:defRPr>
            </a:lvl1pPr>
            <a:lvl2pPr>
              <a:defRPr sz="1200" b="0">
                <a:solidFill>
                  <a:srgbClr val="60777D"/>
                </a:solidFill>
                <a:latin typeface="Arial"/>
                <a:ea typeface="Arial"/>
                <a:cs typeface="Arial"/>
              </a:defRPr>
            </a:lvl2pPr>
            <a:lvl3pPr>
              <a:defRPr sz="1200" b="0">
                <a:solidFill>
                  <a:srgbClr val="60777D"/>
                </a:solidFill>
                <a:latin typeface="Arial"/>
                <a:ea typeface="Arial"/>
                <a:cs typeface="Arial"/>
              </a:defRPr>
            </a:lvl3pPr>
            <a:lvl4pPr>
              <a:defRPr sz="1200" b="0">
                <a:solidFill>
                  <a:srgbClr val="60777D"/>
                </a:solidFill>
                <a:latin typeface="Arial"/>
                <a:ea typeface="Arial"/>
                <a:cs typeface="Arial"/>
              </a:defRPr>
            </a:lvl4pPr>
            <a:lvl5pPr>
              <a:defRPr sz="1200" b="0">
                <a:solidFill>
                  <a:srgbClr val="60777D"/>
                </a:solidFill>
                <a:latin typeface="Arial"/>
                <a:ea typeface="Arial"/>
                <a:cs typeface="Arial"/>
              </a:defRPr>
            </a:lvl5pPr>
            <a:lvl6pPr>
              <a:defRPr sz="1200" b="0">
                <a:solidFill>
                  <a:srgbClr val="60777D"/>
                </a:solidFill>
                <a:latin typeface="Arial"/>
                <a:ea typeface="Arial"/>
                <a:cs typeface="Arial"/>
              </a:defRPr>
            </a:lvl6pPr>
            <a:lvl7pPr>
              <a:defRPr sz="1200" b="0">
                <a:solidFill>
                  <a:srgbClr val="60777D"/>
                </a:solidFill>
                <a:latin typeface="Arial"/>
                <a:ea typeface="Arial"/>
                <a:cs typeface="Arial"/>
              </a:defRPr>
            </a:lvl7pPr>
            <a:lvl8pPr>
              <a:defRPr sz="1200" b="0">
                <a:solidFill>
                  <a:srgbClr val="60777D"/>
                </a:solidFill>
                <a:latin typeface="Arial"/>
                <a:ea typeface="Arial"/>
                <a:cs typeface="Arial"/>
              </a:defRPr>
            </a:lvl8pPr>
            <a:lvl9pPr>
              <a:defRPr sz="1200" b="0">
                <a:solidFill>
                  <a:srgbClr val="60777D"/>
                </a:solidFill>
                <a:latin typeface="Arial"/>
                <a:ea typeface="Arial"/>
                <a:cs typeface="Arial"/>
              </a:defRPr>
            </a:lvl9pPr>
          </a:lstStyle>
          <a:p xmlns:a="http://schemas.openxmlformats.org/drawingml/2006/main">
            <a:pPr>
              <a:defRPr sz="1200" b="0">
                <a:solidFill>
                  <a:srgbClr val="60777D"/>
                </a:solidFill>
                <a:latin typeface="Arial"/>
                <a:ea typeface="Arial"/>
                <a:cs typeface="Arial"/>
              </a:defRPr>
            </a:pPr>
            <a:r>
              <a:rPr sz="1200" b="0">
                <a:solidFill>
                  <a:srgbClr val="60777D"/>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6D44E37A-C1BC-48C8-A68C-AD8E812DCE1D}"/>
              </a:ext>
            </a:extLst>
          </p:cNvPr>
          <p:cNvSpPr>
            <a:spLocks xmlns:a="http://schemas.openxmlformats.org/drawingml/2006/main" noGrp="1"/>
          </p:cNvSpPr>
          <p:nvPr/>
        </p:nvSpPr>
        <p:spPr>
          <a:xfrm xmlns:a="http://schemas.openxmlformats.org/drawingml/2006/main">
            <a:off x="723900" y="1924050"/>
            <a:ext cx="5810250" cy="322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34D"/>
                </a:solidFill>
                <a:latin typeface="Arial"/>
                <a:ea typeface="Arial"/>
                <a:cs typeface="Arial"/>
              </a:defRPr>
            </a:defPPr>
            <a:lvl1pPr>
              <a:defRPr sz="2100" b="0">
                <a:solidFill>
                  <a:srgbClr val="29434D"/>
                </a:solidFill>
                <a:latin typeface="Arial"/>
                <a:ea typeface="Arial"/>
                <a:cs typeface="Arial"/>
              </a:defRPr>
            </a:lvl1pPr>
            <a:lvl2pPr>
              <a:defRPr sz="2100" b="0">
                <a:solidFill>
                  <a:srgbClr val="29434D"/>
                </a:solidFill>
                <a:latin typeface="Arial"/>
                <a:ea typeface="Arial"/>
                <a:cs typeface="Arial"/>
              </a:defRPr>
            </a:lvl2pPr>
            <a:lvl3pPr>
              <a:defRPr sz="2100" b="0">
                <a:solidFill>
                  <a:srgbClr val="29434D"/>
                </a:solidFill>
                <a:latin typeface="Arial"/>
                <a:ea typeface="Arial"/>
                <a:cs typeface="Arial"/>
              </a:defRPr>
            </a:lvl3pPr>
            <a:lvl4pPr>
              <a:defRPr sz="2100" b="0">
                <a:solidFill>
                  <a:srgbClr val="29434D"/>
                </a:solidFill>
                <a:latin typeface="Arial"/>
                <a:ea typeface="Arial"/>
                <a:cs typeface="Arial"/>
              </a:defRPr>
            </a:lvl4pPr>
            <a:lvl5pPr>
              <a:defRPr sz="2100" b="0">
                <a:solidFill>
                  <a:srgbClr val="29434D"/>
                </a:solidFill>
                <a:latin typeface="Arial"/>
                <a:ea typeface="Arial"/>
                <a:cs typeface="Arial"/>
              </a:defRPr>
            </a:lvl5pPr>
            <a:lvl6pPr>
              <a:defRPr sz="2100" b="0">
                <a:solidFill>
                  <a:srgbClr val="29434D"/>
                </a:solidFill>
                <a:latin typeface="Arial"/>
                <a:ea typeface="Arial"/>
                <a:cs typeface="Arial"/>
              </a:defRPr>
            </a:lvl6pPr>
            <a:lvl7pPr>
              <a:defRPr sz="2100" b="0">
                <a:solidFill>
                  <a:srgbClr val="29434D"/>
                </a:solidFill>
                <a:latin typeface="Arial"/>
                <a:ea typeface="Arial"/>
                <a:cs typeface="Arial"/>
              </a:defRPr>
            </a:lvl7pPr>
            <a:lvl8pPr>
              <a:defRPr sz="2100" b="0">
                <a:solidFill>
                  <a:srgbClr val="29434D"/>
                </a:solidFill>
                <a:latin typeface="Arial"/>
                <a:ea typeface="Arial"/>
                <a:cs typeface="Arial"/>
              </a:defRPr>
            </a:lvl8pPr>
            <a:lvl9pPr>
              <a:defRPr sz="2100" b="0">
                <a:solidFill>
                  <a:srgbClr val="29434D"/>
                </a:solidFill>
                <a:latin typeface="Arial"/>
                <a:ea typeface="Arial"/>
                <a:cs typeface="Arial"/>
              </a:defRPr>
            </a:lvl9pPr>
          </a:lstStyle>
          <a:p xmlns:a="http://schemas.openxmlformats.org/drawingml/2006/main">
            <a:pPr>
              <a:defRPr sz="2100" b="0">
                <a:solidFill>
                  <a:srgbClr val="29434D"/>
                </a:solidFill>
                <a:latin typeface="Arial"/>
                <a:ea typeface="Arial"/>
                <a:cs typeface="Arial"/>
              </a:defRPr>
            </a:pPr>
            <a:r>
              <a:rPr sz="2100" b="0">
                <a:solidFill>
                  <a:srgbClr val="29434D"/>
                </a:solidFill>
                <a:latin typeface="Arial"/>
                <a:ea typeface="Arial"/>
                <a:cs typeface="Arial"/>
              </a:rPr>
              <a:t>Independent approval</a:t>
            </a:r>
          </a:p>
          <a:p xmlns:a="http://schemas.openxmlformats.org/drawingml/2006/main">
            <a:r>
              <a:t/>
            </a:r>
          </a:p>
          <a:p xmlns:a="http://schemas.openxmlformats.org/drawingml/2006/main">
            <a:pPr>
              <a:defRPr sz="2100" b="0">
                <a:solidFill>
                  <a:srgbClr val="29434D"/>
                </a:solidFill>
                <a:latin typeface="Arial"/>
                <a:ea typeface="Arial"/>
                <a:cs typeface="Arial"/>
              </a:defRPr>
            </a:pPr>
            <a:r>
              <a:rPr sz="2100" b="0">
                <a:solidFill>
                  <a:srgbClr val="29434D"/>
                </a:solidFill>
                <a:latin typeface="Arial"/>
                <a:ea typeface="Arial"/>
                <a:cs typeface="Arial"/>
              </a:rPr>
              <a:t>Exact saved evidence</a:t>
            </a:r>
          </a:p>
          <a:p xmlns:a="http://schemas.openxmlformats.org/drawingml/2006/main">
            <a:r>
              <a:t/>
            </a:r>
          </a:p>
          <a:p xmlns:a="http://schemas.openxmlformats.org/drawingml/2006/main">
            <a:pPr>
              <a:defRPr sz="2100" b="0">
                <a:solidFill>
                  <a:srgbClr val="29434D"/>
                </a:solidFill>
                <a:latin typeface="Arial"/>
                <a:ea typeface="Arial"/>
                <a:cs typeface="Arial"/>
              </a:defRPr>
            </a:pPr>
            <a:r>
              <a:rPr sz="2100" b="0">
                <a:solidFill>
                  <a:srgbClr val="29434D"/>
                </a:solidFill>
                <a:latin typeface="Arial"/>
                <a:ea typeface="Arial"/>
                <a:cs typeface="Arial"/>
              </a:rPr>
              <a:t>One payment transaction</a:t>
            </a:r>
          </a:p>
          <a:p xmlns:a="http://schemas.openxmlformats.org/drawingml/2006/main">
            <a:r>
              <a:t/>
            </a:r>
          </a:p>
          <a:p xmlns:a="http://schemas.openxmlformats.org/drawingml/2006/main">
            <a:pPr>
              <a:defRPr sz="2100" b="0">
                <a:solidFill>
                  <a:srgbClr val="29434D"/>
                </a:solidFill>
                <a:latin typeface="Arial"/>
                <a:ea typeface="Arial"/>
                <a:cs typeface="Arial"/>
              </a:defRPr>
            </a:pPr>
            <a:r>
              <a:rPr sz="2100" b="0">
                <a:solidFill>
                  <a:srgbClr val="29434D"/>
                </a:solidFill>
                <a:latin typeface="Arial"/>
                <a:ea typeface="Arial"/>
                <a:cs typeface="Arial"/>
              </a:rPr>
              <a:t>Local audit verification</a:t>
            </a:r>
          </a:p>
        </p:txBody>
      </p:sp>
      <p:graphicFrame>
        <p:nvGraphicFramePr>
          <p:cNvPr id="5" name="">
            <a:extLst xmlns:a="http://schemas.openxmlformats.org/drawingml/2006/main">
              <a:ext uri="{FF2B5EF4-FFF2-40B4-BE49-F238E27FC236}">
                <a16:creationId xmlns:a16="http://schemas.microsoft.com/office/drawing/2014/main" id="{CD5354BF-E04D-4539-A69B-FC0DC081A7A5}"/>
              </a:ext>
            </a:extLst>
          </p:cNvPr>
          <p:cNvGraphicFramePr/>
          <p:nvPr/>
        </p:nvGraphicFramePr>
        <p:xfrm>
          <a:off xmlns:a="http://schemas.openxmlformats.org/drawingml/2006/main" x="6915150" y="1790700"/>
          <a:ext xmlns:a="http://schemas.openxmlformats.org/drawingml/2006/main" cx="4572000" cy="3238500"/>
        </p:xfrm>
        <a:graphic xmlns:a="http://schemas.openxmlformats.org/drawingml/2006/main">
          <a:graphicData uri="http://schemas.openxmlformats.org/drawingml/2006/table">
            <a:tbl>
              <a:tblPr/>
              <a:tblGrid>
                <a:gridCol w="3238500"/>
                <a:gridCol w="1333500"/>
              </a:tblGrid>
              <a:tr h="647700">
                <a:tc>
                  <a:txBody>
                    <a:bodyPr/>
                    <a:lstStyle/>
                    <a:p>
                      <a:r>
                        <a:rPr sz="1800" b="1">
                          <a:solidFill>
                            <a:srgbClr val="FFFFFF"/>
                          </a:solidFill>
                          <a:latin typeface="Arial"/>
                          <a:ea typeface="Arial"/>
                          <a:cs typeface="Arial"/>
                        </a:rPr>
                        <a:t>Executed validation</a:t>
                      </a:r>
                    </a:p>
                  </a:txBody>
                  <a:tcPr marL="91440" marR="91440" marT="45720" marB="45720">
                    <a:lnL w="9525">
                      <a:solidFill>
                        <a:srgbClr val="D9E4DE"/>
                      </a:solidFill>
                      <a:prstDash val="solid"/>
                    </a:lnL>
                    <a:lnR w="9525">
                      <a:solidFill>
                        <a:srgbClr val="D9E4DE"/>
                      </a:solidFill>
                      <a:prstDash val="solid"/>
                    </a:lnR>
                    <a:lnT w="9525">
                      <a:solidFill>
                        <a:srgbClr val="D9E4DE"/>
                      </a:solidFill>
                      <a:prstDash val="solid"/>
                    </a:lnT>
                    <a:lnB w="9525">
                      <a:solidFill>
                        <a:srgbClr val="D9E4DE"/>
                      </a:solidFill>
                      <a:prstDash val="solid"/>
                    </a:lnB>
                    <a:solidFill>
                      <a:srgbClr val="19343F"/>
                    </a:solidFill>
                  </a:tcPr>
                </a:tc>
                <a:tc>
                  <a:txBody>
                    <a:bodyPr/>
                    <a:lstStyle/>
                    <a:p>
                      <a:r>
                        <a:rPr sz="1800" b="1">
                          <a:solidFill>
                            <a:srgbClr val="FFFFFF"/>
                          </a:solidFill>
                          <a:latin typeface="Arial"/>
                          <a:ea typeface="Arial"/>
                          <a:cs typeface="Arial"/>
                        </a:rPr>
                        <a:t>Passed</a:t>
                      </a:r>
                    </a:p>
                  </a:txBody>
                  <a:tcPr marL="91440" marR="91440" marT="45720" marB="45720">
                    <a:lnR w="9525">
                      <a:solidFill>
                        <a:srgbClr val="D9E4DE"/>
                      </a:solidFill>
                      <a:prstDash val="solid"/>
                    </a:lnR>
                    <a:lnT w="9525">
                      <a:solidFill>
                        <a:srgbClr val="D9E4DE"/>
                      </a:solidFill>
                      <a:prstDash val="solid"/>
                    </a:lnT>
                    <a:lnB w="9525">
                      <a:solidFill>
                        <a:srgbClr val="D9E4DE"/>
                      </a:solidFill>
                      <a:prstDash val="solid"/>
                    </a:lnB>
                    <a:solidFill>
                      <a:srgbClr val="19343F"/>
                    </a:solidFill>
                  </a:tcPr>
                </a:tc>
              </a:tr>
              <a:tr h="647700">
                <a:tc>
                  <a:txBody>
                    <a:bodyPr/>
                    <a:lstStyle/>
                    <a:p>
                      <a:r>
                        <a:rPr sz="1800" b="0">
                          <a:solidFill>
                            <a:srgbClr val="29434D"/>
                          </a:solidFill>
                          <a:latin typeface="Arial"/>
                          <a:ea typeface="Arial"/>
                          <a:cs typeface="Arial"/>
                        </a:rPr>
                        <a:t>Backend tests</a:t>
                      </a:r>
                    </a:p>
                  </a:txBody>
                  <a:tcPr marL="91440" marR="91440" marT="45720" marB="45720">
                    <a:lnL w="9525">
                      <a:solidFill>
                        <a:srgbClr val="D9E4DE"/>
                      </a:solidFill>
                      <a:prstDash val="solid"/>
                    </a:lnL>
                    <a:lnR w="9525">
                      <a:solidFill>
                        <a:srgbClr val="D9E4DE"/>
                      </a:solidFill>
                      <a:prstDash val="solid"/>
                    </a:lnR>
                    <a:lnB w="9525">
                      <a:solidFill>
                        <a:srgbClr val="D9E4DE"/>
                      </a:solidFill>
                      <a:prstDash val="solid"/>
                    </a:lnB>
                    <a:solidFill>
                      <a:srgbClr val="FFFFFF"/>
                    </a:solidFill>
                  </a:tcPr>
                </a:tc>
                <a:tc>
                  <a:txBody>
                    <a:bodyPr/>
                    <a:lstStyle/>
                    <a:p>
                      <a:r>
                        <a:rPr sz="1800" b="0">
                          <a:solidFill>
                            <a:srgbClr val="29434D"/>
                          </a:solidFill>
                          <a:latin typeface="Arial"/>
                          <a:ea typeface="Arial"/>
                          <a:cs typeface="Arial"/>
                        </a:rPr>
                        <a:t>203</a:t>
                      </a:r>
                    </a:p>
                  </a:txBody>
                  <a:tcPr marL="91440" marR="91440" marT="45720" marB="45720">
                    <a:lnR w="9525">
                      <a:solidFill>
                        <a:srgbClr val="D9E4DE"/>
                      </a:solidFill>
                      <a:prstDash val="solid"/>
                    </a:lnR>
                    <a:lnB w="9525">
                      <a:solidFill>
                        <a:srgbClr val="D9E4DE"/>
                      </a:solidFill>
                      <a:prstDash val="solid"/>
                    </a:lnB>
                    <a:solidFill>
                      <a:srgbClr val="FFFFFF"/>
                    </a:solidFill>
                  </a:tcPr>
                </a:tc>
              </a:tr>
              <a:tr h="647700">
                <a:tc>
                  <a:txBody>
                    <a:bodyPr/>
                    <a:lstStyle/>
                    <a:p>
                      <a:r>
                        <a:rPr sz="1800" b="0">
                          <a:solidFill>
                            <a:srgbClr val="29434D"/>
                          </a:solidFill>
                          <a:latin typeface="Arial"/>
                          <a:ea typeface="Arial"/>
                          <a:cs typeface="Arial"/>
                        </a:rPr>
                        <a:t>Frontend tests</a:t>
                      </a:r>
                    </a:p>
                  </a:txBody>
                  <a:tcPr marL="91440" marR="91440" marT="45720" marB="45720">
                    <a:lnL w="9525">
                      <a:solidFill>
                        <a:srgbClr val="D9E4DE"/>
                      </a:solidFill>
                      <a:prstDash val="solid"/>
                    </a:lnL>
                    <a:lnR w="9525">
                      <a:solidFill>
                        <a:srgbClr val="D9E4DE"/>
                      </a:solidFill>
                      <a:prstDash val="solid"/>
                    </a:lnR>
                    <a:lnB w="9525">
                      <a:solidFill>
                        <a:srgbClr val="D9E4DE"/>
                      </a:solidFill>
                      <a:prstDash val="solid"/>
                    </a:lnB>
                    <a:solidFill>
                      <a:srgbClr val="EDF3EF"/>
                    </a:solidFill>
                  </a:tcPr>
                </a:tc>
                <a:tc>
                  <a:txBody>
                    <a:bodyPr/>
                    <a:lstStyle/>
                    <a:p>
                      <a:r>
                        <a:rPr sz="1800" b="0">
                          <a:solidFill>
                            <a:srgbClr val="29434D"/>
                          </a:solidFill>
                          <a:latin typeface="Arial"/>
                          <a:ea typeface="Arial"/>
                          <a:cs typeface="Arial"/>
                        </a:rPr>
                        <a:t>8</a:t>
                      </a:r>
                    </a:p>
                  </a:txBody>
                  <a:tcPr marL="91440" marR="91440" marT="45720" marB="45720">
                    <a:lnR w="9525">
                      <a:solidFill>
                        <a:srgbClr val="D9E4DE"/>
                      </a:solidFill>
                      <a:prstDash val="solid"/>
                    </a:lnR>
                    <a:lnB w="9525">
                      <a:solidFill>
                        <a:srgbClr val="D9E4DE"/>
                      </a:solidFill>
                      <a:prstDash val="solid"/>
                    </a:lnB>
                    <a:solidFill>
                      <a:srgbClr val="EDF3EF"/>
                    </a:solidFill>
                  </a:tcPr>
                </a:tc>
              </a:tr>
              <a:tr h="647700">
                <a:tc>
                  <a:txBody>
                    <a:bodyPr/>
                    <a:lstStyle/>
                    <a:p>
                      <a:r>
                        <a:rPr sz="1800" b="0">
                          <a:solidFill>
                            <a:srgbClr val="29434D"/>
                          </a:solidFill>
                          <a:latin typeface="Arial"/>
                          <a:ea typeface="Arial"/>
                          <a:cs typeface="Arial"/>
                        </a:rPr>
                        <a:t>Browser workflows</a:t>
                      </a:r>
                    </a:p>
                  </a:txBody>
                  <a:tcPr marL="91440" marR="91440" marT="45720" marB="45720">
                    <a:lnL w="9525">
                      <a:solidFill>
                        <a:srgbClr val="D9E4DE"/>
                      </a:solidFill>
                      <a:prstDash val="solid"/>
                    </a:lnL>
                    <a:lnR w="9525">
                      <a:solidFill>
                        <a:srgbClr val="D9E4DE"/>
                      </a:solidFill>
                      <a:prstDash val="solid"/>
                    </a:lnR>
                    <a:lnB w="9525">
                      <a:solidFill>
                        <a:srgbClr val="D9E4DE"/>
                      </a:solidFill>
                      <a:prstDash val="solid"/>
                    </a:lnB>
                    <a:solidFill>
                      <a:srgbClr val="FFFFFF"/>
                    </a:solidFill>
                  </a:tcPr>
                </a:tc>
                <a:tc>
                  <a:txBody>
                    <a:bodyPr/>
                    <a:lstStyle/>
                    <a:p>
                      <a:r>
                        <a:rPr sz="1800" b="0">
                          <a:solidFill>
                            <a:srgbClr val="29434D"/>
                          </a:solidFill>
                          <a:latin typeface="Arial"/>
                          <a:ea typeface="Arial"/>
                          <a:cs typeface="Arial"/>
                        </a:rPr>
                        <a:t>16</a:t>
                      </a:r>
                    </a:p>
                  </a:txBody>
                  <a:tcPr marL="91440" marR="91440" marT="45720" marB="45720">
                    <a:lnR w="9525">
                      <a:solidFill>
                        <a:srgbClr val="D9E4DE"/>
                      </a:solidFill>
                      <a:prstDash val="solid"/>
                    </a:lnR>
                    <a:lnB w="9525">
                      <a:solidFill>
                        <a:srgbClr val="D9E4DE"/>
                      </a:solidFill>
                      <a:prstDash val="solid"/>
                    </a:lnB>
                    <a:solidFill>
                      <a:srgbClr val="FFFFFF"/>
                    </a:solidFill>
                  </a:tcPr>
                </a:tc>
              </a:tr>
              <a:tr h="647700">
                <a:tc>
                  <a:txBody>
                    <a:bodyPr/>
                    <a:lstStyle/>
                    <a:p>
                      <a:r>
                        <a:rPr sz="1800" b="0">
                          <a:solidFill>
                            <a:srgbClr val="29434D"/>
                          </a:solidFill>
                          <a:latin typeface="Arial"/>
                          <a:ea typeface="Arial"/>
                          <a:cs typeface="Arial"/>
                        </a:rPr>
                        <a:t>HTTP scenarios A–H</a:t>
                      </a:r>
                    </a:p>
                  </a:txBody>
                  <a:tcPr marL="91440" marR="91440" marT="45720" marB="45720">
                    <a:lnL w="9525">
                      <a:solidFill>
                        <a:srgbClr val="D9E4DE"/>
                      </a:solidFill>
                      <a:prstDash val="solid"/>
                    </a:lnL>
                    <a:lnR w="9525">
                      <a:solidFill>
                        <a:srgbClr val="D9E4DE"/>
                      </a:solidFill>
                      <a:prstDash val="solid"/>
                    </a:lnR>
                    <a:lnB w="9525">
                      <a:solidFill>
                        <a:srgbClr val="D9E4DE"/>
                      </a:solidFill>
                      <a:prstDash val="solid"/>
                    </a:lnB>
                    <a:solidFill>
                      <a:srgbClr val="EDF3EF"/>
                    </a:solidFill>
                  </a:tcPr>
                </a:tc>
                <a:tc>
                  <a:txBody>
                    <a:bodyPr/>
                    <a:lstStyle/>
                    <a:p>
                      <a:r>
                        <a:rPr sz="1800" b="0">
                          <a:solidFill>
                            <a:srgbClr val="29434D"/>
                          </a:solidFill>
                          <a:latin typeface="Arial"/>
                          <a:ea typeface="Arial"/>
                          <a:cs typeface="Arial"/>
                        </a:rPr>
                        <a:t>8</a:t>
                      </a:r>
                    </a:p>
                  </a:txBody>
                  <a:tcPr marL="91440" marR="91440" marT="45720" marB="45720">
                    <a:lnR w="9525">
                      <a:solidFill>
                        <a:srgbClr val="D9E4DE"/>
                      </a:solidFill>
                      <a:prstDash val="solid"/>
                    </a:lnR>
                    <a:lnB w="9525">
                      <a:solidFill>
                        <a:srgbClr val="D9E4DE"/>
                      </a:solidFill>
                      <a:prstDash val="solid"/>
                    </a:lnB>
                    <a:solidFill>
                      <a:srgbClr val="EDF3EF"/>
                    </a:solidFill>
                  </a:tcPr>
                </a:tc>
              </a:tr>
            </a:tbl>
          </a:graphicData>
        </a:graphic>
      </p:graphicFrame>
      <p:sp>
        <p:nvSpPr>
          <p:cNvPr id="6" name="">
            <a:extLst xmlns:a="http://schemas.openxmlformats.org/drawingml/2006/main">
              <a:ext uri="{FF2B5EF4-FFF2-40B4-BE49-F238E27FC236}">
                <a16:creationId xmlns:a16="http://schemas.microsoft.com/office/drawing/2014/main" id="{D153D4F4-437F-4778-A9EC-9BD5FD812B2F}"/>
              </a:ext>
            </a:extLst>
          </p:cNvPr>
          <p:cNvSpPr>
            <a:spLocks xmlns:a="http://schemas.openxmlformats.org/drawingml/2006/main" noGrp="1"/>
          </p:cNvSpPr>
          <p:nvPr/>
        </p:nvSpPr>
        <p:spPr>
          <a:xfrm xmlns:a="http://schemas.openxmlformats.org/drawingml/2006/main">
            <a:off x="723900" y="55245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77D"/>
                </a:solidFill>
                <a:latin typeface="Arial"/>
                <a:ea typeface="Arial"/>
                <a:cs typeface="Arial"/>
              </a:defRPr>
            </a:defPPr>
            <a:lvl1pPr>
              <a:defRPr sz="1725" b="0">
                <a:solidFill>
                  <a:srgbClr val="60777D"/>
                </a:solidFill>
                <a:latin typeface="Arial"/>
                <a:ea typeface="Arial"/>
                <a:cs typeface="Arial"/>
              </a:defRPr>
            </a:lvl1pPr>
            <a:lvl2pPr>
              <a:defRPr sz="1725" b="0">
                <a:solidFill>
                  <a:srgbClr val="60777D"/>
                </a:solidFill>
                <a:latin typeface="Arial"/>
                <a:ea typeface="Arial"/>
                <a:cs typeface="Arial"/>
              </a:defRPr>
            </a:lvl2pPr>
            <a:lvl3pPr>
              <a:defRPr sz="1725" b="0">
                <a:solidFill>
                  <a:srgbClr val="60777D"/>
                </a:solidFill>
                <a:latin typeface="Arial"/>
                <a:ea typeface="Arial"/>
                <a:cs typeface="Arial"/>
              </a:defRPr>
            </a:lvl3pPr>
            <a:lvl4pPr>
              <a:defRPr sz="1725" b="0">
                <a:solidFill>
                  <a:srgbClr val="60777D"/>
                </a:solidFill>
                <a:latin typeface="Arial"/>
                <a:ea typeface="Arial"/>
                <a:cs typeface="Arial"/>
              </a:defRPr>
            </a:lvl4pPr>
            <a:lvl5pPr>
              <a:defRPr sz="1725" b="0">
                <a:solidFill>
                  <a:srgbClr val="60777D"/>
                </a:solidFill>
                <a:latin typeface="Arial"/>
                <a:ea typeface="Arial"/>
                <a:cs typeface="Arial"/>
              </a:defRPr>
            </a:lvl5pPr>
            <a:lvl6pPr>
              <a:defRPr sz="1725" b="0">
                <a:solidFill>
                  <a:srgbClr val="60777D"/>
                </a:solidFill>
                <a:latin typeface="Arial"/>
                <a:ea typeface="Arial"/>
                <a:cs typeface="Arial"/>
              </a:defRPr>
            </a:lvl6pPr>
            <a:lvl7pPr>
              <a:defRPr sz="1725" b="0">
                <a:solidFill>
                  <a:srgbClr val="60777D"/>
                </a:solidFill>
                <a:latin typeface="Arial"/>
                <a:ea typeface="Arial"/>
                <a:cs typeface="Arial"/>
              </a:defRPr>
            </a:lvl7pPr>
            <a:lvl8pPr>
              <a:defRPr sz="1725" b="0">
                <a:solidFill>
                  <a:srgbClr val="60777D"/>
                </a:solidFill>
                <a:latin typeface="Arial"/>
                <a:ea typeface="Arial"/>
                <a:cs typeface="Arial"/>
              </a:defRPr>
            </a:lvl8pPr>
            <a:lvl9pPr>
              <a:defRPr sz="1725" b="0">
                <a:solidFill>
                  <a:srgbClr val="60777D"/>
                </a:solidFill>
                <a:latin typeface="Arial"/>
                <a:ea typeface="Arial"/>
                <a:cs typeface="Arial"/>
              </a:defRPr>
            </a:lvl9pPr>
          </a:lstStyle>
          <a:p xmlns:a="http://schemas.openxmlformats.org/drawingml/2006/main">
            <a:pPr>
              <a:defRPr sz="1725" b="0">
                <a:solidFill>
                  <a:srgbClr val="60777D"/>
                </a:solidFill>
                <a:latin typeface="Arial"/>
                <a:ea typeface="Arial"/>
                <a:cs typeface="Arial"/>
              </a:defRPr>
            </a:pPr>
            <a:r>
              <a:rPr sz="1725" b="0">
                <a:solidFill>
                  <a:srgbClr val="60777D"/>
                </a:solidFill>
                <a:latin typeface="Arial"/>
                <a:ea typeface="Arial"/>
                <a:cs typeface="Arial"/>
              </a:rPr>
              <a:t>A full database owner can rewrite the local audit chain.</a:t>
            </a:r>
          </a:p>
        </p:txBody>
      </p:sp>
    </p:spTree>
    <p:extLst>
      <p:ext uri="{BB962C8B-B14F-4D97-AF65-F5344CB8AC3E}">
        <p14:creationId xmlns:p14="http://schemas.microsoft.com/office/powerpoint/2010/main" val="183608808"/>
      </p:ext>
    </p:extLst>
  </p:cSld>
</p:sld>
</file>

<file path=ppt/slides/slide9.xml><?xml version="1.0" encoding="utf-8"?>
<p:sld xmlns:p="http://schemas.openxmlformats.org/presentationml/2006/main">
  <p:cSld>
    <p:bg>
      <p:bgPr>
        <a:solidFill xmlns:a="http://schemas.openxmlformats.org/drawingml/2006/main">
          <a:srgbClr val="19343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D45E17-9DE9-499B-8E98-F60A1B8C049E}"/>
              </a:ext>
            </a:extLst>
          </p:cNvPr>
          <p:cNvSpPr>
            <a:spLocks xmlns:a="http://schemas.openxmlformats.org/drawingml/2006/main" noGrp="1"/>
          </p:cNvSpPr>
          <p:nvPr/>
        </p:nvSpPr>
        <p:spPr>
          <a:xfrm xmlns:a="http://schemas.openxmlformats.org/drawingml/2006/main">
            <a:off x="685800" y="590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Price and estimate changes</a:t>
            </a:r>
          </a:p>
        </p:txBody>
      </p:sp>
      <p:sp>
        <p:nvSpPr>
          <p:cNvPr id="2" name="">
            <a:extLst xmlns:a="http://schemas.openxmlformats.org/drawingml/2006/main">
              <a:ext uri="{FF2B5EF4-FFF2-40B4-BE49-F238E27FC236}">
                <a16:creationId xmlns:a16="http://schemas.microsoft.com/office/drawing/2014/main" id="{65209AF7-BB58-4646-AB18-4BBBEAB93689}"/>
              </a:ext>
            </a:extLst>
          </p:cNvPr>
          <p:cNvSpPr>
            <a:spLocks xmlns:a="http://schemas.openxmlformats.org/drawingml/2006/main" noGrp="1"/>
          </p:cNvSpPr>
          <p:nvPr/>
        </p:nvSpPr>
        <p:spPr>
          <a:xfrm xmlns:a="http://schemas.openxmlformats.org/drawingml/2006/main">
            <a:off x="685800" y="64103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DD1C9"/>
                </a:solidFill>
                <a:latin typeface="Arial"/>
                <a:ea typeface="Arial"/>
                <a:cs typeface="Arial"/>
              </a:defRPr>
            </a:defPPr>
            <a:lvl1pPr>
              <a:defRPr sz="1200" b="0">
                <a:solidFill>
                  <a:srgbClr val="BDD1C9"/>
                </a:solidFill>
                <a:latin typeface="Arial"/>
                <a:ea typeface="Arial"/>
                <a:cs typeface="Arial"/>
              </a:defRPr>
            </a:lvl1pPr>
            <a:lvl2pPr>
              <a:defRPr sz="1200" b="0">
                <a:solidFill>
                  <a:srgbClr val="BDD1C9"/>
                </a:solidFill>
                <a:latin typeface="Arial"/>
                <a:ea typeface="Arial"/>
                <a:cs typeface="Arial"/>
              </a:defRPr>
            </a:lvl2pPr>
            <a:lvl3pPr>
              <a:defRPr sz="1200" b="0">
                <a:solidFill>
                  <a:srgbClr val="BDD1C9"/>
                </a:solidFill>
                <a:latin typeface="Arial"/>
                <a:ea typeface="Arial"/>
                <a:cs typeface="Arial"/>
              </a:defRPr>
            </a:lvl3pPr>
            <a:lvl4pPr>
              <a:defRPr sz="1200" b="0">
                <a:solidFill>
                  <a:srgbClr val="BDD1C9"/>
                </a:solidFill>
                <a:latin typeface="Arial"/>
                <a:ea typeface="Arial"/>
                <a:cs typeface="Arial"/>
              </a:defRPr>
            </a:lvl4pPr>
            <a:lvl5pPr>
              <a:defRPr sz="1200" b="0">
                <a:solidFill>
                  <a:srgbClr val="BDD1C9"/>
                </a:solidFill>
                <a:latin typeface="Arial"/>
                <a:ea typeface="Arial"/>
                <a:cs typeface="Arial"/>
              </a:defRPr>
            </a:lvl5pPr>
            <a:lvl6pPr>
              <a:defRPr sz="1200" b="0">
                <a:solidFill>
                  <a:srgbClr val="BDD1C9"/>
                </a:solidFill>
                <a:latin typeface="Arial"/>
                <a:ea typeface="Arial"/>
                <a:cs typeface="Arial"/>
              </a:defRPr>
            </a:lvl6pPr>
            <a:lvl7pPr>
              <a:defRPr sz="1200" b="0">
                <a:solidFill>
                  <a:srgbClr val="BDD1C9"/>
                </a:solidFill>
                <a:latin typeface="Arial"/>
                <a:ea typeface="Arial"/>
                <a:cs typeface="Arial"/>
              </a:defRPr>
            </a:lvl7pPr>
            <a:lvl8pPr>
              <a:defRPr sz="1200" b="0">
                <a:solidFill>
                  <a:srgbClr val="BDD1C9"/>
                </a:solidFill>
                <a:latin typeface="Arial"/>
                <a:ea typeface="Arial"/>
                <a:cs typeface="Arial"/>
              </a:defRPr>
            </a:lvl8pPr>
            <a:lvl9pPr>
              <a:defRPr sz="1200" b="0">
                <a:solidFill>
                  <a:srgbClr val="BDD1C9"/>
                </a:solidFill>
                <a:latin typeface="Arial"/>
                <a:ea typeface="Arial"/>
                <a:cs typeface="Arial"/>
              </a:defRPr>
            </a:lvl9pPr>
          </a:lstStyle>
          <a:p xmlns:a="http://schemas.openxmlformats.org/drawingml/2006/main">
            <a:pPr>
              <a:defRPr sz="1200" b="0">
                <a:solidFill>
                  <a:srgbClr val="BDD1C9"/>
                </a:solidFill>
                <a:latin typeface="Arial"/>
                <a:ea typeface="Arial"/>
                <a:cs typeface="Arial"/>
              </a:defRPr>
            </a:pPr>
            <a:r>
              <a:rPr sz="1200" b="0">
                <a:solidFill>
                  <a:srgbClr val="BDD1C9"/>
                </a:solidFill>
                <a:latin typeface="Arial"/>
                <a:ea typeface="Arial"/>
                <a:cs typeface="Arial"/>
              </a:rPr>
              <a:t>BuildTrust AI  ·  Fictional sandbox demonstration</a:t>
            </a:r>
          </a:p>
        </p:txBody>
      </p:sp>
      <p:sp>
        <p:nvSpPr>
          <p:cNvPr id="3" name="">
            <a:extLst xmlns:a="http://schemas.openxmlformats.org/drawingml/2006/main">
              <a:ext uri="{FF2B5EF4-FFF2-40B4-BE49-F238E27FC236}">
                <a16:creationId xmlns:a16="http://schemas.microsoft.com/office/drawing/2014/main" id="{C19BCF08-FD29-42F5-BF78-E0707FA92D2E}"/>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DD1C9"/>
                </a:solidFill>
                <a:latin typeface="Arial"/>
                <a:ea typeface="Arial"/>
                <a:cs typeface="Arial"/>
              </a:defRPr>
            </a:defPPr>
            <a:lvl1pPr>
              <a:defRPr sz="1200" b="0">
                <a:solidFill>
                  <a:srgbClr val="BDD1C9"/>
                </a:solidFill>
                <a:latin typeface="Arial"/>
                <a:ea typeface="Arial"/>
                <a:cs typeface="Arial"/>
              </a:defRPr>
            </a:lvl1pPr>
            <a:lvl2pPr>
              <a:defRPr sz="1200" b="0">
                <a:solidFill>
                  <a:srgbClr val="BDD1C9"/>
                </a:solidFill>
                <a:latin typeface="Arial"/>
                <a:ea typeface="Arial"/>
                <a:cs typeface="Arial"/>
              </a:defRPr>
            </a:lvl2pPr>
            <a:lvl3pPr>
              <a:defRPr sz="1200" b="0">
                <a:solidFill>
                  <a:srgbClr val="BDD1C9"/>
                </a:solidFill>
                <a:latin typeface="Arial"/>
                <a:ea typeface="Arial"/>
                <a:cs typeface="Arial"/>
              </a:defRPr>
            </a:lvl3pPr>
            <a:lvl4pPr>
              <a:defRPr sz="1200" b="0">
                <a:solidFill>
                  <a:srgbClr val="BDD1C9"/>
                </a:solidFill>
                <a:latin typeface="Arial"/>
                <a:ea typeface="Arial"/>
                <a:cs typeface="Arial"/>
              </a:defRPr>
            </a:lvl4pPr>
            <a:lvl5pPr>
              <a:defRPr sz="1200" b="0">
                <a:solidFill>
                  <a:srgbClr val="BDD1C9"/>
                </a:solidFill>
                <a:latin typeface="Arial"/>
                <a:ea typeface="Arial"/>
                <a:cs typeface="Arial"/>
              </a:defRPr>
            </a:lvl5pPr>
            <a:lvl6pPr>
              <a:defRPr sz="1200" b="0">
                <a:solidFill>
                  <a:srgbClr val="BDD1C9"/>
                </a:solidFill>
                <a:latin typeface="Arial"/>
                <a:ea typeface="Arial"/>
                <a:cs typeface="Arial"/>
              </a:defRPr>
            </a:lvl6pPr>
            <a:lvl7pPr>
              <a:defRPr sz="1200" b="0">
                <a:solidFill>
                  <a:srgbClr val="BDD1C9"/>
                </a:solidFill>
                <a:latin typeface="Arial"/>
                <a:ea typeface="Arial"/>
                <a:cs typeface="Arial"/>
              </a:defRPr>
            </a:lvl7pPr>
            <a:lvl8pPr>
              <a:defRPr sz="1200" b="0">
                <a:solidFill>
                  <a:srgbClr val="BDD1C9"/>
                </a:solidFill>
                <a:latin typeface="Arial"/>
                <a:ea typeface="Arial"/>
                <a:cs typeface="Arial"/>
              </a:defRPr>
            </a:lvl8pPr>
            <a:lvl9pPr>
              <a:defRPr sz="1200" b="0">
                <a:solidFill>
                  <a:srgbClr val="BDD1C9"/>
                </a:solidFill>
                <a:latin typeface="Arial"/>
                <a:ea typeface="Arial"/>
                <a:cs typeface="Arial"/>
              </a:defRPr>
            </a:lvl9pPr>
          </a:lstStyle>
          <a:p xmlns:a="http://schemas.openxmlformats.org/drawingml/2006/main">
            <a:pPr>
              <a:defRPr sz="1200" b="0">
                <a:solidFill>
                  <a:srgbClr val="BDD1C9"/>
                </a:solidFill>
                <a:latin typeface="Arial"/>
                <a:ea typeface="Arial"/>
                <a:cs typeface="Arial"/>
              </a:defRPr>
            </a:pPr>
            <a:r>
              <a:rPr sz="1200" b="0">
                <a:solidFill>
                  <a:srgbClr val="BDD1C9"/>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30292761-BAD3-491E-8407-5B573245E7F9}"/>
              </a:ext>
            </a:extLst>
          </p:cNvPr>
          <p:cNvSpPr>
            <a:spLocks xmlns:a="http://schemas.openxmlformats.org/drawingml/2006/main" noGrp="1"/>
          </p:cNvSpPr>
          <p:nvPr/>
        </p:nvSpPr>
        <p:spPr>
          <a:xfrm xmlns:a="http://schemas.openxmlformats.org/drawingml/2006/main">
            <a:off x="723900" y="1809750"/>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FFFFFF"/>
                </a:solidFill>
                <a:latin typeface="Arial"/>
                <a:ea typeface="Arial"/>
                <a:cs typeface="Arial"/>
              </a:defRPr>
            </a:defPPr>
            <a:lvl1pPr>
              <a:defRPr sz="4050" b="1">
                <a:solidFill>
                  <a:srgbClr val="FFFFFF"/>
                </a:solidFill>
                <a:latin typeface="Arial"/>
                <a:ea typeface="Arial"/>
                <a:cs typeface="Arial"/>
              </a:defRPr>
            </a:lvl1pPr>
            <a:lvl2pPr>
              <a:defRPr sz="4050" b="1">
                <a:solidFill>
                  <a:srgbClr val="FFFFFF"/>
                </a:solidFill>
                <a:latin typeface="Arial"/>
                <a:ea typeface="Arial"/>
                <a:cs typeface="Arial"/>
              </a:defRPr>
            </a:lvl2pPr>
            <a:lvl3pPr>
              <a:defRPr sz="4050" b="1">
                <a:solidFill>
                  <a:srgbClr val="FFFFFF"/>
                </a:solidFill>
                <a:latin typeface="Arial"/>
                <a:ea typeface="Arial"/>
                <a:cs typeface="Arial"/>
              </a:defRPr>
            </a:lvl3pPr>
            <a:lvl4pPr>
              <a:defRPr sz="4050" b="1">
                <a:solidFill>
                  <a:srgbClr val="FFFFFF"/>
                </a:solidFill>
                <a:latin typeface="Arial"/>
                <a:ea typeface="Arial"/>
                <a:cs typeface="Arial"/>
              </a:defRPr>
            </a:lvl4pPr>
            <a:lvl5pPr>
              <a:defRPr sz="4050" b="1">
                <a:solidFill>
                  <a:srgbClr val="FFFFFF"/>
                </a:solidFill>
                <a:latin typeface="Arial"/>
                <a:ea typeface="Arial"/>
                <a:cs typeface="Arial"/>
              </a:defRPr>
            </a:lvl5pPr>
            <a:lvl6pPr>
              <a:defRPr sz="4050" b="1">
                <a:solidFill>
                  <a:srgbClr val="FFFFFF"/>
                </a:solidFill>
                <a:latin typeface="Arial"/>
                <a:ea typeface="Arial"/>
                <a:cs typeface="Arial"/>
              </a:defRPr>
            </a:lvl6pPr>
            <a:lvl7pPr>
              <a:defRPr sz="4050" b="1">
                <a:solidFill>
                  <a:srgbClr val="FFFFFF"/>
                </a:solidFill>
                <a:latin typeface="Arial"/>
                <a:ea typeface="Arial"/>
                <a:cs typeface="Arial"/>
              </a:defRPr>
            </a:lvl7pPr>
            <a:lvl8pPr>
              <a:defRPr sz="4050" b="1">
                <a:solidFill>
                  <a:srgbClr val="FFFFFF"/>
                </a:solidFill>
                <a:latin typeface="Arial"/>
                <a:ea typeface="Arial"/>
                <a:cs typeface="Arial"/>
              </a:defRPr>
            </a:lvl8pPr>
            <a:lvl9pPr>
              <a:defRPr sz="4050" b="1">
                <a:solidFill>
                  <a:srgbClr val="FFFFFF"/>
                </a:solidFill>
                <a:latin typeface="Arial"/>
                <a:ea typeface="Arial"/>
                <a:cs typeface="Arial"/>
              </a:defRPr>
            </a:lvl9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BDT 80,000</a:t>
            </a:r>
          </a:p>
        </p:txBody>
      </p:sp>
      <p:sp>
        <p:nvSpPr>
          <p:cNvPr id="5" name="">
            <a:extLst xmlns:a="http://schemas.openxmlformats.org/drawingml/2006/main">
              <a:ext uri="{FF2B5EF4-FFF2-40B4-BE49-F238E27FC236}">
                <a16:creationId xmlns:a16="http://schemas.microsoft.com/office/drawing/2014/main" id="{A0487BA2-3EB0-4834-8DE5-E7F052230B35}"/>
              </a:ext>
            </a:extLst>
          </p:cNvPr>
          <p:cNvSpPr>
            <a:spLocks xmlns:a="http://schemas.openxmlformats.org/drawingml/2006/main" noGrp="1"/>
          </p:cNvSpPr>
          <p:nvPr/>
        </p:nvSpPr>
        <p:spPr>
          <a:xfrm xmlns:a="http://schemas.openxmlformats.org/drawingml/2006/main">
            <a:off x="752475" y="2752725"/>
            <a:ext cx="5286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7E0"/>
                </a:solidFill>
                <a:latin typeface="Arial"/>
                <a:ea typeface="Arial"/>
                <a:cs typeface="Arial"/>
              </a:defRPr>
            </a:defPPr>
            <a:lvl1pPr>
              <a:defRPr sz="2100" b="0">
                <a:solidFill>
                  <a:srgbClr val="D8E7E0"/>
                </a:solidFill>
                <a:latin typeface="Arial"/>
                <a:ea typeface="Arial"/>
                <a:cs typeface="Arial"/>
              </a:defRPr>
            </a:lvl1pPr>
            <a:lvl2pPr>
              <a:defRPr sz="2100" b="0">
                <a:solidFill>
                  <a:srgbClr val="D8E7E0"/>
                </a:solidFill>
                <a:latin typeface="Arial"/>
                <a:ea typeface="Arial"/>
                <a:cs typeface="Arial"/>
              </a:defRPr>
            </a:lvl2pPr>
            <a:lvl3pPr>
              <a:defRPr sz="2100" b="0">
                <a:solidFill>
                  <a:srgbClr val="D8E7E0"/>
                </a:solidFill>
                <a:latin typeface="Arial"/>
                <a:ea typeface="Arial"/>
                <a:cs typeface="Arial"/>
              </a:defRPr>
            </a:lvl3pPr>
            <a:lvl4pPr>
              <a:defRPr sz="2100" b="0">
                <a:solidFill>
                  <a:srgbClr val="D8E7E0"/>
                </a:solidFill>
                <a:latin typeface="Arial"/>
                <a:ea typeface="Arial"/>
                <a:cs typeface="Arial"/>
              </a:defRPr>
            </a:lvl4pPr>
            <a:lvl5pPr>
              <a:defRPr sz="2100" b="0">
                <a:solidFill>
                  <a:srgbClr val="D8E7E0"/>
                </a:solidFill>
                <a:latin typeface="Arial"/>
                <a:ea typeface="Arial"/>
                <a:cs typeface="Arial"/>
              </a:defRPr>
            </a:lvl5pPr>
            <a:lvl6pPr>
              <a:defRPr sz="2100" b="0">
                <a:solidFill>
                  <a:srgbClr val="D8E7E0"/>
                </a:solidFill>
                <a:latin typeface="Arial"/>
                <a:ea typeface="Arial"/>
                <a:cs typeface="Arial"/>
              </a:defRPr>
            </a:lvl6pPr>
            <a:lvl7pPr>
              <a:defRPr sz="2100" b="0">
                <a:solidFill>
                  <a:srgbClr val="D8E7E0"/>
                </a:solidFill>
                <a:latin typeface="Arial"/>
                <a:ea typeface="Arial"/>
                <a:cs typeface="Arial"/>
              </a:defRPr>
            </a:lvl7pPr>
            <a:lvl8pPr>
              <a:defRPr sz="2100" b="0">
                <a:solidFill>
                  <a:srgbClr val="D8E7E0"/>
                </a:solidFill>
                <a:latin typeface="Arial"/>
                <a:ea typeface="Arial"/>
                <a:cs typeface="Arial"/>
              </a:defRPr>
            </a:lvl8pPr>
            <a:lvl9pPr>
              <a:defRPr sz="2100" b="0">
                <a:solidFill>
                  <a:srgbClr val="D8E7E0"/>
                </a:solidFill>
                <a:latin typeface="Arial"/>
                <a:ea typeface="Arial"/>
                <a:cs typeface="Arial"/>
              </a:defRPr>
            </a:lvl9pPr>
          </a:lstStyle>
          <a:p xmlns:a="http://schemas.openxmlformats.org/drawingml/2006/main">
            <a:pPr>
              <a:defRPr sz="2100" b="0">
                <a:solidFill>
                  <a:srgbClr val="D8E7E0"/>
                </a:solidFill>
                <a:latin typeface="Arial"/>
                <a:ea typeface="Arial"/>
                <a:cs typeface="Arial"/>
              </a:defRPr>
            </a:pPr>
            <a:r>
              <a:rPr sz="2100" b="0">
                <a:solidFill>
                  <a:srgbClr val="D8E7E0"/>
                </a:solidFill>
                <a:latin typeface="Arial"/>
                <a:ea typeface="Arial"/>
                <a:cs typeface="Arial"/>
              </a:rPr>
              <a:t>Extra cost for the fictional 20 tonnes</a:t>
            </a:r>
          </a:p>
        </p:txBody>
      </p:sp>
      <p:sp>
        <p:nvSpPr>
          <p:cNvPr id="6" name="">
            <a:extLst xmlns:a="http://schemas.openxmlformats.org/drawingml/2006/main">
              <a:ext uri="{FF2B5EF4-FFF2-40B4-BE49-F238E27FC236}">
                <a16:creationId xmlns:a16="http://schemas.microsoft.com/office/drawing/2014/main" id="{CAF03CA8-4073-473A-A541-7F5D31EAA286}"/>
              </a:ext>
            </a:extLst>
          </p:cNvPr>
          <p:cNvSpPr>
            <a:spLocks xmlns:a="http://schemas.openxmlformats.org/drawingml/2006/main" noGrp="1"/>
          </p:cNvSpPr>
          <p:nvPr/>
        </p:nvSpPr>
        <p:spPr>
          <a:xfrm xmlns:a="http://schemas.openxmlformats.org/drawingml/2006/main">
            <a:off x="723900" y="3752850"/>
            <a:ext cx="5667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8CDC0"/>
                </a:solidFill>
                <a:latin typeface="Arial"/>
                <a:ea typeface="Arial"/>
                <a:cs typeface="Arial"/>
              </a:defRPr>
            </a:defPPr>
            <a:lvl1pPr>
              <a:defRPr sz="2925" b="1">
                <a:solidFill>
                  <a:srgbClr val="A8CDC0"/>
                </a:solidFill>
                <a:latin typeface="Arial"/>
                <a:ea typeface="Arial"/>
                <a:cs typeface="Arial"/>
              </a:defRPr>
            </a:lvl1pPr>
            <a:lvl2pPr>
              <a:defRPr sz="2925" b="1">
                <a:solidFill>
                  <a:srgbClr val="A8CDC0"/>
                </a:solidFill>
                <a:latin typeface="Arial"/>
                <a:ea typeface="Arial"/>
                <a:cs typeface="Arial"/>
              </a:defRPr>
            </a:lvl2pPr>
            <a:lvl3pPr>
              <a:defRPr sz="2925" b="1">
                <a:solidFill>
                  <a:srgbClr val="A8CDC0"/>
                </a:solidFill>
                <a:latin typeface="Arial"/>
                <a:ea typeface="Arial"/>
                <a:cs typeface="Arial"/>
              </a:defRPr>
            </a:lvl3pPr>
            <a:lvl4pPr>
              <a:defRPr sz="2925" b="1">
                <a:solidFill>
                  <a:srgbClr val="A8CDC0"/>
                </a:solidFill>
                <a:latin typeface="Arial"/>
                <a:ea typeface="Arial"/>
                <a:cs typeface="Arial"/>
              </a:defRPr>
            </a:lvl4pPr>
            <a:lvl5pPr>
              <a:defRPr sz="2925" b="1">
                <a:solidFill>
                  <a:srgbClr val="A8CDC0"/>
                </a:solidFill>
                <a:latin typeface="Arial"/>
                <a:ea typeface="Arial"/>
                <a:cs typeface="Arial"/>
              </a:defRPr>
            </a:lvl5pPr>
            <a:lvl6pPr>
              <a:defRPr sz="2925" b="1">
                <a:solidFill>
                  <a:srgbClr val="A8CDC0"/>
                </a:solidFill>
                <a:latin typeface="Arial"/>
                <a:ea typeface="Arial"/>
                <a:cs typeface="Arial"/>
              </a:defRPr>
            </a:lvl6pPr>
            <a:lvl7pPr>
              <a:defRPr sz="2925" b="1">
                <a:solidFill>
                  <a:srgbClr val="A8CDC0"/>
                </a:solidFill>
                <a:latin typeface="Arial"/>
                <a:ea typeface="Arial"/>
                <a:cs typeface="Arial"/>
              </a:defRPr>
            </a:lvl7pPr>
            <a:lvl8pPr>
              <a:defRPr sz="2925" b="1">
                <a:solidFill>
                  <a:srgbClr val="A8CDC0"/>
                </a:solidFill>
                <a:latin typeface="Arial"/>
                <a:ea typeface="Arial"/>
                <a:cs typeface="Arial"/>
              </a:defRPr>
            </a:lvl8pPr>
            <a:lvl9pPr>
              <a:defRPr sz="2925" b="1">
                <a:solidFill>
                  <a:srgbClr val="A8CDC0"/>
                </a:solidFill>
                <a:latin typeface="Arial"/>
                <a:ea typeface="Arial"/>
                <a:cs typeface="Arial"/>
              </a:defRPr>
            </a:lvl9pPr>
          </a:lstStyle>
          <a:p xmlns:a="http://schemas.openxmlformats.org/drawingml/2006/main">
            <a:pPr>
              <a:defRPr sz="2925" b="1">
                <a:solidFill>
                  <a:srgbClr val="A8CDC0"/>
                </a:solidFill>
                <a:latin typeface="Arial"/>
                <a:ea typeface="Arial"/>
                <a:cs typeface="Arial"/>
              </a:defRPr>
            </a:pPr>
            <a:r>
              <a:rPr sz="2925" b="1">
                <a:solidFill>
                  <a:srgbClr val="A8CDC0"/>
                </a:solidFill>
                <a:latin typeface="Arial"/>
                <a:ea typeface="Arial"/>
                <a:cs typeface="Arial"/>
              </a:rPr>
              <a:t>600,000 to 520,000</a:t>
            </a:r>
          </a:p>
        </p:txBody>
      </p:sp>
      <p:sp>
        <p:nvSpPr>
          <p:cNvPr id="7" name="">
            <a:extLst xmlns:a="http://schemas.openxmlformats.org/drawingml/2006/main">
              <a:ext uri="{FF2B5EF4-FFF2-40B4-BE49-F238E27FC236}">
                <a16:creationId xmlns:a16="http://schemas.microsoft.com/office/drawing/2014/main" id="{18768C34-4D8D-477A-BF1A-E6D03678EA2D}"/>
              </a:ext>
            </a:extLst>
          </p:cNvPr>
          <p:cNvSpPr>
            <a:spLocks xmlns:a="http://schemas.openxmlformats.org/drawingml/2006/main" noGrp="1"/>
          </p:cNvSpPr>
          <p:nvPr/>
        </p:nvSpPr>
        <p:spPr>
          <a:xfrm xmlns:a="http://schemas.openxmlformats.org/drawingml/2006/main">
            <a:off x="752475" y="4486275"/>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D8E7E0"/>
                </a:solidFill>
                <a:latin typeface="Arial"/>
                <a:ea typeface="Arial"/>
                <a:cs typeface="Arial"/>
              </a:defRPr>
            </a:defPPr>
            <a:lvl1pPr>
              <a:defRPr sz="1950" b="0">
                <a:solidFill>
                  <a:srgbClr val="D8E7E0"/>
                </a:solidFill>
                <a:latin typeface="Arial"/>
                <a:ea typeface="Arial"/>
                <a:cs typeface="Arial"/>
              </a:defRPr>
            </a:lvl1pPr>
            <a:lvl2pPr>
              <a:defRPr sz="1950" b="0">
                <a:solidFill>
                  <a:srgbClr val="D8E7E0"/>
                </a:solidFill>
                <a:latin typeface="Arial"/>
                <a:ea typeface="Arial"/>
                <a:cs typeface="Arial"/>
              </a:defRPr>
            </a:lvl2pPr>
            <a:lvl3pPr>
              <a:defRPr sz="1950" b="0">
                <a:solidFill>
                  <a:srgbClr val="D8E7E0"/>
                </a:solidFill>
                <a:latin typeface="Arial"/>
                <a:ea typeface="Arial"/>
                <a:cs typeface="Arial"/>
              </a:defRPr>
            </a:lvl3pPr>
            <a:lvl4pPr>
              <a:defRPr sz="1950" b="0">
                <a:solidFill>
                  <a:srgbClr val="D8E7E0"/>
                </a:solidFill>
                <a:latin typeface="Arial"/>
                <a:ea typeface="Arial"/>
                <a:cs typeface="Arial"/>
              </a:defRPr>
            </a:lvl4pPr>
            <a:lvl5pPr>
              <a:defRPr sz="1950" b="0">
                <a:solidFill>
                  <a:srgbClr val="D8E7E0"/>
                </a:solidFill>
                <a:latin typeface="Arial"/>
                <a:ea typeface="Arial"/>
                <a:cs typeface="Arial"/>
              </a:defRPr>
            </a:lvl5pPr>
            <a:lvl6pPr>
              <a:defRPr sz="1950" b="0">
                <a:solidFill>
                  <a:srgbClr val="D8E7E0"/>
                </a:solidFill>
                <a:latin typeface="Arial"/>
                <a:ea typeface="Arial"/>
                <a:cs typeface="Arial"/>
              </a:defRPr>
            </a:lvl6pPr>
            <a:lvl7pPr>
              <a:defRPr sz="1950" b="0">
                <a:solidFill>
                  <a:srgbClr val="D8E7E0"/>
                </a:solidFill>
                <a:latin typeface="Arial"/>
                <a:ea typeface="Arial"/>
                <a:cs typeface="Arial"/>
              </a:defRPr>
            </a:lvl7pPr>
            <a:lvl8pPr>
              <a:defRPr sz="1950" b="0">
                <a:solidFill>
                  <a:srgbClr val="D8E7E0"/>
                </a:solidFill>
                <a:latin typeface="Arial"/>
                <a:ea typeface="Arial"/>
                <a:cs typeface="Arial"/>
              </a:defRPr>
            </a:lvl8pPr>
            <a:lvl9pPr>
              <a:defRPr sz="1950" b="0">
                <a:solidFill>
                  <a:srgbClr val="D8E7E0"/>
                </a:solidFill>
                <a:latin typeface="Arial"/>
                <a:ea typeface="Arial"/>
                <a:cs typeface="Arial"/>
              </a:defRPr>
            </a:lvl9pPr>
          </a:lstStyle>
          <a:p xmlns:a="http://schemas.openxmlformats.org/drawingml/2006/main">
            <a:pPr>
              <a:defRPr sz="1950" b="0">
                <a:solidFill>
                  <a:srgbClr val="D8E7E0"/>
                </a:solidFill>
                <a:latin typeface="Arial"/>
                <a:ea typeface="Arial"/>
                <a:cs typeface="Arial"/>
              </a:defRPr>
            </a:pPr>
            <a:r>
              <a:rPr sz="1950" b="0">
                <a:solidFill>
                  <a:srgbClr val="D8E7E0"/>
                </a:solidFill>
                <a:latin typeface="Arial"/>
                <a:ea typeface="Arial"/>
                <a:cs typeface="Arial"/>
              </a:rPr>
              <a:t>Forecast cash in BDT. Recorded cash stays at 2,000,000.</a:t>
            </a:r>
          </a:p>
        </p:txBody>
      </p:sp>
      <p:pic>
        <p:nvPicPr>
          <p:cNvPr id="8" name="">
            <a:extLst xmlns:a="http://schemas.openxmlformats.org/drawingml/2006/main">
              <a:ext uri="{FF2B5EF4-FFF2-40B4-BE49-F238E27FC236}">
                <a16:creationId xmlns:a16="http://schemas.microsoft.com/office/drawing/2014/main" id="{94733104-FB88-4F8B-AFEF-3440B60068F7}"/>
              </a:ext>
            </a:extLst>
          </p:cNvPr>
          <p:cNvPicPr>
            <a:picLocks xmlns:a="http://schemas.openxmlformats.org/drawingml/2006/main" noChangeAspect="1"/>
          </p:cNvPicPr>
          <p:nvPr/>
        </p:nvPicPr>
        <p:blipFill>
          <a:blip xmlns:r="http://schemas.openxmlformats.org/officeDocument/2006/relationships" xmlns:a="http://schemas.openxmlformats.org/drawingml/2006/main" r:embed="R138af91f15ae4a40"/>
          <a:stretch xmlns:a="http://schemas.openxmlformats.org/drawingml/2006/main"/>
        </p:blipFill>
        <p:spPr>
          <a:xfrm xmlns:a="http://schemas.openxmlformats.org/drawingml/2006/main">
            <a:off x="6572250" y="2836295"/>
            <a:ext cx="4933950" cy="1566409"/>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26047EE-98DA-4D16-8EFB-E7023067F49F}"/>
              </a:ext>
            </a:extLst>
          </p:cNvPr>
          <p:cNvSpPr>
            <a:spLocks xmlns:a="http://schemas.openxmlformats.org/drawingml/2006/main" noGrp="1"/>
          </p:cNvSpPr>
          <p:nvPr/>
        </p:nvSpPr>
        <p:spPr>
          <a:xfrm xmlns:a="http://schemas.openxmlformats.org/drawingml/2006/main">
            <a:off x="752475" y="56388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8CDC0"/>
                </a:solidFill>
                <a:latin typeface="Arial"/>
                <a:ea typeface="Arial"/>
                <a:cs typeface="Arial"/>
              </a:defRPr>
            </a:defPPr>
            <a:lvl1pPr>
              <a:defRPr sz="1875" b="0">
                <a:solidFill>
                  <a:srgbClr val="A8CDC0"/>
                </a:solidFill>
                <a:latin typeface="Arial"/>
                <a:ea typeface="Arial"/>
                <a:cs typeface="Arial"/>
              </a:defRPr>
            </a:lvl1pPr>
            <a:lvl2pPr>
              <a:defRPr sz="1875" b="0">
                <a:solidFill>
                  <a:srgbClr val="A8CDC0"/>
                </a:solidFill>
                <a:latin typeface="Arial"/>
                <a:ea typeface="Arial"/>
                <a:cs typeface="Arial"/>
              </a:defRPr>
            </a:lvl2pPr>
            <a:lvl3pPr>
              <a:defRPr sz="1875" b="0">
                <a:solidFill>
                  <a:srgbClr val="A8CDC0"/>
                </a:solidFill>
                <a:latin typeface="Arial"/>
                <a:ea typeface="Arial"/>
                <a:cs typeface="Arial"/>
              </a:defRPr>
            </a:lvl3pPr>
            <a:lvl4pPr>
              <a:defRPr sz="1875" b="0">
                <a:solidFill>
                  <a:srgbClr val="A8CDC0"/>
                </a:solidFill>
                <a:latin typeface="Arial"/>
                <a:ea typeface="Arial"/>
                <a:cs typeface="Arial"/>
              </a:defRPr>
            </a:lvl4pPr>
            <a:lvl5pPr>
              <a:defRPr sz="1875" b="0">
                <a:solidFill>
                  <a:srgbClr val="A8CDC0"/>
                </a:solidFill>
                <a:latin typeface="Arial"/>
                <a:ea typeface="Arial"/>
                <a:cs typeface="Arial"/>
              </a:defRPr>
            </a:lvl5pPr>
            <a:lvl6pPr>
              <a:defRPr sz="1875" b="0">
                <a:solidFill>
                  <a:srgbClr val="A8CDC0"/>
                </a:solidFill>
                <a:latin typeface="Arial"/>
                <a:ea typeface="Arial"/>
                <a:cs typeface="Arial"/>
              </a:defRPr>
            </a:lvl6pPr>
            <a:lvl7pPr>
              <a:defRPr sz="1875" b="0">
                <a:solidFill>
                  <a:srgbClr val="A8CDC0"/>
                </a:solidFill>
                <a:latin typeface="Arial"/>
                <a:ea typeface="Arial"/>
                <a:cs typeface="Arial"/>
              </a:defRPr>
            </a:lvl7pPr>
            <a:lvl8pPr>
              <a:defRPr sz="1875" b="0">
                <a:solidFill>
                  <a:srgbClr val="A8CDC0"/>
                </a:solidFill>
                <a:latin typeface="Arial"/>
                <a:ea typeface="Arial"/>
                <a:cs typeface="Arial"/>
              </a:defRPr>
            </a:lvl8pPr>
            <a:lvl9pPr>
              <a:defRPr sz="1875" b="0">
                <a:solidFill>
                  <a:srgbClr val="A8CDC0"/>
                </a:solidFill>
                <a:latin typeface="Arial"/>
                <a:ea typeface="Arial"/>
                <a:cs typeface="Arial"/>
              </a:defRPr>
            </a:lvl9pPr>
          </a:lstStyle>
          <a:p xmlns:a="http://schemas.openxmlformats.org/drawingml/2006/main">
            <a:pPr>
              <a:defRPr sz="1875" b="0">
                <a:solidFill>
                  <a:srgbClr val="A8CDC0"/>
                </a:solidFill>
                <a:latin typeface="Arial"/>
                <a:ea typeface="Arial"/>
                <a:cs typeface="Arial"/>
              </a:defRPr>
            </a:pPr>
            <a:r>
              <a:rPr sz="1875" b="0">
                <a:solidFill>
                  <a:srgbClr val="A8CDC0"/>
                </a:solidFill>
                <a:latin typeface="Arial"/>
                <a:ea typeface="Arial"/>
                <a:cs typeface="Arial"/>
              </a:rPr>
              <a:t>More tools: quantities, contracts, installments and reviewed corrections.</a:t>
            </a:r>
          </a:p>
        </p:txBody>
      </p:sp>
    </p:spTree>
    <p:extLst>
      <p:ext uri="{BB962C8B-B14F-4D97-AF65-F5344CB8AC3E}">
        <p14:creationId xmlns:p14="http://schemas.microsoft.com/office/powerpoint/2010/main" val="1580532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2026-10-19T16:38:48.7710000Z</dcterms:created>
  <dcterms:modified xsi:type="dcterms:W3CDTF">2026-10-19T16:38:48.7710000Z</dcterms:modified>
</coreProperties>
</file>