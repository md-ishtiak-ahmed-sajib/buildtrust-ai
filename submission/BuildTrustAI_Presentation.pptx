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a72ad84ed745a1" /><Relationship Type="http://schemas.openxmlformats.org/officeDocument/2006/relationships/extended-properties" Target="/docProps/app.xml" Id="Rcffea169976445cb" /><Relationship Type="http://schemas.openxmlformats.org/officeDocument/2006/relationships/officeDocument" Target="/ppt/presentation.xml" Id="R5414801498c04938" /></Relationships>
</file>

<file path=ppt/presentation.xml><?xml version="1.0" encoding="utf-8"?>
<p:presentation xmlns:p="http://schemas.openxmlformats.org/presentationml/2006/main">
  <p:sldMasterIdLst>
    <p:sldMasterId xmlns:r="http://schemas.openxmlformats.org/officeDocument/2006/relationships" id="2147483648" r:id="Rd08a68ad9b394500"/>
  </p:sldMasterIdLst>
  <p:notesMasterIdLst>
    <p:notesMasterId xmlns:r="http://schemas.openxmlformats.org/officeDocument/2006/relationships" r:id="R3a4eb517628e4df8"/>
  </p:notesMasterIdLst>
  <p:sldIdLst>
    <p:sldId xmlns:r="http://schemas.openxmlformats.org/officeDocument/2006/relationships" id="256" r:id="R46f3a65c495d4c7a"/>
    <p:sldId xmlns:r="http://schemas.openxmlformats.org/officeDocument/2006/relationships" id="257" r:id="R30bd31effe7c4513"/>
    <p:sldId xmlns:r="http://schemas.openxmlformats.org/officeDocument/2006/relationships" id="258" r:id="Rbcb54571fdac4b50"/>
    <p:sldId xmlns:r="http://schemas.openxmlformats.org/officeDocument/2006/relationships" id="259" r:id="R7bd2f85178cd498e"/>
    <p:sldId xmlns:r="http://schemas.openxmlformats.org/officeDocument/2006/relationships" id="260" r:id="R6e1b638eb6d14bd4"/>
    <p:sldId xmlns:r="http://schemas.openxmlformats.org/officeDocument/2006/relationships" id="261" r:id="R93c02ed9b7ef497d"/>
    <p:sldId xmlns:r="http://schemas.openxmlformats.org/officeDocument/2006/relationships" id="262" r:id="Rdb27284808284067"/>
    <p:sldId xmlns:r="http://schemas.openxmlformats.org/officeDocument/2006/relationships" id="263" r:id="R7f971e46865b43f5"/>
    <p:sldId xmlns:r="http://schemas.openxmlformats.org/officeDocument/2006/relationships" id="264" r:id="R1176cafe59ee47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d83d188cb54535" /><Relationship Type="http://schemas.openxmlformats.org/officeDocument/2006/relationships/slideMaster" Target="/ppt/slideMasters/slideMaster1.xml" Id="Rd08a68ad9b394500" /><Relationship Type="http://schemas.openxmlformats.org/officeDocument/2006/relationships/notesMaster" Target="/ppt/notesMasters/notesMaster1.xml" Id="R3a4eb517628e4df8" /><Relationship Type="http://schemas.openxmlformats.org/officeDocument/2006/relationships/presProps" Target="/ppt/presProps.xml" Id="R442a60a4d5b947ec" /><Relationship Type="http://schemas.openxmlformats.org/officeDocument/2006/relationships/tableStyles" Target="/ppt/tableStyles.xml" Id="R7ae48909498143ac" /><Relationship Type="http://schemas.openxmlformats.org/officeDocument/2006/relationships/slide" Target="/ppt/slides/slide1.xml" Id="R46f3a65c495d4c7a" /><Relationship Type="http://schemas.openxmlformats.org/officeDocument/2006/relationships/slide" Target="/ppt/slides/slide2.xml" Id="R30bd31effe7c4513" /><Relationship Type="http://schemas.openxmlformats.org/officeDocument/2006/relationships/slide" Target="/ppt/slides/slide3.xml" Id="Rbcb54571fdac4b50" /><Relationship Type="http://schemas.openxmlformats.org/officeDocument/2006/relationships/slide" Target="/ppt/slides/slide4.xml" Id="R7bd2f85178cd498e" /><Relationship Type="http://schemas.openxmlformats.org/officeDocument/2006/relationships/slide" Target="/ppt/slides/slide5.xml" Id="R6e1b638eb6d14bd4" /><Relationship Type="http://schemas.openxmlformats.org/officeDocument/2006/relationships/slide" Target="/ppt/slides/slide6.xml" Id="R93c02ed9b7ef497d" /><Relationship Type="http://schemas.openxmlformats.org/officeDocument/2006/relationships/slide" Target="/ppt/slides/slide7.xml" Id="Rdb27284808284067" /><Relationship Type="http://schemas.openxmlformats.org/officeDocument/2006/relationships/slide" Target="/ppt/slides/slide8.xml" Id="R7f971e46865b43f5" /><Relationship Type="http://schemas.openxmlformats.org/officeDocument/2006/relationships/slide" Target="/ppt/slides/slide9.xml" Id="R1176cafe59ee47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6445ec21db49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50981b87684c03" /><Relationship Type="http://schemas.openxmlformats.org/officeDocument/2006/relationships/notesMaster" Target="/ppt/notesMasters/notesMaster1.xml" Id="R10b4c6654f7e4cf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f8dfc8a4974917" /><Relationship Type="http://schemas.openxmlformats.org/officeDocument/2006/relationships/notesMaster" Target="/ppt/notesMasters/notesMaster1.xml" Id="Rf712049bc6534f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4231ba44dce44714" /><Relationship Type="http://schemas.openxmlformats.org/officeDocument/2006/relationships/notesMaster" Target="/ppt/notesMasters/notesMaster1.xml" Id="Rcd21aa2d31ea49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bb3dd237c044a5" /><Relationship Type="http://schemas.openxmlformats.org/officeDocument/2006/relationships/notesMaster" Target="/ppt/notesMasters/notesMaster1.xml" Id="R974bc2765ae745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4c572e17d24a9c" /><Relationship Type="http://schemas.openxmlformats.org/officeDocument/2006/relationships/notesMaster" Target="/ppt/notesMasters/notesMaster1.xml" Id="R73e2d7143f4c46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f2f9c542b14894" /><Relationship Type="http://schemas.openxmlformats.org/officeDocument/2006/relationships/notesMaster" Target="/ppt/notesMasters/notesMaster1.xml" Id="Re4712f5237f746c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cb01563d0e4af5" /><Relationship Type="http://schemas.openxmlformats.org/officeDocument/2006/relationships/notesMaster" Target="/ppt/notesMasters/notesMaster1.xml" Id="R16bf82ecf0f6409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e735e71bc24f81" /><Relationship Type="http://schemas.openxmlformats.org/officeDocument/2006/relationships/notesMaster" Target="/ppt/notesMasters/notesMaster1.xml" Id="R3f07970c19134f1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28589ff19e45ba" /><Relationship Type="http://schemas.openxmlformats.org/officeDocument/2006/relationships/notesMaster" Target="/ppt/notesMasters/notesMaster1.xml" Id="R7f43288a2ecd45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Introduce the construction SME problem and the exact product boundary. BuildTrust AI performs real local document, finance, authorization and ledger operations. All settlement is simulated. Source: prompt/prompt.md and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A BOQ establishes scope, a PO records contracted supply, a GRN certifies accepted delivery, and an invoice states the supplier claim. Neither estimates nor an invoice alone establish entitlement. This is the business problem; do not invent market-size or loss statistics. Source: prompt/prompt.md; demo/fixtures/scenario-a-inflated.pdf. The pictured record is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1:30–2:20. Two independent tests are required: is the supplier entitled to the claimed amount, and can the company preserve its cash reserve? The stress project has BDT 150,000 and a valid BDT 70,000 claim, leaving BDT 80,000 versus a BDT 100,000 reserve. The screenshot is a separate actual browser test run. Sources: submission/execution-evidence/scenario-e.json and screenshots/05-cashflow.png.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2:20–3:15. Explain the actual persisted workflow. Intake and extraction read actual files; matching, risk and cash flow invoke deterministic services; a successful workflow prepares and reserves a proposal and pauses for a different human. Execution occurs only via an explicit authenticated API action. Audit evidence records each transition. Sources: backend/app/workflow.py; technical-documentation.md; actual scenario A/B workflow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3:15–4:10. The UI calls FastAPI with database-enforced identity and project access. The persisted state machine invokes deterministic engines. Approval and execution are separate human actions. SQLite commits payment, cash, subledger and success audit evidence atomically. Optional Ollama prose has no payment credentials or write tools. The diagram consists of editable native slide objects. Source: docs/architecture.mmd and actual backend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4:10–5:30. Walk through Scenario A. BOQ, PO and accepted delivery each support 80 tonnes; invoice claims 95 tonnes at BDT 70,000/tonne. Supported amount is 5,600,000; claim is 6,650,000; excess is 1,050,000 and 18.75%. Deterministic blocking findings prevent preparation/settlement. The screenshot comes from an actual UI run, and the separate HTTP evidence reproduces the same amounts. Source: submission/execution-evidence/scenario-a.json; screenshots/02-inflated-invoice.png.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5:30–6:40. A separate compliant cement invoice passes all checks. Operator prepares; a different Finance Manager approves BDT 70,000; a human explicitly confirms simulated execution. Cash changes from 1,000,000 to 930,000 once. Scenario H retries the exact execution and returns the same receipt with one deduction. Screenshot and HTTP evidence are separate runs; their unique mock references are expected to differ. Sources: scenario-b.json, scenario-h.json, and screenshots/04-mock-receipt.png.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6:40–7:50. Permission tiers, project access, independent approval, exact snapshots, current cash checks, receipt allocations and mandatory idempotency are implemented. Report only executed counts: 191 backend tests, 8 frontend tests, 16 browser workflows and 8 HTTP scenarios. Fresh Windows installation also passed. The audit chain is local tamper evidence; unrestricted DB administrators could rewrite it. Sources: docs/test-results.md, execution-evidence logs, clean-install.json, scenario manifests, and security-self-assessment.md.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7:50–8:50. Show the fictional estimate example: 20 tonnes at 70,000 increases to 74,000 per tonne. Cost increases by 80,000, the scheduled forecast falls from 600,000 to 520,000, and recorded cash remains 2,000,000. Explain component mapping, separately reviewed certificates and corrections, and protected PO amendments. Actual browser and API evidence support these workflows. Paid provider acceptance, representative Bengali documents, professional rule approval, platform checks and team submission remain external gates. Sources: docs/completion-verification.md; screenshots/upgrade-price-comparison.png; execution-evidence/verification-summary.json.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7c890e9e3b4c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1fb334ee224a9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471804b8bf4b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753f6d6c73b4c1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6bac06a0fc4a0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4831781d1e4c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8DDAB3-124A-4442-9595-DD55FB38FCC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55DA66-92BD-47CF-AF49-28DE7E06478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CE75E5F-148E-4100-800F-1CE380688E8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15FD9F-D152-4717-A703-CC620FFCAC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738D53-CCDE-46B5-A2A8-4965300F95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9A9929F-A605-43BD-9ECC-CD8A46A11F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D0FE47-D5CE-4A17-BBBB-12085F9221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48899F8-41CE-4F74-B45E-D199339CA54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190FAA-7761-49E7-901B-DFB7F4B6B7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2FB4BA-1749-4919-B2AA-82461B28AEF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d33ae1e19f4cf1" /><Relationship Type="http://schemas.openxmlformats.org/officeDocument/2006/relationships/slideLayout" Target="/ppt/slideLayouts/slideLayout1.xml" Id="Re6ab2b6dd65042ac" /><Relationship Type="http://schemas.openxmlformats.org/officeDocument/2006/relationships/slideLayout" Target="/ppt/slideLayouts/slideLayout2.xml" Id="R16a26a67a1d0467b" /><Relationship Type="http://schemas.openxmlformats.org/officeDocument/2006/relationships/slideLayout" Target="/ppt/slideLayouts/slideLayout3.xml" Id="Rbc0b5a48117d44f2" /><Relationship Type="http://schemas.openxmlformats.org/officeDocument/2006/relationships/slideLayout" Target="/ppt/slideLayouts/slideLayout4.xml" Id="R527ea52913a141d3" /><Relationship Type="http://schemas.openxmlformats.org/officeDocument/2006/relationships/slideLayout" Target="/ppt/slideLayouts/slideLayout5.xml" Id="Re9fa841d150f47d9" /><Relationship Type="http://schemas.openxmlformats.org/officeDocument/2006/relationships/slideLayout" Target="/ppt/slideLayouts/slideLayout6.xml" Id="R1691dfbd69e24f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ab2b6dd65042ac"/>
    <p:sldLayoutId xmlns:r="http://schemas.openxmlformats.org/officeDocument/2006/relationships" id="2147483650" r:id="R16a26a67a1d0467b"/>
    <p:sldLayoutId xmlns:r="http://schemas.openxmlformats.org/officeDocument/2006/relationships" id="2147483651" r:id="Rbc0b5a48117d44f2"/>
    <p:sldLayoutId xmlns:r="http://schemas.openxmlformats.org/officeDocument/2006/relationships" id="2147483652" r:id="R527ea52913a141d3"/>
    <p:sldLayoutId xmlns:r="http://schemas.openxmlformats.org/officeDocument/2006/relationships" id="2147483653" r:id="Re9fa841d150f47d9"/>
    <p:sldLayoutId xmlns:r="http://schemas.openxmlformats.org/officeDocument/2006/relationships" id="2147483654" r:id="R1691dfbd69e24f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458ac1818e44dc0" /><Relationship Type="http://schemas.openxmlformats.org/officeDocument/2006/relationships/notesSlide" Target="/ppt/notesSlides/notesSlide1.xml" Id="R2e39bc17aa1e46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a00b65becbc4976" /><Relationship Type="http://schemas.openxmlformats.org/officeDocument/2006/relationships/image" Target="/ppt/media/image.png" Id="R418b003ba5df48e1" /><Relationship Type="http://schemas.openxmlformats.org/officeDocument/2006/relationships/notesSlide" Target="/ppt/notesSlides/notesSlide2.xml" Id="Racf7113be6da4d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552b45cf0e466e" /><Relationship Type="http://schemas.openxmlformats.org/officeDocument/2006/relationships/image" Target="/ppt/media/image2.png" Id="Rb1117c1d625f4695" /><Relationship Type="http://schemas.openxmlformats.org/officeDocument/2006/relationships/notesSlide" Target="/ppt/notesSlides/notesSlide3.xml" Id="R5746621c2b7b4bf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1ecec849984e8a" /><Relationship Type="http://schemas.openxmlformats.org/officeDocument/2006/relationships/notesSlide" Target="/ppt/notesSlides/notesSlide4.xml" Id="R6b254f1545b5414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6f0c39717d4b2e" /><Relationship Type="http://schemas.openxmlformats.org/officeDocument/2006/relationships/notesSlide" Target="/ppt/notesSlides/notesSlide5.xml" Id="R311d6b8d494d461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43d4d1f25f441ce" /><Relationship Type="http://schemas.openxmlformats.org/officeDocument/2006/relationships/image" Target="/ppt/media/image3.png" Id="R6808a87a8ce94479" /><Relationship Type="http://schemas.openxmlformats.org/officeDocument/2006/relationships/notesSlide" Target="/ppt/notesSlides/notesSlide6.xml" Id="R03ce5d9906a047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fee0656675a4863" /><Relationship Type="http://schemas.openxmlformats.org/officeDocument/2006/relationships/image" Target="/ppt/media/image4.png" Id="R35be621c10134199" /><Relationship Type="http://schemas.openxmlformats.org/officeDocument/2006/relationships/notesSlide" Target="/ppt/notesSlides/notesSlide7.xml" Id="Rd51e6c90eb354fb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155c1616bf64353" /><Relationship Type="http://schemas.openxmlformats.org/officeDocument/2006/relationships/notesSlide" Target="/ppt/notesSlides/notesSlide8.xml" Id="Rda2bf5870b3340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f7c8fbafce4497" /><Relationship Type="http://schemas.openxmlformats.org/officeDocument/2006/relationships/image" Target="/ppt/media/image5.png" Id="R3503b8767e6f4dd6" /><Relationship Type="http://schemas.openxmlformats.org/officeDocument/2006/relationships/notesSlide" Target="/ppt/notesSlides/notesSlide9.xml" Id="Rafa01e0b48d24a2e" /></Relationships>
</file>

<file path=ppt/slides/slide1.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BE55FA-3321-42D8-929F-345633AAF0ED}"/>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2" name="">
            <a:extLst xmlns:a="http://schemas.openxmlformats.org/drawingml/2006/main">
              <a:ext uri="{FF2B5EF4-FFF2-40B4-BE49-F238E27FC236}">
                <a16:creationId xmlns:a16="http://schemas.microsoft.com/office/drawing/2014/main" id="{952D755D-9327-4A82-BC4C-11E93EFF1960}"/>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5D307183-C7A0-4C1E-A3D7-146F7B51322B}"/>
              </a:ext>
            </a:extLst>
          </p:cNvPr>
          <p:cNvSpPr>
            <a:spLocks xmlns:a="http://schemas.openxmlformats.org/drawingml/2006/main" noGrp="1"/>
          </p:cNvSpPr>
          <p:nvPr/>
        </p:nvSpPr>
        <p:spPr>
          <a:xfrm xmlns:a="http://schemas.openxmlformats.org/drawingml/2006/main">
            <a:off x="685800" y="1400175"/>
            <a:ext cx="10096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FFFFFF"/>
                </a:solidFill>
                <a:latin typeface="Arial"/>
                <a:ea typeface="Arial"/>
                <a:cs typeface="Arial"/>
              </a:defRPr>
            </a:defPPr>
            <a:lvl1pPr>
              <a:defRPr sz="6000" b="1">
                <a:solidFill>
                  <a:srgbClr val="FFFFFF"/>
                </a:solidFill>
                <a:latin typeface="Arial"/>
                <a:ea typeface="Arial"/>
                <a:cs typeface="Arial"/>
              </a:defRPr>
            </a:lvl1pPr>
            <a:lvl2pPr>
              <a:defRPr sz="6000" b="1">
                <a:solidFill>
                  <a:srgbClr val="FFFFFF"/>
                </a:solidFill>
                <a:latin typeface="Arial"/>
                <a:ea typeface="Arial"/>
                <a:cs typeface="Arial"/>
              </a:defRPr>
            </a:lvl2pPr>
            <a:lvl3pPr>
              <a:defRPr sz="6000" b="1">
                <a:solidFill>
                  <a:srgbClr val="FFFFFF"/>
                </a:solidFill>
                <a:latin typeface="Arial"/>
                <a:ea typeface="Arial"/>
                <a:cs typeface="Arial"/>
              </a:defRPr>
            </a:lvl3pPr>
            <a:lvl4pPr>
              <a:defRPr sz="6000" b="1">
                <a:solidFill>
                  <a:srgbClr val="FFFFFF"/>
                </a:solidFill>
                <a:latin typeface="Arial"/>
                <a:ea typeface="Arial"/>
                <a:cs typeface="Arial"/>
              </a:defRPr>
            </a:lvl4pPr>
            <a:lvl5pPr>
              <a:defRPr sz="6000" b="1">
                <a:solidFill>
                  <a:srgbClr val="FFFFFF"/>
                </a:solidFill>
                <a:latin typeface="Arial"/>
                <a:ea typeface="Arial"/>
                <a:cs typeface="Arial"/>
              </a:defRPr>
            </a:lvl5pPr>
            <a:lvl6pPr>
              <a:defRPr sz="6000" b="1">
                <a:solidFill>
                  <a:srgbClr val="FFFFFF"/>
                </a:solidFill>
                <a:latin typeface="Arial"/>
                <a:ea typeface="Arial"/>
                <a:cs typeface="Arial"/>
              </a:defRPr>
            </a:lvl6pPr>
            <a:lvl7pPr>
              <a:defRPr sz="6000" b="1">
                <a:solidFill>
                  <a:srgbClr val="FFFFFF"/>
                </a:solidFill>
                <a:latin typeface="Arial"/>
                <a:ea typeface="Arial"/>
                <a:cs typeface="Arial"/>
              </a:defRPr>
            </a:lvl7pPr>
            <a:lvl8pPr>
              <a:defRPr sz="6000" b="1">
                <a:solidFill>
                  <a:srgbClr val="FFFFFF"/>
                </a:solidFill>
                <a:latin typeface="Arial"/>
                <a:ea typeface="Arial"/>
                <a:cs typeface="Arial"/>
              </a:defRPr>
            </a:lvl8pPr>
            <a:lvl9pPr>
              <a:defRPr sz="6000" b="1">
                <a:solidFill>
                  <a:srgbClr val="FFFFFF"/>
                </a:solidFill>
                <a:latin typeface="Arial"/>
                <a:ea typeface="Arial"/>
                <a:cs typeface="Arial"/>
              </a:defRPr>
            </a:lvl9pPr>
          </a:lstStyle>
          <a:p xmlns:a="http://schemas.openxmlformats.org/drawingml/2006/main">
            <a:pPr>
              <a:defRPr sz="6000" b="1">
                <a:solidFill>
                  <a:srgbClr val="FFFFFF"/>
                </a:solidFill>
                <a:latin typeface="Arial"/>
                <a:ea typeface="Arial"/>
                <a:cs typeface="Arial"/>
              </a:defRPr>
            </a:pPr>
            <a:r>
              <a:rPr sz="6000" b="1">
                <a:solidFill>
                  <a:srgbClr val="FFFFFF"/>
                </a:solidFill>
                <a:latin typeface="Arial"/>
                <a:ea typeface="Arial"/>
                <a:cs typeface="Arial"/>
              </a:rPr>
              <a:t>BuildTrust AI</a:t>
            </a:r>
          </a:p>
        </p:txBody>
      </p:sp>
      <p:sp>
        <p:nvSpPr>
          <p:cNvPr id="4" name="">
            <a:extLst xmlns:a="http://schemas.openxmlformats.org/drawingml/2006/main">
              <a:ext uri="{FF2B5EF4-FFF2-40B4-BE49-F238E27FC236}">
                <a16:creationId xmlns:a16="http://schemas.microsoft.com/office/drawing/2014/main" id="{460F9788-8291-4F76-828B-887EFD7EFE3F}"/>
              </a:ext>
            </a:extLst>
          </p:cNvPr>
          <p:cNvSpPr>
            <a:spLocks xmlns:a="http://schemas.openxmlformats.org/drawingml/2006/main" noGrp="1"/>
          </p:cNvSpPr>
          <p:nvPr/>
        </p:nvSpPr>
        <p:spPr>
          <a:xfrm xmlns:a="http://schemas.openxmlformats.org/drawingml/2006/main">
            <a:off x="723900" y="2667000"/>
            <a:ext cx="1028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E2ECE7"/>
                </a:solidFill>
                <a:latin typeface="Arial"/>
                <a:ea typeface="Arial"/>
                <a:cs typeface="Arial"/>
              </a:defRPr>
            </a:defPPr>
            <a:lvl1pPr>
              <a:defRPr sz="3300" b="0">
                <a:solidFill>
                  <a:srgbClr val="E2ECE7"/>
                </a:solidFill>
                <a:latin typeface="Arial"/>
                <a:ea typeface="Arial"/>
                <a:cs typeface="Arial"/>
              </a:defRPr>
            </a:lvl1pPr>
            <a:lvl2pPr>
              <a:defRPr sz="3300" b="0">
                <a:solidFill>
                  <a:srgbClr val="E2ECE7"/>
                </a:solidFill>
                <a:latin typeface="Arial"/>
                <a:ea typeface="Arial"/>
                <a:cs typeface="Arial"/>
              </a:defRPr>
            </a:lvl2pPr>
            <a:lvl3pPr>
              <a:defRPr sz="3300" b="0">
                <a:solidFill>
                  <a:srgbClr val="E2ECE7"/>
                </a:solidFill>
                <a:latin typeface="Arial"/>
                <a:ea typeface="Arial"/>
                <a:cs typeface="Arial"/>
              </a:defRPr>
            </a:lvl3pPr>
            <a:lvl4pPr>
              <a:defRPr sz="3300" b="0">
                <a:solidFill>
                  <a:srgbClr val="E2ECE7"/>
                </a:solidFill>
                <a:latin typeface="Arial"/>
                <a:ea typeface="Arial"/>
                <a:cs typeface="Arial"/>
              </a:defRPr>
            </a:lvl4pPr>
            <a:lvl5pPr>
              <a:defRPr sz="3300" b="0">
                <a:solidFill>
                  <a:srgbClr val="E2ECE7"/>
                </a:solidFill>
                <a:latin typeface="Arial"/>
                <a:ea typeface="Arial"/>
                <a:cs typeface="Arial"/>
              </a:defRPr>
            </a:lvl5pPr>
            <a:lvl6pPr>
              <a:defRPr sz="3300" b="0">
                <a:solidFill>
                  <a:srgbClr val="E2ECE7"/>
                </a:solidFill>
                <a:latin typeface="Arial"/>
                <a:ea typeface="Arial"/>
                <a:cs typeface="Arial"/>
              </a:defRPr>
            </a:lvl6pPr>
            <a:lvl7pPr>
              <a:defRPr sz="3300" b="0">
                <a:solidFill>
                  <a:srgbClr val="E2ECE7"/>
                </a:solidFill>
                <a:latin typeface="Arial"/>
                <a:ea typeface="Arial"/>
                <a:cs typeface="Arial"/>
              </a:defRPr>
            </a:lvl7pPr>
            <a:lvl8pPr>
              <a:defRPr sz="3300" b="0">
                <a:solidFill>
                  <a:srgbClr val="E2ECE7"/>
                </a:solidFill>
                <a:latin typeface="Arial"/>
                <a:ea typeface="Arial"/>
                <a:cs typeface="Arial"/>
              </a:defRPr>
            </a:lvl8pPr>
            <a:lvl9pPr>
              <a:defRPr sz="3300" b="0">
                <a:solidFill>
                  <a:srgbClr val="E2ECE7"/>
                </a:solidFill>
                <a:latin typeface="Arial"/>
                <a:ea typeface="Arial"/>
                <a:cs typeface="Arial"/>
              </a:defRPr>
            </a:lvl9pPr>
          </a:lstStyle>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An autonomous construction</a:t>
            </a:r>
          </a:p>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finance copilot</a:t>
            </a:r>
          </a:p>
        </p:txBody>
      </p:sp>
      <p:sp>
        <p:nvSpPr>
          <p:cNvPr id="5" name="">
            <a:extLst xmlns:a="http://schemas.openxmlformats.org/drawingml/2006/main">
              <a:ext uri="{FF2B5EF4-FFF2-40B4-BE49-F238E27FC236}">
                <a16:creationId xmlns:a16="http://schemas.microsoft.com/office/drawing/2014/main" id="{ABE693D1-6879-4A78-90BD-D40179ACB657}"/>
              </a:ext>
            </a:extLst>
          </p:cNvPr>
          <p:cNvSpPr>
            <a:spLocks xmlns:a="http://schemas.openxmlformats.org/drawingml/2006/main" noGrp="1"/>
          </p:cNvSpPr>
          <p:nvPr/>
        </p:nvSpPr>
        <p:spPr>
          <a:xfrm xmlns:a="http://schemas.openxmlformats.org/drawingml/2006/main">
            <a:off x="742950" y="4524375"/>
            <a:ext cx="971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8CDC0"/>
                </a:solidFill>
                <a:latin typeface="Arial"/>
                <a:ea typeface="Arial"/>
                <a:cs typeface="Arial"/>
              </a:defRPr>
            </a:defPPr>
            <a:lvl1pPr>
              <a:defRPr sz="2025" b="0">
                <a:solidFill>
                  <a:srgbClr val="A8CDC0"/>
                </a:solidFill>
                <a:latin typeface="Arial"/>
                <a:ea typeface="Arial"/>
                <a:cs typeface="Arial"/>
              </a:defRPr>
            </a:lvl1pPr>
            <a:lvl2pPr>
              <a:defRPr sz="2025" b="0">
                <a:solidFill>
                  <a:srgbClr val="A8CDC0"/>
                </a:solidFill>
                <a:latin typeface="Arial"/>
                <a:ea typeface="Arial"/>
                <a:cs typeface="Arial"/>
              </a:defRPr>
            </a:lvl2pPr>
            <a:lvl3pPr>
              <a:defRPr sz="2025" b="0">
                <a:solidFill>
                  <a:srgbClr val="A8CDC0"/>
                </a:solidFill>
                <a:latin typeface="Arial"/>
                <a:ea typeface="Arial"/>
                <a:cs typeface="Arial"/>
              </a:defRPr>
            </a:lvl3pPr>
            <a:lvl4pPr>
              <a:defRPr sz="2025" b="0">
                <a:solidFill>
                  <a:srgbClr val="A8CDC0"/>
                </a:solidFill>
                <a:latin typeface="Arial"/>
                <a:ea typeface="Arial"/>
                <a:cs typeface="Arial"/>
              </a:defRPr>
            </a:lvl4pPr>
            <a:lvl5pPr>
              <a:defRPr sz="2025" b="0">
                <a:solidFill>
                  <a:srgbClr val="A8CDC0"/>
                </a:solidFill>
                <a:latin typeface="Arial"/>
                <a:ea typeface="Arial"/>
                <a:cs typeface="Arial"/>
              </a:defRPr>
            </a:lvl5pPr>
            <a:lvl6pPr>
              <a:defRPr sz="2025" b="0">
                <a:solidFill>
                  <a:srgbClr val="A8CDC0"/>
                </a:solidFill>
                <a:latin typeface="Arial"/>
                <a:ea typeface="Arial"/>
                <a:cs typeface="Arial"/>
              </a:defRPr>
            </a:lvl6pPr>
            <a:lvl7pPr>
              <a:defRPr sz="2025" b="0">
                <a:solidFill>
                  <a:srgbClr val="A8CDC0"/>
                </a:solidFill>
                <a:latin typeface="Arial"/>
                <a:ea typeface="Arial"/>
                <a:cs typeface="Arial"/>
              </a:defRPr>
            </a:lvl7pPr>
            <a:lvl8pPr>
              <a:defRPr sz="2025" b="0">
                <a:solidFill>
                  <a:srgbClr val="A8CDC0"/>
                </a:solidFill>
                <a:latin typeface="Arial"/>
                <a:ea typeface="Arial"/>
                <a:cs typeface="Arial"/>
              </a:defRPr>
            </a:lvl8pPr>
            <a:lvl9pPr>
              <a:defRPr sz="2025" b="0">
                <a:solidFill>
                  <a:srgbClr val="A8CDC0"/>
                </a:solidFill>
                <a:latin typeface="Arial"/>
                <a:ea typeface="Arial"/>
                <a:cs typeface="Arial"/>
              </a:defRPr>
            </a:lvl9pPr>
          </a:lstStyle>
          <a:p xmlns:a="http://schemas.openxmlformats.org/drawingml/2006/main">
            <a:pPr>
              <a:defRPr sz="2025" b="0">
                <a:solidFill>
                  <a:srgbClr val="A8CDC0"/>
                </a:solidFill>
                <a:latin typeface="Arial"/>
                <a:ea typeface="Arial"/>
                <a:cs typeface="Arial"/>
              </a:defRPr>
            </a:pPr>
            <a:r>
              <a:rPr sz="2025" b="0">
                <a:solidFill>
                  <a:srgbClr val="A8CDC0"/>
                </a:solidFill>
                <a:latin typeface="Arial"/>
                <a:ea typeface="Arial"/>
                <a:cs typeface="Arial"/>
              </a:rPr>
              <a:t>From Construction Documents to Secure Financial Decisions.</a:t>
            </a:r>
          </a:p>
        </p:txBody>
      </p:sp>
      <p:sp>
        <p:nvSpPr>
          <p:cNvPr id="6" name="">
            <a:extLst xmlns:a="http://schemas.openxmlformats.org/drawingml/2006/main">
              <a:ext uri="{FF2B5EF4-FFF2-40B4-BE49-F238E27FC236}">
                <a16:creationId xmlns:a16="http://schemas.microsoft.com/office/drawing/2014/main" id="{4C56B03E-28A9-404A-B76D-3C9DC09FD205}"/>
              </a:ext>
            </a:extLst>
          </p:cNvPr>
          <p:cNvSpPr>
            <a:spLocks xmlns:a="http://schemas.openxmlformats.org/drawingml/2006/main" noGrp="1"/>
          </p:cNvSpPr>
          <p:nvPr/>
        </p:nvSpPr>
        <p:spPr>
          <a:xfrm xmlns:a="http://schemas.openxmlformats.org/drawingml/2006/main">
            <a:off x="742950" y="55435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DD1C9"/>
                </a:solidFill>
                <a:latin typeface="Arial"/>
                <a:ea typeface="Arial"/>
                <a:cs typeface="Arial"/>
              </a:defRPr>
            </a:defPPr>
            <a:lvl1pPr>
              <a:defRPr sz="1725" b="0">
                <a:solidFill>
                  <a:srgbClr val="BDD1C9"/>
                </a:solidFill>
                <a:latin typeface="Arial"/>
                <a:ea typeface="Arial"/>
                <a:cs typeface="Arial"/>
              </a:defRPr>
            </a:lvl1pPr>
            <a:lvl2pPr>
              <a:defRPr sz="1725" b="0">
                <a:solidFill>
                  <a:srgbClr val="BDD1C9"/>
                </a:solidFill>
                <a:latin typeface="Arial"/>
                <a:ea typeface="Arial"/>
                <a:cs typeface="Arial"/>
              </a:defRPr>
            </a:lvl2pPr>
            <a:lvl3pPr>
              <a:defRPr sz="1725" b="0">
                <a:solidFill>
                  <a:srgbClr val="BDD1C9"/>
                </a:solidFill>
                <a:latin typeface="Arial"/>
                <a:ea typeface="Arial"/>
                <a:cs typeface="Arial"/>
              </a:defRPr>
            </a:lvl3pPr>
            <a:lvl4pPr>
              <a:defRPr sz="1725" b="0">
                <a:solidFill>
                  <a:srgbClr val="BDD1C9"/>
                </a:solidFill>
                <a:latin typeface="Arial"/>
                <a:ea typeface="Arial"/>
                <a:cs typeface="Arial"/>
              </a:defRPr>
            </a:lvl4pPr>
            <a:lvl5pPr>
              <a:defRPr sz="1725" b="0">
                <a:solidFill>
                  <a:srgbClr val="BDD1C9"/>
                </a:solidFill>
                <a:latin typeface="Arial"/>
                <a:ea typeface="Arial"/>
                <a:cs typeface="Arial"/>
              </a:defRPr>
            </a:lvl5pPr>
            <a:lvl6pPr>
              <a:defRPr sz="1725" b="0">
                <a:solidFill>
                  <a:srgbClr val="BDD1C9"/>
                </a:solidFill>
                <a:latin typeface="Arial"/>
                <a:ea typeface="Arial"/>
                <a:cs typeface="Arial"/>
              </a:defRPr>
            </a:lvl6pPr>
            <a:lvl7pPr>
              <a:defRPr sz="1725" b="0">
                <a:solidFill>
                  <a:srgbClr val="BDD1C9"/>
                </a:solidFill>
                <a:latin typeface="Arial"/>
                <a:ea typeface="Arial"/>
                <a:cs typeface="Arial"/>
              </a:defRPr>
            </a:lvl7pPr>
            <a:lvl8pPr>
              <a:defRPr sz="1725" b="0">
                <a:solidFill>
                  <a:srgbClr val="BDD1C9"/>
                </a:solidFill>
                <a:latin typeface="Arial"/>
                <a:ea typeface="Arial"/>
                <a:cs typeface="Arial"/>
              </a:defRPr>
            </a:lvl8pPr>
            <a:lvl9pPr>
              <a:defRPr sz="1725" b="0">
                <a:solidFill>
                  <a:srgbClr val="BDD1C9"/>
                </a:solidFill>
                <a:latin typeface="Arial"/>
                <a:ea typeface="Arial"/>
                <a:cs typeface="Arial"/>
              </a:defRPr>
            </a:lvl9pPr>
          </a:lstStyle>
          <a:p xmlns:a="http://schemas.openxmlformats.org/drawingml/2006/main">
            <a:pPr>
              <a:defRPr sz="1725" b="0">
                <a:solidFill>
                  <a:srgbClr val="BDD1C9"/>
                </a:solidFill>
                <a:latin typeface="Arial"/>
                <a:ea typeface="Arial"/>
                <a:cs typeface="Arial"/>
              </a:defRPr>
            </a:pPr>
            <a:r>
              <a:rPr sz="1725" b="0">
                <a:solidFill>
                  <a:srgbClr val="BDD1C9"/>
                </a:solidFill>
                <a:latin typeface="Arial"/>
                <a:ea typeface="Arial"/>
                <a:cs typeface="Arial"/>
              </a:rPr>
              <a:t>2026 Shenzhen FinTechathon  ·  International Track  ·  Topic E</a:t>
            </a:r>
          </a:p>
        </p:txBody>
      </p:sp>
    </p:spTree>
    <p:extLst>
      <p:ext uri="{BB962C8B-B14F-4D97-AF65-F5344CB8AC3E}">
        <p14:creationId xmlns:p14="http://schemas.microsoft.com/office/powerpoint/2010/main" val="442195914"/>
      </p:ext>
    </p:extLst>
  </p:cSld>
</p:sld>
</file>

<file path=ppt/slides/slide2.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B9C7F1-483A-4775-B9C4-7F98D83291A1}"/>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The construction payment problem</a:t>
            </a:r>
          </a:p>
        </p:txBody>
      </p:sp>
      <p:sp>
        <p:nvSpPr>
          <p:cNvPr id="2" name="">
            <a:extLst xmlns:a="http://schemas.openxmlformats.org/drawingml/2006/main">
              <a:ext uri="{FF2B5EF4-FFF2-40B4-BE49-F238E27FC236}">
                <a16:creationId xmlns:a16="http://schemas.microsoft.com/office/drawing/2014/main" id="{9E979C27-FC66-4397-ABDF-3542BE3A88C5}"/>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A43FA7D3-09AF-4678-AF82-BF642ACEA77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4F4A043C-B21E-41E3-81A9-357FC3A94A81}"/>
              </a:ext>
            </a:extLst>
          </p:cNvPr>
          <p:cNvSpPr>
            <a:spLocks xmlns:a="http://schemas.openxmlformats.org/drawingml/2006/main" noGrp="1"/>
          </p:cNvSpPr>
          <p:nvPr/>
        </p:nvSpPr>
        <p:spPr>
          <a:xfrm xmlns:a="http://schemas.openxmlformats.org/drawingml/2006/main">
            <a:off x="685800" y="1866900"/>
            <a:ext cx="581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9343F"/>
                </a:solidFill>
                <a:latin typeface="Arial"/>
                <a:ea typeface="Arial"/>
                <a:cs typeface="Arial"/>
              </a:defRPr>
            </a:defPPr>
            <a:lvl1pPr>
              <a:defRPr sz="2550" b="1">
                <a:solidFill>
                  <a:srgbClr val="19343F"/>
                </a:solidFill>
                <a:latin typeface="Arial"/>
                <a:ea typeface="Arial"/>
                <a:cs typeface="Arial"/>
              </a:defRPr>
            </a:lvl1pPr>
            <a:lvl2pPr>
              <a:defRPr sz="2550" b="1">
                <a:solidFill>
                  <a:srgbClr val="19343F"/>
                </a:solidFill>
                <a:latin typeface="Arial"/>
                <a:ea typeface="Arial"/>
                <a:cs typeface="Arial"/>
              </a:defRPr>
            </a:lvl2pPr>
            <a:lvl3pPr>
              <a:defRPr sz="2550" b="1">
                <a:solidFill>
                  <a:srgbClr val="19343F"/>
                </a:solidFill>
                <a:latin typeface="Arial"/>
                <a:ea typeface="Arial"/>
                <a:cs typeface="Arial"/>
              </a:defRPr>
            </a:lvl3pPr>
            <a:lvl4pPr>
              <a:defRPr sz="2550" b="1">
                <a:solidFill>
                  <a:srgbClr val="19343F"/>
                </a:solidFill>
                <a:latin typeface="Arial"/>
                <a:ea typeface="Arial"/>
                <a:cs typeface="Arial"/>
              </a:defRPr>
            </a:lvl4pPr>
            <a:lvl5pPr>
              <a:defRPr sz="2550" b="1">
                <a:solidFill>
                  <a:srgbClr val="19343F"/>
                </a:solidFill>
                <a:latin typeface="Arial"/>
                <a:ea typeface="Arial"/>
                <a:cs typeface="Arial"/>
              </a:defRPr>
            </a:lvl5pPr>
            <a:lvl6pPr>
              <a:defRPr sz="2550" b="1">
                <a:solidFill>
                  <a:srgbClr val="19343F"/>
                </a:solidFill>
                <a:latin typeface="Arial"/>
                <a:ea typeface="Arial"/>
                <a:cs typeface="Arial"/>
              </a:defRPr>
            </a:lvl6pPr>
            <a:lvl7pPr>
              <a:defRPr sz="2550" b="1">
                <a:solidFill>
                  <a:srgbClr val="19343F"/>
                </a:solidFill>
                <a:latin typeface="Arial"/>
                <a:ea typeface="Arial"/>
                <a:cs typeface="Arial"/>
              </a:defRPr>
            </a:lvl7pPr>
            <a:lvl8pPr>
              <a:defRPr sz="2550" b="1">
                <a:solidFill>
                  <a:srgbClr val="19343F"/>
                </a:solidFill>
                <a:latin typeface="Arial"/>
                <a:ea typeface="Arial"/>
                <a:cs typeface="Arial"/>
              </a:defRPr>
            </a:lvl8pPr>
            <a:lvl9pPr>
              <a:defRPr sz="2550" b="1">
                <a:solidFill>
                  <a:srgbClr val="19343F"/>
                </a:solidFill>
                <a:latin typeface="Arial"/>
                <a:ea typeface="Arial"/>
                <a:cs typeface="Arial"/>
              </a:defRPr>
            </a:lvl9pPr>
          </a:lstStyle>
          <a:p xmlns:a="http://schemas.openxmlformats.org/drawingml/2006/main">
            <a:pPr>
              <a:defRPr sz="2550" b="1">
                <a:solidFill>
                  <a:srgbClr val="19343F"/>
                </a:solidFill>
                <a:latin typeface="Arial"/>
                <a:ea typeface="Arial"/>
                <a:cs typeface="Arial"/>
              </a:defRPr>
            </a:pPr>
            <a:r>
              <a:rPr sz="2550" b="1">
                <a:solidFill>
                  <a:srgbClr val="19343F"/>
                </a:solidFill>
                <a:latin typeface="Arial"/>
                <a:ea typeface="Arial"/>
                <a:cs typeface="Arial"/>
              </a:rPr>
              <a:t>Evidence for supplier entitlement</a:t>
            </a:r>
          </a:p>
        </p:txBody>
      </p:sp>
      <p:sp>
        <p:nvSpPr>
          <p:cNvPr id="5" name="">
            <a:extLst xmlns:a="http://schemas.openxmlformats.org/drawingml/2006/main">
              <a:ext uri="{FF2B5EF4-FFF2-40B4-BE49-F238E27FC236}">
                <a16:creationId xmlns:a16="http://schemas.microsoft.com/office/drawing/2014/main" id="{20AEEA5F-7B55-49DB-85AF-D2A3F5AE265C}"/>
              </a:ext>
            </a:extLst>
          </p:cNvPr>
          <p:cNvSpPr>
            <a:spLocks xmlns:a="http://schemas.openxmlformats.org/drawingml/2006/main" noGrp="1"/>
          </p:cNvSpPr>
          <p:nvPr/>
        </p:nvSpPr>
        <p:spPr>
          <a:xfrm xmlns:a="http://schemas.openxmlformats.org/drawingml/2006/main">
            <a:off x="685800" y="2819400"/>
            <a:ext cx="58102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0777D"/>
                </a:solidFill>
                <a:latin typeface="Arial"/>
                <a:ea typeface="Arial"/>
                <a:cs typeface="Arial"/>
              </a:defRPr>
            </a:defPPr>
            <a:lvl1pPr>
              <a:defRPr sz="2175" b="0">
                <a:solidFill>
                  <a:srgbClr val="60777D"/>
                </a:solidFill>
                <a:latin typeface="Arial"/>
                <a:ea typeface="Arial"/>
                <a:cs typeface="Arial"/>
              </a:defRPr>
            </a:lvl1pPr>
            <a:lvl2pPr>
              <a:defRPr sz="2175" b="0">
                <a:solidFill>
                  <a:srgbClr val="60777D"/>
                </a:solidFill>
                <a:latin typeface="Arial"/>
                <a:ea typeface="Arial"/>
                <a:cs typeface="Arial"/>
              </a:defRPr>
            </a:lvl2pPr>
            <a:lvl3pPr>
              <a:defRPr sz="2175" b="0">
                <a:solidFill>
                  <a:srgbClr val="60777D"/>
                </a:solidFill>
                <a:latin typeface="Arial"/>
                <a:ea typeface="Arial"/>
                <a:cs typeface="Arial"/>
              </a:defRPr>
            </a:lvl3pPr>
            <a:lvl4pPr>
              <a:defRPr sz="2175" b="0">
                <a:solidFill>
                  <a:srgbClr val="60777D"/>
                </a:solidFill>
                <a:latin typeface="Arial"/>
                <a:ea typeface="Arial"/>
                <a:cs typeface="Arial"/>
              </a:defRPr>
            </a:lvl4pPr>
            <a:lvl5pPr>
              <a:defRPr sz="2175" b="0">
                <a:solidFill>
                  <a:srgbClr val="60777D"/>
                </a:solidFill>
                <a:latin typeface="Arial"/>
                <a:ea typeface="Arial"/>
                <a:cs typeface="Arial"/>
              </a:defRPr>
            </a:lvl5pPr>
            <a:lvl6pPr>
              <a:defRPr sz="2175" b="0">
                <a:solidFill>
                  <a:srgbClr val="60777D"/>
                </a:solidFill>
                <a:latin typeface="Arial"/>
                <a:ea typeface="Arial"/>
                <a:cs typeface="Arial"/>
              </a:defRPr>
            </a:lvl6pPr>
            <a:lvl7pPr>
              <a:defRPr sz="2175" b="0">
                <a:solidFill>
                  <a:srgbClr val="60777D"/>
                </a:solidFill>
                <a:latin typeface="Arial"/>
                <a:ea typeface="Arial"/>
                <a:cs typeface="Arial"/>
              </a:defRPr>
            </a:lvl7pPr>
            <a:lvl8pPr>
              <a:defRPr sz="2175" b="0">
                <a:solidFill>
                  <a:srgbClr val="60777D"/>
                </a:solidFill>
                <a:latin typeface="Arial"/>
                <a:ea typeface="Arial"/>
                <a:cs typeface="Arial"/>
              </a:defRPr>
            </a:lvl8pPr>
            <a:lvl9pPr>
              <a:defRPr sz="2175" b="0">
                <a:solidFill>
                  <a:srgbClr val="60777D"/>
                </a:solidFill>
                <a:latin typeface="Arial"/>
                <a:ea typeface="Arial"/>
                <a:cs typeface="Arial"/>
              </a:defRPr>
            </a:lvl9pPr>
          </a:lstStyle>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A purchase order establishes the contract.</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An accepted receipt supports entitlement.</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An invoice still needs verification.</a:t>
            </a:r>
          </a:p>
        </p:txBody>
      </p:sp>
      <p:pic>
        <p:nvPicPr>
          <p:cNvPr id="6" name="">
            <a:extLst xmlns:a="http://schemas.openxmlformats.org/drawingml/2006/main">
              <a:ext uri="{FF2B5EF4-FFF2-40B4-BE49-F238E27FC236}">
                <a16:creationId xmlns:a16="http://schemas.microsoft.com/office/drawing/2014/main" id="{08A8B003-ABA0-4689-B70F-3ACDF4890EC7}"/>
              </a:ext>
            </a:extLst>
          </p:cNvPr>
          <p:cNvPicPr>
            <a:picLocks xmlns:a="http://schemas.openxmlformats.org/drawingml/2006/main" noChangeAspect="1"/>
          </p:cNvPicPr>
          <p:nvPr/>
        </p:nvPicPr>
        <p:blipFill>
          <a:blip xmlns:r="http://schemas.openxmlformats.org/officeDocument/2006/relationships" xmlns:a="http://schemas.openxmlformats.org/drawingml/2006/main" r:embed="R418b003ba5df48e1"/>
          <a:stretch xmlns:a="http://schemas.openxmlformats.org/drawingml/2006/main"/>
        </p:blipFill>
        <p:spPr>
          <a:xfrm xmlns:a="http://schemas.openxmlformats.org/drawingml/2006/main">
            <a:off x="7524750" y="1530792"/>
            <a:ext cx="3267075" cy="4615566"/>
          </a:xfrm>
          <a:prstGeom xmlns:a="http://schemas.openxmlformats.org/drawingml/2006/main" prst="rect">
            <a:avLst/>
          </a:prstGeom>
        </p:spPr>
      </p:pic>
    </p:spTree>
    <p:extLst>
      <p:ext uri="{BB962C8B-B14F-4D97-AF65-F5344CB8AC3E}">
        <p14:creationId xmlns:p14="http://schemas.microsoft.com/office/powerpoint/2010/main" val="396363806"/>
      </p:ext>
    </p:extLst>
  </p:cSld>
</p:sld>
</file>

<file path=ppt/slides/slide3.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433A3E-5D06-49E7-AF8F-FFAD2992068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Entitlement and liquidity</a:t>
            </a:r>
          </a:p>
        </p:txBody>
      </p:sp>
      <p:sp>
        <p:nvSpPr>
          <p:cNvPr id="2" name="">
            <a:extLst xmlns:a="http://schemas.openxmlformats.org/drawingml/2006/main">
              <a:ext uri="{FF2B5EF4-FFF2-40B4-BE49-F238E27FC236}">
                <a16:creationId xmlns:a16="http://schemas.microsoft.com/office/drawing/2014/main" id="{04D8F6FA-E9B3-4D83-A255-743AF7938EE0}"/>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E78FC33C-9C98-41B8-BF7A-59836767AB3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5E25C8CE-4D88-4AB2-BB4B-841788EFB743}"/>
              </a:ext>
            </a:extLst>
          </p:cNvPr>
          <p:cNvSpPr>
            <a:spLocks xmlns:a="http://schemas.openxmlformats.org/drawingml/2006/main" noGrp="1"/>
          </p:cNvSpPr>
          <p:nvPr/>
        </p:nvSpPr>
        <p:spPr>
          <a:xfrm xmlns:a="http://schemas.openxmlformats.org/drawingml/2006/main">
            <a:off x="685800" y="179070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A valid invoice can still</a:t>
            </a:r>
          </a:p>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be unsafe to pay today.</a:t>
            </a:r>
          </a:p>
        </p:txBody>
      </p:sp>
      <p:sp>
        <p:nvSpPr>
          <p:cNvPr id="5" name="">
            <a:extLst xmlns:a="http://schemas.openxmlformats.org/drawingml/2006/main">
              <a:ext uri="{FF2B5EF4-FFF2-40B4-BE49-F238E27FC236}">
                <a16:creationId xmlns:a16="http://schemas.microsoft.com/office/drawing/2014/main" id="{E4857309-3DC7-486C-970A-C1ACB5B1F37B}"/>
              </a:ext>
            </a:extLst>
          </p:cNvPr>
          <p:cNvSpPr>
            <a:spLocks xmlns:a="http://schemas.openxmlformats.org/drawingml/2006/main" noGrp="1"/>
          </p:cNvSpPr>
          <p:nvPr/>
        </p:nvSpPr>
        <p:spPr>
          <a:xfrm xmlns:a="http://schemas.openxmlformats.org/drawingml/2006/main">
            <a:off x="685800" y="3486150"/>
            <a:ext cx="419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286E62"/>
                </a:solidFill>
                <a:latin typeface="Arial"/>
                <a:ea typeface="Arial"/>
                <a:cs typeface="Arial"/>
              </a:defRPr>
            </a:defPPr>
            <a:lvl1pPr>
              <a:defRPr sz="3600" b="1">
                <a:solidFill>
                  <a:srgbClr val="286E62"/>
                </a:solidFill>
                <a:latin typeface="Arial"/>
                <a:ea typeface="Arial"/>
                <a:cs typeface="Arial"/>
              </a:defRPr>
            </a:lvl1pPr>
            <a:lvl2pPr>
              <a:defRPr sz="3600" b="1">
                <a:solidFill>
                  <a:srgbClr val="286E62"/>
                </a:solidFill>
                <a:latin typeface="Arial"/>
                <a:ea typeface="Arial"/>
                <a:cs typeface="Arial"/>
              </a:defRPr>
            </a:lvl2pPr>
            <a:lvl3pPr>
              <a:defRPr sz="3600" b="1">
                <a:solidFill>
                  <a:srgbClr val="286E62"/>
                </a:solidFill>
                <a:latin typeface="Arial"/>
                <a:ea typeface="Arial"/>
                <a:cs typeface="Arial"/>
              </a:defRPr>
            </a:lvl3pPr>
            <a:lvl4pPr>
              <a:defRPr sz="3600" b="1">
                <a:solidFill>
                  <a:srgbClr val="286E62"/>
                </a:solidFill>
                <a:latin typeface="Arial"/>
                <a:ea typeface="Arial"/>
                <a:cs typeface="Arial"/>
              </a:defRPr>
            </a:lvl4pPr>
            <a:lvl5pPr>
              <a:defRPr sz="3600" b="1">
                <a:solidFill>
                  <a:srgbClr val="286E62"/>
                </a:solidFill>
                <a:latin typeface="Arial"/>
                <a:ea typeface="Arial"/>
                <a:cs typeface="Arial"/>
              </a:defRPr>
            </a:lvl5pPr>
            <a:lvl6pPr>
              <a:defRPr sz="3600" b="1">
                <a:solidFill>
                  <a:srgbClr val="286E62"/>
                </a:solidFill>
                <a:latin typeface="Arial"/>
                <a:ea typeface="Arial"/>
                <a:cs typeface="Arial"/>
              </a:defRPr>
            </a:lvl6pPr>
            <a:lvl7pPr>
              <a:defRPr sz="3600" b="1">
                <a:solidFill>
                  <a:srgbClr val="286E62"/>
                </a:solidFill>
                <a:latin typeface="Arial"/>
                <a:ea typeface="Arial"/>
                <a:cs typeface="Arial"/>
              </a:defRPr>
            </a:lvl7pPr>
            <a:lvl8pPr>
              <a:defRPr sz="3600" b="1">
                <a:solidFill>
                  <a:srgbClr val="286E62"/>
                </a:solidFill>
                <a:latin typeface="Arial"/>
                <a:ea typeface="Arial"/>
                <a:cs typeface="Arial"/>
              </a:defRPr>
            </a:lvl8pPr>
            <a:lvl9pPr>
              <a:defRPr sz="3600" b="1">
                <a:solidFill>
                  <a:srgbClr val="286E62"/>
                </a:solidFill>
                <a:latin typeface="Arial"/>
                <a:ea typeface="Arial"/>
                <a:cs typeface="Arial"/>
              </a:defRPr>
            </a:lvl9pPr>
          </a:lstStyle>
          <a:p xmlns:a="http://schemas.openxmlformats.org/drawingml/2006/main">
            <a:pPr>
              <a:defRPr sz="3600" b="1">
                <a:solidFill>
                  <a:srgbClr val="286E62"/>
                </a:solidFill>
                <a:latin typeface="Arial"/>
                <a:ea typeface="Arial"/>
                <a:cs typeface="Arial"/>
              </a:defRPr>
            </a:pPr>
            <a:r>
              <a:rPr sz="3600" b="1">
                <a:solidFill>
                  <a:srgbClr val="286E62"/>
                </a:solidFill>
                <a:latin typeface="Arial"/>
                <a:ea typeface="Arial"/>
                <a:cs typeface="Arial"/>
              </a:rPr>
              <a:t>BDT 100,000</a:t>
            </a:r>
          </a:p>
        </p:txBody>
      </p:sp>
      <p:sp>
        <p:nvSpPr>
          <p:cNvPr id="6" name="">
            <a:extLst xmlns:a="http://schemas.openxmlformats.org/drawingml/2006/main">
              <a:ext uri="{FF2B5EF4-FFF2-40B4-BE49-F238E27FC236}">
                <a16:creationId xmlns:a16="http://schemas.microsoft.com/office/drawing/2014/main" id="{8C4C32D7-8FFA-4903-A230-CF8D418415EB}"/>
              </a:ext>
            </a:extLst>
          </p:cNvPr>
          <p:cNvSpPr>
            <a:spLocks xmlns:a="http://schemas.openxmlformats.org/drawingml/2006/main" noGrp="1"/>
          </p:cNvSpPr>
          <p:nvPr/>
        </p:nvSpPr>
        <p:spPr>
          <a:xfrm xmlns:a="http://schemas.openxmlformats.org/drawingml/2006/main">
            <a:off x="723900" y="42291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0777D"/>
                </a:solidFill>
                <a:latin typeface="Arial"/>
                <a:ea typeface="Arial"/>
                <a:cs typeface="Arial"/>
              </a:defRPr>
            </a:defPPr>
            <a:lvl1pPr>
              <a:defRPr sz="1800" b="0">
                <a:solidFill>
                  <a:srgbClr val="60777D"/>
                </a:solidFill>
                <a:latin typeface="Arial"/>
                <a:ea typeface="Arial"/>
                <a:cs typeface="Arial"/>
              </a:defRPr>
            </a:lvl1pPr>
            <a:lvl2pPr>
              <a:defRPr sz="1800" b="0">
                <a:solidFill>
                  <a:srgbClr val="60777D"/>
                </a:solidFill>
                <a:latin typeface="Arial"/>
                <a:ea typeface="Arial"/>
                <a:cs typeface="Arial"/>
              </a:defRPr>
            </a:lvl2pPr>
            <a:lvl3pPr>
              <a:defRPr sz="1800" b="0">
                <a:solidFill>
                  <a:srgbClr val="60777D"/>
                </a:solidFill>
                <a:latin typeface="Arial"/>
                <a:ea typeface="Arial"/>
                <a:cs typeface="Arial"/>
              </a:defRPr>
            </a:lvl3pPr>
            <a:lvl4pPr>
              <a:defRPr sz="1800" b="0">
                <a:solidFill>
                  <a:srgbClr val="60777D"/>
                </a:solidFill>
                <a:latin typeface="Arial"/>
                <a:ea typeface="Arial"/>
                <a:cs typeface="Arial"/>
              </a:defRPr>
            </a:lvl4pPr>
            <a:lvl5pPr>
              <a:defRPr sz="1800" b="0">
                <a:solidFill>
                  <a:srgbClr val="60777D"/>
                </a:solidFill>
                <a:latin typeface="Arial"/>
                <a:ea typeface="Arial"/>
                <a:cs typeface="Arial"/>
              </a:defRPr>
            </a:lvl5pPr>
            <a:lvl6pPr>
              <a:defRPr sz="1800" b="0">
                <a:solidFill>
                  <a:srgbClr val="60777D"/>
                </a:solidFill>
                <a:latin typeface="Arial"/>
                <a:ea typeface="Arial"/>
                <a:cs typeface="Arial"/>
              </a:defRPr>
            </a:lvl6pPr>
            <a:lvl7pPr>
              <a:defRPr sz="1800" b="0">
                <a:solidFill>
                  <a:srgbClr val="60777D"/>
                </a:solidFill>
                <a:latin typeface="Arial"/>
                <a:ea typeface="Arial"/>
                <a:cs typeface="Arial"/>
              </a:defRPr>
            </a:lvl7pPr>
            <a:lvl8pPr>
              <a:defRPr sz="1800" b="0">
                <a:solidFill>
                  <a:srgbClr val="60777D"/>
                </a:solidFill>
                <a:latin typeface="Arial"/>
                <a:ea typeface="Arial"/>
                <a:cs typeface="Arial"/>
              </a:defRPr>
            </a:lvl8pPr>
            <a:lvl9pPr>
              <a:defRPr sz="1800" b="0">
                <a:solidFill>
                  <a:srgbClr val="60777D"/>
                </a:solidFill>
                <a:latin typeface="Arial"/>
                <a:ea typeface="Arial"/>
                <a:cs typeface="Arial"/>
              </a:defRPr>
            </a:lvl9pPr>
          </a:lstStyle>
          <a:p xmlns:a="http://schemas.openxmlformats.org/drawingml/2006/main">
            <a:pPr>
              <a:defRPr sz="1800" b="0">
                <a:solidFill>
                  <a:srgbClr val="60777D"/>
                </a:solidFill>
                <a:latin typeface="Arial"/>
                <a:ea typeface="Arial"/>
                <a:cs typeface="Arial"/>
              </a:defRPr>
            </a:pPr>
            <a:r>
              <a:rPr sz="1800" b="0">
                <a:solidFill>
                  <a:srgbClr val="60777D"/>
                </a:solidFill>
                <a:latin typeface="Arial"/>
                <a:ea typeface="Arial"/>
                <a:cs typeface="Arial"/>
              </a:rPr>
              <a:t>Required demonstration cash reserve</a:t>
            </a:r>
          </a:p>
        </p:txBody>
      </p:sp>
      <p:sp>
        <p:nvSpPr>
          <p:cNvPr id="7" name="">
            <a:extLst xmlns:a="http://schemas.openxmlformats.org/drawingml/2006/main">
              <a:ext uri="{FF2B5EF4-FFF2-40B4-BE49-F238E27FC236}">
                <a16:creationId xmlns:a16="http://schemas.microsoft.com/office/drawing/2014/main" id="{038FB934-4A73-401F-907A-71EA67911E45}"/>
              </a:ext>
            </a:extLst>
          </p:cNvPr>
          <p:cNvSpPr>
            <a:spLocks xmlns:a="http://schemas.openxmlformats.org/drawingml/2006/main" noGrp="1"/>
          </p:cNvSpPr>
          <p:nvPr/>
        </p:nvSpPr>
        <p:spPr>
          <a:xfrm xmlns:a="http://schemas.openxmlformats.org/drawingml/2006/main">
            <a:off x="723900" y="521970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Base and delayed receivables must pass.</a:t>
            </a:r>
          </a:p>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Cost-pressure scenarios remain visible.</a:t>
            </a:r>
          </a:p>
        </p:txBody>
      </p:sp>
      <p:pic>
        <p:nvPicPr>
          <p:cNvPr id="8" name="">
            <a:extLst xmlns:a="http://schemas.openxmlformats.org/drawingml/2006/main">
              <a:ext uri="{FF2B5EF4-FFF2-40B4-BE49-F238E27FC236}">
                <a16:creationId xmlns:a16="http://schemas.microsoft.com/office/drawing/2014/main" id="{062701A7-57D0-4123-A289-858BCE339BEF}"/>
              </a:ext>
            </a:extLst>
          </p:cNvPr>
          <p:cNvPicPr>
            <a:picLocks xmlns:a="http://schemas.openxmlformats.org/drawingml/2006/main" noChangeAspect="1"/>
          </p:cNvPicPr>
          <p:nvPr/>
        </p:nvPicPr>
        <p:blipFill>
          <a:blip xmlns:r="http://schemas.openxmlformats.org/officeDocument/2006/relationships" xmlns:a="http://schemas.openxmlformats.org/drawingml/2006/main" r:embed="Rb1117c1d625f4695"/>
          <a:stretch xmlns:a="http://schemas.openxmlformats.org/drawingml/2006/main"/>
        </p:blipFill>
        <p:spPr>
          <a:xfrm xmlns:a="http://schemas.openxmlformats.org/drawingml/2006/main">
            <a:off x="5952833" y="1657350"/>
            <a:ext cx="4696408" cy="4314825"/>
          </a:xfrm>
          <a:prstGeom xmlns:a="http://schemas.openxmlformats.org/drawingml/2006/main" prst="rect">
            <a:avLst/>
          </a:prstGeom>
        </p:spPr>
      </p:pic>
    </p:spTree>
    <p:extLst>
      <p:ext uri="{BB962C8B-B14F-4D97-AF65-F5344CB8AC3E}">
        <p14:creationId xmlns:p14="http://schemas.microsoft.com/office/powerpoint/2010/main" val="1078242970"/>
      </p:ext>
    </p:extLst>
  </p:cSld>
</p:sld>
</file>

<file path=ppt/slides/slide4.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C1B2BB-F3D8-4B6C-8030-8819588085DD}"/>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 complete financial workflow</a:t>
            </a:r>
          </a:p>
        </p:txBody>
      </p:sp>
      <p:sp>
        <p:nvSpPr>
          <p:cNvPr id="2" name="">
            <a:extLst xmlns:a="http://schemas.openxmlformats.org/drawingml/2006/main">
              <a:ext uri="{FF2B5EF4-FFF2-40B4-BE49-F238E27FC236}">
                <a16:creationId xmlns:a16="http://schemas.microsoft.com/office/drawing/2014/main" id="{A2954BB8-0176-4483-80FD-7CD181A3350D}"/>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B0EAC635-3ED1-46B7-9726-1418235C2F56}"/>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A76E117D-23D4-4771-A1E2-03B7274D5823}"/>
              </a:ext>
            </a:extLst>
          </p:cNvPr>
          <p:cNvSpPr>
            <a:spLocks xmlns:a="http://schemas.openxmlformats.org/drawingml/2006/main" noGrp="1"/>
          </p:cNvSpPr>
          <p:nvPr/>
        </p:nvSpPr>
        <p:spPr>
          <a:xfrm xmlns:a="http://schemas.openxmlformats.org/drawingml/2006/main">
            <a:off x="723900" y="1809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9343F"/>
                </a:solidFill>
                <a:latin typeface="Arial"/>
                <a:ea typeface="Arial"/>
                <a:cs typeface="Arial"/>
              </a:defRPr>
            </a:defPPr>
            <a:lvl1pPr>
              <a:defRPr sz="2175" b="1">
                <a:solidFill>
                  <a:srgbClr val="19343F"/>
                </a:solidFill>
                <a:latin typeface="Arial"/>
                <a:ea typeface="Arial"/>
                <a:cs typeface="Arial"/>
              </a:defRPr>
            </a:lvl1pPr>
            <a:lvl2pPr>
              <a:defRPr sz="2175" b="1">
                <a:solidFill>
                  <a:srgbClr val="19343F"/>
                </a:solidFill>
                <a:latin typeface="Arial"/>
                <a:ea typeface="Arial"/>
                <a:cs typeface="Arial"/>
              </a:defRPr>
            </a:lvl2pPr>
            <a:lvl3pPr>
              <a:defRPr sz="2175" b="1">
                <a:solidFill>
                  <a:srgbClr val="19343F"/>
                </a:solidFill>
                <a:latin typeface="Arial"/>
                <a:ea typeface="Arial"/>
                <a:cs typeface="Arial"/>
              </a:defRPr>
            </a:lvl3pPr>
            <a:lvl4pPr>
              <a:defRPr sz="2175" b="1">
                <a:solidFill>
                  <a:srgbClr val="19343F"/>
                </a:solidFill>
                <a:latin typeface="Arial"/>
                <a:ea typeface="Arial"/>
                <a:cs typeface="Arial"/>
              </a:defRPr>
            </a:lvl4pPr>
            <a:lvl5pPr>
              <a:defRPr sz="2175" b="1">
                <a:solidFill>
                  <a:srgbClr val="19343F"/>
                </a:solidFill>
                <a:latin typeface="Arial"/>
                <a:ea typeface="Arial"/>
                <a:cs typeface="Arial"/>
              </a:defRPr>
            </a:lvl5pPr>
            <a:lvl6pPr>
              <a:defRPr sz="2175" b="1">
                <a:solidFill>
                  <a:srgbClr val="19343F"/>
                </a:solidFill>
                <a:latin typeface="Arial"/>
                <a:ea typeface="Arial"/>
                <a:cs typeface="Arial"/>
              </a:defRPr>
            </a:lvl6pPr>
            <a:lvl7pPr>
              <a:defRPr sz="2175" b="1">
                <a:solidFill>
                  <a:srgbClr val="19343F"/>
                </a:solidFill>
                <a:latin typeface="Arial"/>
                <a:ea typeface="Arial"/>
                <a:cs typeface="Arial"/>
              </a:defRPr>
            </a:lvl7pPr>
            <a:lvl8pPr>
              <a:defRPr sz="2175" b="1">
                <a:solidFill>
                  <a:srgbClr val="19343F"/>
                </a:solidFill>
                <a:latin typeface="Arial"/>
                <a:ea typeface="Arial"/>
                <a:cs typeface="Arial"/>
              </a:defRPr>
            </a:lvl8pPr>
            <a:lvl9pPr>
              <a:defRPr sz="2175" b="1">
                <a:solidFill>
                  <a:srgbClr val="19343F"/>
                </a:solidFill>
                <a:latin typeface="Arial"/>
                <a:ea typeface="Arial"/>
                <a:cs typeface="Arial"/>
              </a:defRPr>
            </a:lvl9pPr>
          </a:lstStyle>
          <a:p xmlns:a="http://schemas.openxmlformats.org/drawingml/2006/main">
            <a:pPr>
              <a:defRPr sz="2175" b="1">
                <a:solidFill>
                  <a:srgbClr val="19343F"/>
                </a:solidFill>
                <a:latin typeface="Arial"/>
                <a:ea typeface="Arial"/>
                <a:cs typeface="Arial"/>
              </a:defRPr>
            </a:pPr>
            <a:r>
              <a:rPr sz="2175" b="1">
                <a:solidFill>
                  <a:srgbClr val="19343F"/>
                </a:solidFill>
                <a:latin typeface="Arial"/>
                <a:ea typeface="Arial"/>
                <a:cs typeface="Arial"/>
              </a:rPr>
              <a:t>BOQ     +     Purchase order     +     Accepted receipt     +     Invoice</a:t>
            </a:r>
          </a:p>
        </p:txBody>
      </p:sp>
      <p:sp>
        <p:nvSpPr>
          <p:cNvPr id="5" name="">
            <a:extLst xmlns:a="http://schemas.openxmlformats.org/drawingml/2006/main">
              <a:ext uri="{FF2B5EF4-FFF2-40B4-BE49-F238E27FC236}">
                <a16:creationId xmlns:a16="http://schemas.microsoft.com/office/drawing/2014/main" id="{74A420C4-5A08-40DC-BDEA-3A00EC10B4AD}"/>
              </a:ext>
            </a:extLst>
          </p:cNvPr>
          <p:cNvSpPr>
            <a:spLocks xmlns:a="http://schemas.openxmlformats.org/drawingml/2006/main" noGrp="1"/>
          </p:cNvSpPr>
          <p:nvPr/>
        </p:nvSpPr>
        <p:spPr>
          <a:xfrm xmlns:a="http://schemas.openxmlformats.org/drawingml/2006/main">
            <a:off x="723900" y="28384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9434D"/>
                </a:solidFill>
                <a:latin typeface="Arial"/>
                <a:ea typeface="Arial"/>
                <a:cs typeface="Arial"/>
              </a:defRPr>
            </a:defPPr>
            <a:lvl1pPr>
              <a:defRPr sz="2175" b="0">
                <a:solidFill>
                  <a:srgbClr val="29434D"/>
                </a:solidFill>
                <a:latin typeface="Arial"/>
                <a:ea typeface="Arial"/>
                <a:cs typeface="Arial"/>
              </a:defRPr>
            </a:lvl1pPr>
            <a:lvl2pPr>
              <a:defRPr sz="2175" b="0">
                <a:solidFill>
                  <a:srgbClr val="29434D"/>
                </a:solidFill>
                <a:latin typeface="Arial"/>
                <a:ea typeface="Arial"/>
                <a:cs typeface="Arial"/>
              </a:defRPr>
            </a:lvl2pPr>
            <a:lvl3pPr>
              <a:defRPr sz="2175" b="0">
                <a:solidFill>
                  <a:srgbClr val="29434D"/>
                </a:solidFill>
                <a:latin typeface="Arial"/>
                <a:ea typeface="Arial"/>
                <a:cs typeface="Arial"/>
              </a:defRPr>
            </a:lvl3pPr>
            <a:lvl4pPr>
              <a:defRPr sz="2175" b="0">
                <a:solidFill>
                  <a:srgbClr val="29434D"/>
                </a:solidFill>
                <a:latin typeface="Arial"/>
                <a:ea typeface="Arial"/>
                <a:cs typeface="Arial"/>
              </a:defRPr>
            </a:lvl4pPr>
            <a:lvl5pPr>
              <a:defRPr sz="2175" b="0">
                <a:solidFill>
                  <a:srgbClr val="29434D"/>
                </a:solidFill>
                <a:latin typeface="Arial"/>
                <a:ea typeface="Arial"/>
                <a:cs typeface="Arial"/>
              </a:defRPr>
            </a:lvl5pPr>
            <a:lvl6pPr>
              <a:defRPr sz="2175" b="0">
                <a:solidFill>
                  <a:srgbClr val="29434D"/>
                </a:solidFill>
                <a:latin typeface="Arial"/>
                <a:ea typeface="Arial"/>
                <a:cs typeface="Arial"/>
              </a:defRPr>
            </a:lvl6pPr>
            <a:lvl7pPr>
              <a:defRPr sz="2175" b="0">
                <a:solidFill>
                  <a:srgbClr val="29434D"/>
                </a:solidFill>
                <a:latin typeface="Arial"/>
                <a:ea typeface="Arial"/>
                <a:cs typeface="Arial"/>
              </a:defRPr>
            </a:lvl7pPr>
            <a:lvl8pPr>
              <a:defRPr sz="2175" b="0">
                <a:solidFill>
                  <a:srgbClr val="29434D"/>
                </a:solidFill>
                <a:latin typeface="Arial"/>
                <a:ea typeface="Arial"/>
                <a:cs typeface="Arial"/>
              </a:defRPr>
            </a:lvl8pPr>
            <a:lvl9pPr>
              <a:defRPr sz="2175" b="0">
                <a:solidFill>
                  <a:srgbClr val="29434D"/>
                </a:solidFill>
                <a:latin typeface="Arial"/>
                <a:ea typeface="Arial"/>
                <a:cs typeface="Arial"/>
              </a:defRPr>
            </a:lvl9pPr>
          </a:lstStyle>
          <a:p xmlns:a="http://schemas.openxmlformats.org/drawingml/2006/main">
            <a:pPr>
              <a:defRPr sz="2175" b="0">
                <a:solidFill>
                  <a:srgbClr val="29434D"/>
                </a:solidFill>
                <a:latin typeface="Arial"/>
                <a:ea typeface="Arial"/>
                <a:cs typeface="Arial"/>
              </a:defRPr>
            </a:pPr>
            <a:r>
              <a:rPr sz="2175" b="0">
                <a:solidFill>
                  <a:srgbClr val="29434D"/>
                </a:solidFill>
                <a:latin typeface="Arial"/>
                <a:ea typeface="Arial"/>
                <a:cs typeface="Arial"/>
              </a:rPr>
              <a:t>Extract and review  →  Reconcile  →  Assess risk  →  Check liquidity</a:t>
            </a:r>
          </a:p>
        </p:txBody>
      </p:sp>
      <p:sp>
        <p:nvSpPr>
          <p:cNvPr id="6" name="">
            <a:extLst xmlns:a="http://schemas.openxmlformats.org/drawingml/2006/main">
              <a:ext uri="{FF2B5EF4-FFF2-40B4-BE49-F238E27FC236}">
                <a16:creationId xmlns:a16="http://schemas.microsoft.com/office/drawing/2014/main" id="{F69A2FE2-A9E4-4C5B-8B1B-9AFE6D055546}"/>
              </a:ext>
            </a:extLst>
          </p:cNvPr>
          <p:cNvSpPr>
            <a:spLocks xmlns:a="http://schemas.openxmlformats.org/drawingml/2006/main" noGrp="1"/>
          </p:cNvSpPr>
          <p:nvPr/>
        </p:nvSpPr>
        <p:spPr>
          <a:xfrm xmlns:a="http://schemas.openxmlformats.org/drawingml/2006/main">
            <a:off x="723900" y="3867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286E62"/>
                </a:solidFill>
                <a:latin typeface="Arial"/>
                <a:ea typeface="Arial"/>
                <a:cs typeface="Arial"/>
              </a:defRPr>
            </a:defPPr>
            <a:lvl1pPr>
              <a:defRPr sz="2475" b="1">
                <a:solidFill>
                  <a:srgbClr val="286E62"/>
                </a:solidFill>
                <a:latin typeface="Arial"/>
                <a:ea typeface="Arial"/>
                <a:cs typeface="Arial"/>
              </a:defRPr>
            </a:lvl1pPr>
            <a:lvl2pPr>
              <a:defRPr sz="2475" b="1">
                <a:solidFill>
                  <a:srgbClr val="286E62"/>
                </a:solidFill>
                <a:latin typeface="Arial"/>
                <a:ea typeface="Arial"/>
                <a:cs typeface="Arial"/>
              </a:defRPr>
            </a:lvl2pPr>
            <a:lvl3pPr>
              <a:defRPr sz="2475" b="1">
                <a:solidFill>
                  <a:srgbClr val="286E62"/>
                </a:solidFill>
                <a:latin typeface="Arial"/>
                <a:ea typeface="Arial"/>
                <a:cs typeface="Arial"/>
              </a:defRPr>
            </a:lvl3pPr>
            <a:lvl4pPr>
              <a:defRPr sz="2475" b="1">
                <a:solidFill>
                  <a:srgbClr val="286E62"/>
                </a:solidFill>
                <a:latin typeface="Arial"/>
                <a:ea typeface="Arial"/>
                <a:cs typeface="Arial"/>
              </a:defRPr>
            </a:lvl4pPr>
            <a:lvl5pPr>
              <a:defRPr sz="2475" b="1">
                <a:solidFill>
                  <a:srgbClr val="286E62"/>
                </a:solidFill>
                <a:latin typeface="Arial"/>
                <a:ea typeface="Arial"/>
                <a:cs typeface="Arial"/>
              </a:defRPr>
            </a:lvl5pPr>
            <a:lvl6pPr>
              <a:defRPr sz="2475" b="1">
                <a:solidFill>
                  <a:srgbClr val="286E62"/>
                </a:solidFill>
                <a:latin typeface="Arial"/>
                <a:ea typeface="Arial"/>
                <a:cs typeface="Arial"/>
              </a:defRPr>
            </a:lvl6pPr>
            <a:lvl7pPr>
              <a:defRPr sz="2475" b="1">
                <a:solidFill>
                  <a:srgbClr val="286E62"/>
                </a:solidFill>
                <a:latin typeface="Arial"/>
                <a:ea typeface="Arial"/>
                <a:cs typeface="Arial"/>
              </a:defRPr>
            </a:lvl7pPr>
            <a:lvl8pPr>
              <a:defRPr sz="2475" b="1">
                <a:solidFill>
                  <a:srgbClr val="286E62"/>
                </a:solidFill>
                <a:latin typeface="Arial"/>
                <a:ea typeface="Arial"/>
                <a:cs typeface="Arial"/>
              </a:defRPr>
            </a:lvl8pPr>
            <a:lvl9pPr>
              <a:defRPr sz="2475" b="1">
                <a:solidFill>
                  <a:srgbClr val="286E62"/>
                </a:solidFill>
                <a:latin typeface="Arial"/>
                <a:ea typeface="Arial"/>
                <a:cs typeface="Arial"/>
              </a:defRPr>
            </a:lvl9pPr>
          </a:lstStyle>
          <a:p xmlns:a="http://schemas.openxmlformats.org/drawingml/2006/main">
            <a:pPr>
              <a:defRPr sz="2475" b="1">
                <a:solidFill>
                  <a:srgbClr val="286E62"/>
                </a:solidFill>
                <a:latin typeface="Arial"/>
                <a:ea typeface="Arial"/>
                <a:cs typeface="Arial"/>
              </a:defRPr>
            </a:pPr>
            <a:r>
              <a:rPr sz="2475" b="1">
                <a:solidFill>
                  <a:srgbClr val="286E62"/>
                </a:solidFill>
                <a:latin typeface="Arial"/>
                <a:ea typeface="Arial"/>
                <a:cs typeface="Arial"/>
              </a:rPr>
              <a:t>Prepare exact payment  →  Independent human approval</a:t>
            </a:r>
          </a:p>
        </p:txBody>
      </p:sp>
      <p:sp>
        <p:nvSpPr>
          <p:cNvPr id="7" name="">
            <a:extLst xmlns:a="http://schemas.openxmlformats.org/drawingml/2006/main">
              <a:ext uri="{FF2B5EF4-FFF2-40B4-BE49-F238E27FC236}">
                <a16:creationId xmlns:a16="http://schemas.microsoft.com/office/drawing/2014/main" id="{88DEF8F9-9A58-46DA-92AD-CBDF09B45EF0}"/>
              </a:ext>
            </a:extLst>
          </p:cNvPr>
          <p:cNvSpPr>
            <a:spLocks xmlns:a="http://schemas.openxmlformats.org/drawingml/2006/main" noGrp="1"/>
          </p:cNvSpPr>
          <p:nvPr/>
        </p:nvSpPr>
        <p:spPr>
          <a:xfrm xmlns:a="http://schemas.openxmlformats.org/drawingml/2006/main">
            <a:off x="723900" y="49625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Revalidate  →  Atomic sandbox settlement  →  Ledger and audit evidence</a:t>
            </a:r>
          </a:p>
        </p:txBody>
      </p:sp>
    </p:spTree>
    <p:extLst>
      <p:ext uri="{BB962C8B-B14F-4D97-AF65-F5344CB8AC3E}">
        <p14:creationId xmlns:p14="http://schemas.microsoft.com/office/powerpoint/2010/main" val="167397564"/>
      </p:ext>
    </p:extLst>
  </p:cSld>
</p:sld>
</file>

<file path=ppt/slides/slide5.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D03C6D8-2BA3-4BC1-9181-53CD35CD795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CE98BCF6-1C5D-4A8C-A8C0-43B6D665149E}"/>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9C5F2B92-FEB6-4B88-A36A-DFC8B6F418EE}"/>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CB6654D9-C956-4A69-BB91-BA3B84DA993B}"/>
              </a:ext>
            </a:extLst>
          </p:cNvPr>
          <p:cNvSpPr>
            <a:spLocks xmlns:a="http://schemas.openxmlformats.org/drawingml/2006/main" noGrp="1"/>
          </p:cNvSpPr>
          <p:nvPr/>
        </p:nvSpPr>
        <p:spPr>
          <a:xfrm xmlns:a="http://schemas.openxmlformats.org/drawingml/2006/main">
            <a:off x="685800" y="1952625"/>
            <a:ext cx="26670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React / TypeScript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Financial workspace</a:t>
            </a:r>
          </a:p>
        </p:txBody>
      </p:sp>
      <p:sp>
        <p:nvSpPr>
          <p:cNvPr id="5" name="">
            <a:extLst xmlns:a="http://schemas.openxmlformats.org/drawingml/2006/main">
              <a:ext uri="{FF2B5EF4-FFF2-40B4-BE49-F238E27FC236}">
                <a16:creationId xmlns:a16="http://schemas.microsoft.com/office/drawing/2014/main" id="{58DFC89B-09FD-435F-AACC-8DE9A83CB9A3}"/>
              </a:ext>
            </a:extLst>
          </p:cNvPr>
          <p:cNvSpPr>
            <a:spLocks xmlns:a="http://schemas.openxmlformats.org/drawingml/2006/main" noGrp="1"/>
          </p:cNvSpPr>
          <p:nvPr/>
        </p:nvSpPr>
        <p:spPr>
          <a:xfrm xmlns:a="http://schemas.openxmlformats.org/drawingml/2006/main">
            <a:off x="4495800" y="1952625"/>
            <a:ext cx="333375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FastAPI</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Role + project authorization</a:t>
            </a:r>
          </a:p>
        </p:txBody>
      </p:sp>
      <p:sp>
        <p:nvSpPr>
          <p:cNvPr id="6" name="">
            <a:extLst xmlns:a="http://schemas.openxmlformats.org/drawingml/2006/main">
              <a:ext uri="{FF2B5EF4-FFF2-40B4-BE49-F238E27FC236}">
                <a16:creationId xmlns:a16="http://schemas.microsoft.com/office/drawing/2014/main" id="{96B7748B-C462-4EC6-9A26-1B0A97463E02}"/>
              </a:ext>
            </a:extLst>
          </p:cNvPr>
          <p:cNvSpPr>
            <a:spLocks xmlns:a="http://schemas.openxmlformats.org/drawingml/2006/main" noGrp="1"/>
          </p:cNvSpPr>
          <p:nvPr/>
        </p:nvSpPr>
        <p:spPr>
          <a:xfrm xmlns:a="http://schemas.openxmlformats.org/drawingml/2006/main">
            <a:off x="8953500" y="1952625"/>
            <a:ext cx="25527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SQLite + audit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Exact money</a:t>
            </a:r>
          </a:p>
        </p:txBody>
      </p:sp>
      <p:sp>
        <p:nvSpPr>
          <p:cNvPr id="7" name="">
            <a:extLst xmlns:a="http://schemas.openxmlformats.org/drawingml/2006/main">
              <a:ext uri="{FF2B5EF4-FFF2-40B4-BE49-F238E27FC236}">
                <a16:creationId xmlns:a16="http://schemas.microsoft.com/office/drawing/2014/main" id="{B1A7A3D2-5FF1-4336-8AB4-CFBCE6994D8F}"/>
              </a:ext>
            </a:extLst>
          </p:cNvPr>
          <p:cNvSpPr>
            <a:spLocks xmlns:a="http://schemas.openxmlformats.org/drawingml/2006/main" noGrp="1"/>
          </p:cNvSpPr>
          <p:nvPr/>
        </p:nvSpPr>
        <p:spPr>
          <a:xfrm xmlns:a="http://schemas.openxmlformats.org/drawingml/2006/main">
            <a:off x="3600450" y="21431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8CBC92B2-4F2E-496A-B23D-54AFA66863B5}"/>
              </a:ext>
            </a:extLst>
          </p:cNvPr>
          <p:cNvSpPr>
            <a:spLocks xmlns:a="http://schemas.openxmlformats.org/drawingml/2006/main" noGrp="1"/>
          </p:cNvSpPr>
          <p:nvPr/>
        </p:nvSpPr>
        <p:spPr>
          <a:xfrm xmlns:a="http://schemas.openxmlformats.org/drawingml/2006/main">
            <a:off x="8086725" y="21431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2B20C5FE-BCEC-4A68-AA9D-F999D91BF6B9}"/>
              </a:ext>
            </a:extLst>
          </p:cNvPr>
          <p:cNvSpPr>
            <a:spLocks xmlns:a="http://schemas.openxmlformats.org/drawingml/2006/main" noGrp="1"/>
          </p:cNvSpPr>
          <p:nvPr/>
        </p:nvSpPr>
        <p:spPr>
          <a:xfrm xmlns:a="http://schemas.openxmlformats.org/drawingml/2006/main">
            <a:off x="685800" y="4095750"/>
            <a:ext cx="26670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Persisted workflow</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Typed tool steps</a:t>
            </a:r>
          </a:p>
        </p:txBody>
      </p:sp>
      <p:sp>
        <p:nvSpPr>
          <p:cNvPr id="10" name="">
            <a:extLst xmlns:a="http://schemas.openxmlformats.org/drawingml/2006/main">
              <a:ext uri="{FF2B5EF4-FFF2-40B4-BE49-F238E27FC236}">
                <a16:creationId xmlns:a16="http://schemas.microsoft.com/office/drawing/2014/main" id="{9C764442-1CCD-436E-B0EF-C448ABD8A41B}"/>
              </a:ext>
            </a:extLst>
          </p:cNvPr>
          <p:cNvSpPr>
            <a:spLocks xmlns:a="http://schemas.openxmlformats.org/drawingml/2006/main" noGrp="1"/>
          </p:cNvSpPr>
          <p:nvPr/>
        </p:nvSpPr>
        <p:spPr>
          <a:xfrm xmlns:a="http://schemas.openxmlformats.org/drawingml/2006/main">
            <a:off x="4495800" y="4095750"/>
            <a:ext cx="333375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Deterministic engines</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Matching · risk · cash flow</a:t>
            </a:r>
          </a:p>
        </p:txBody>
      </p:sp>
      <p:sp>
        <p:nvSpPr>
          <p:cNvPr id="11" name="">
            <a:extLst xmlns:a="http://schemas.openxmlformats.org/drawingml/2006/main">
              <a:ext uri="{FF2B5EF4-FFF2-40B4-BE49-F238E27FC236}">
                <a16:creationId xmlns:a16="http://schemas.microsoft.com/office/drawing/2014/main" id="{9301ABEB-F97E-49BB-905E-E438E9384D5F}"/>
              </a:ext>
            </a:extLst>
          </p:cNvPr>
          <p:cNvSpPr>
            <a:spLocks xmlns:a="http://schemas.openxmlformats.org/drawingml/2006/main" noGrp="1"/>
          </p:cNvSpPr>
          <p:nvPr/>
        </p:nvSpPr>
        <p:spPr>
          <a:xfrm xmlns:a="http://schemas.openxmlformats.org/drawingml/2006/main">
            <a:off x="8953500" y="4095750"/>
            <a:ext cx="25527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Human approval</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Idempotent payment</a:t>
            </a:r>
          </a:p>
        </p:txBody>
      </p:sp>
      <p:sp>
        <p:nvSpPr>
          <p:cNvPr id="12" name="">
            <a:extLst xmlns:a="http://schemas.openxmlformats.org/drawingml/2006/main">
              <a:ext uri="{FF2B5EF4-FFF2-40B4-BE49-F238E27FC236}">
                <a16:creationId xmlns:a16="http://schemas.microsoft.com/office/drawing/2014/main" id="{14B08C4A-0D4C-470D-936E-8A7505DF9FCD}"/>
              </a:ext>
            </a:extLst>
          </p:cNvPr>
          <p:cNvSpPr>
            <a:spLocks xmlns:a="http://schemas.openxmlformats.org/drawingml/2006/main" noGrp="1"/>
          </p:cNvSpPr>
          <p:nvPr/>
        </p:nvSpPr>
        <p:spPr>
          <a:xfrm xmlns:a="http://schemas.openxmlformats.org/drawingml/2006/main">
            <a:off x="3600450" y="43529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52423898-CA88-487E-8A3F-2E5D20786D7F}"/>
              </a:ext>
            </a:extLst>
          </p:cNvPr>
          <p:cNvSpPr>
            <a:spLocks xmlns:a="http://schemas.openxmlformats.org/drawingml/2006/main" noGrp="1"/>
          </p:cNvSpPr>
          <p:nvPr/>
        </p:nvSpPr>
        <p:spPr>
          <a:xfrm xmlns:a="http://schemas.openxmlformats.org/drawingml/2006/main">
            <a:off x="8086725"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E3E00E09-F244-4623-8BAB-D8F4FD06F1BB}"/>
              </a:ext>
            </a:extLst>
          </p:cNvPr>
          <p:cNvSpPr>
            <a:spLocks xmlns:a="http://schemas.openxmlformats.org/drawingml/2006/main" noGrp="1"/>
          </p:cNvSpPr>
          <p:nvPr/>
        </p:nvSpPr>
        <p:spPr>
          <a:xfrm xmlns:a="http://schemas.openxmlformats.org/drawingml/2006/main">
            <a:off x="581025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2D2646E4-E147-422D-BBFA-526E835E56F2}"/>
              </a:ext>
            </a:extLst>
          </p:cNvPr>
          <p:cNvSpPr>
            <a:spLocks xmlns:a="http://schemas.openxmlformats.org/drawingml/2006/main" noGrp="1"/>
          </p:cNvSpPr>
          <p:nvPr/>
        </p:nvSpPr>
        <p:spPr>
          <a:xfrm xmlns:a="http://schemas.openxmlformats.org/drawingml/2006/main">
            <a:off x="990600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2DB306ED-292C-43ED-8CBF-46660436376B}"/>
              </a:ext>
            </a:extLst>
          </p:cNvPr>
          <p:cNvSpPr>
            <a:spLocks xmlns:a="http://schemas.openxmlformats.org/drawingml/2006/main" noGrp="1"/>
          </p:cNvSpPr>
          <p:nvPr/>
        </p:nvSpPr>
        <p:spPr>
          <a:xfrm xmlns:a="http://schemas.openxmlformats.org/drawingml/2006/main">
            <a:off x="714375" y="56102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Optional model: explanation only. Financial authority stays in deterministic code.</a:t>
            </a:r>
          </a:p>
        </p:txBody>
      </p:sp>
    </p:spTree>
    <p:extLst>
      <p:ext uri="{BB962C8B-B14F-4D97-AF65-F5344CB8AC3E}">
        <p14:creationId xmlns:p14="http://schemas.microsoft.com/office/powerpoint/2010/main" val="1121971990"/>
      </p:ext>
    </p:extLst>
  </p:cSld>
</p:sld>
</file>

<file path=ppt/slides/slide6.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745194-BCC4-4B23-9030-66ECBE0357F9}"/>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Inflated steel invoice detected</a:t>
            </a:r>
          </a:p>
        </p:txBody>
      </p:sp>
      <p:sp>
        <p:nvSpPr>
          <p:cNvPr id="2" name="">
            <a:extLst xmlns:a="http://schemas.openxmlformats.org/drawingml/2006/main">
              <a:ext uri="{FF2B5EF4-FFF2-40B4-BE49-F238E27FC236}">
                <a16:creationId xmlns:a16="http://schemas.microsoft.com/office/drawing/2014/main" id="{CDDBAE79-8810-41BF-9C4D-4EA6E0F5569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6F166BD8-43D9-4B69-86E9-CC0F2860F000}"/>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7771ABFB-2E86-4C74-9F91-4C7C93324E53}"/>
              </a:ext>
            </a:extLst>
          </p:cNvPr>
          <p:cNvGraphicFramePr/>
          <p:nvPr/>
        </p:nvGraphicFramePr>
        <p:xfrm>
          <a:off xmlns:a="http://schemas.openxmlformats.org/drawingml/2006/main" x="685800" y="1809750"/>
          <a:ext xmlns:a="http://schemas.openxmlformats.org/drawingml/2006/main" cx="4572000" cy="2952750"/>
        </p:xfrm>
        <a:graphic xmlns:a="http://schemas.openxmlformats.org/drawingml/2006/main">
          <a:graphicData uri="http://schemas.openxmlformats.org/drawingml/2006/table">
            <a:tbl>
              <a:tblPr/>
              <a:tblGrid>
                <a:gridCol w="3238500"/>
                <a:gridCol w="1333500"/>
              </a:tblGrid>
              <a:tr h="590550">
                <a:tc>
                  <a:txBody>
                    <a:bodyPr/>
                    <a:lstStyle/>
                    <a:p>
                      <a:r>
                        <a:rPr sz="1800" b="1">
                          <a:solidFill>
                            <a:srgbClr val="FFFFFF"/>
                          </a:solidFill>
                          <a:latin typeface="Arial"/>
                          <a:ea typeface="Arial"/>
                          <a:cs typeface="Arial"/>
                        </a:rPr>
                        <a:t>Record</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Tonnes</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590550">
                <a:tc>
                  <a:txBody>
                    <a:bodyPr/>
                    <a:lstStyle/>
                    <a:p>
                      <a:r>
                        <a:rPr sz="1800" b="0">
                          <a:solidFill>
                            <a:srgbClr val="29434D"/>
                          </a:solidFill>
                          <a:latin typeface="Arial"/>
                          <a:ea typeface="Arial"/>
                          <a:cs typeface="Arial"/>
                        </a:rPr>
                        <a:t>Approved BOQ</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Purchase order</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EDF3EF"/>
                    </a:solidFill>
                  </a:tcPr>
                </a:tc>
              </a:tr>
              <a:tr h="590550">
                <a:tc>
                  <a:txBody>
                    <a:bodyPr/>
                    <a:lstStyle/>
                    <a:p>
                      <a:r>
                        <a:rPr sz="1800" b="0">
                          <a:solidFill>
                            <a:srgbClr val="29434D"/>
                          </a:solidFill>
                          <a:latin typeface="Arial"/>
                          <a:ea typeface="Arial"/>
                          <a:cs typeface="Arial"/>
                        </a:rPr>
                        <a:t>Accepted delivery</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Supplier invoice</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95</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5" name="">
            <a:extLst xmlns:a="http://schemas.openxmlformats.org/drawingml/2006/main">
              <a:ext uri="{FF2B5EF4-FFF2-40B4-BE49-F238E27FC236}">
                <a16:creationId xmlns:a16="http://schemas.microsoft.com/office/drawing/2014/main" id="{914E9029-AD26-467C-BB27-8329233124F4}"/>
              </a:ext>
            </a:extLst>
          </p:cNvPr>
          <p:cNvSpPr>
            <a:spLocks xmlns:a="http://schemas.openxmlformats.org/drawingml/2006/main" noGrp="1"/>
          </p:cNvSpPr>
          <p:nvPr/>
        </p:nvSpPr>
        <p:spPr>
          <a:xfrm xmlns:a="http://schemas.openxmlformats.org/drawingml/2006/main">
            <a:off x="723900" y="5010150"/>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A14B42"/>
                </a:solidFill>
                <a:latin typeface="Arial"/>
                <a:ea typeface="Arial"/>
                <a:cs typeface="Arial"/>
              </a:defRPr>
            </a:defPPr>
            <a:lvl1pPr>
              <a:defRPr sz="3675" b="1">
                <a:solidFill>
                  <a:srgbClr val="A14B42"/>
                </a:solidFill>
                <a:latin typeface="Arial"/>
                <a:ea typeface="Arial"/>
                <a:cs typeface="Arial"/>
              </a:defRPr>
            </a:lvl1pPr>
            <a:lvl2pPr>
              <a:defRPr sz="3675" b="1">
                <a:solidFill>
                  <a:srgbClr val="A14B42"/>
                </a:solidFill>
                <a:latin typeface="Arial"/>
                <a:ea typeface="Arial"/>
                <a:cs typeface="Arial"/>
              </a:defRPr>
            </a:lvl2pPr>
            <a:lvl3pPr>
              <a:defRPr sz="3675" b="1">
                <a:solidFill>
                  <a:srgbClr val="A14B42"/>
                </a:solidFill>
                <a:latin typeface="Arial"/>
                <a:ea typeface="Arial"/>
                <a:cs typeface="Arial"/>
              </a:defRPr>
            </a:lvl3pPr>
            <a:lvl4pPr>
              <a:defRPr sz="3675" b="1">
                <a:solidFill>
                  <a:srgbClr val="A14B42"/>
                </a:solidFill>
                <a:latin typeface="Arial"/>
                <a:ea typeface="Arial"/>
                <a:cs typeface="Arial"/>
              </a:defRPr>
            </a:lvl4pPr>
            <a:lvl5pPr>
              <a:defRPr sz="3675" b="1">
                <a:solidFill>
                  <a:srgbClr val="A14B42"/>
                </a:solidFill>
                <a:latin typeface="Arial"/>
                <a:ea typeface="Arial"/>
                <a:cs typeface="Arial"/>
              </a:defRPr>
            </a:lvl5pPr>
            <a:lvl6pPr>
              <a:defRPr sz="3675" b="1">
                <a:solidFill>
                  <a:srgbClr val="A14B42"/>
                </a:solidFill>
                <a:latin typeface="Arial"/>
                <a:ea typeface="Arial"/>
                <a:cs typeface="Arial"/>
              </a:defRPr>
            </a:lvl6pPr>
            <a:lvl7pPr>
              <a:defRPr sz="3675" b="1">
                <a:solidFill>
                  <a:srgbClr val="A14B42"/>
                </a:solidFill>
                <a:latin typeface="Arial"/>
                <a:ea typeface="Arial"/>
                <a:cs typeface="Arial"/>
              </a:defRPr>
            </a:lvl7pPr>
            <a:lvl8pPr>
              <a:defRPr sz="3675" b="1">
                <a:solidFill>
                  <a:srgbClr val="A14B42"/>
                </a:solidFill>
                <a:latin typeface="Arial"/>
                <a:ea typeface="Arial"/>
                <a:cs typeface="Arial"/>
              </a:defRPr>
            </a:lvl8pPr>
            <a:lvl9pPr>
              <a:defRPr sz="3675" b="1">
                <a:solidFill>
                  <a:srgbClr val="A14B42"/>
                </a:solidFill>
                <a:latin typeface="Arial"/>
                <a:ea typeface="Arial"/>
                <a:cs typeface="Arial"/>
              </a:defRPr>
            </a:lvl9pPr>
          </a:lstStyle>
          <a:p xmlns:a="http://schemas.openxmlformats.org/drawingml/2006/main">
            <a:pPr>
              <a:defRPr sz="3675" b="1">
                <a:solidFill>
                  <a:srgbClr val="A14B42"/>
                </a:solidFill>
                <a:latin typeface="Arial"/>
                <a:ea typeface="Arial"/>
                <a:cs typeface="Arial"/>
              </a:defRPr>
            </a:pPr>
            <a:r>
              <a:rPr sz="3675" b="1">
                <a:solidFill>
                  <a:srgbClr val="A14B42"/>
                </a:solidFill>
                <a:latin typeface="Arial"/>
                <a:ea typeface="Arial"/>
                <a:cs typeface="Arial"/>
              </a:rPr>
              <a:t>BDT 1,050,000</a:t>
            </a:r>
          </a:p>
        </p:txBody>
      </p:sp>
      <p:sp>
        <p:nvSpPr>
          <p:cNvPr id="6" name="">
            <a:extLst xmlns:a="http://schemas.openxmlformats.org/drawingml/2006/main">
              <a:ext uri="{FF2B5EF4-FFF2-40B4-BE49-F238E27FC236}">
                <a16:creationId xmlns:a16="http://schemas.microsoft.com/office/drawing/2014/main" id="{A63090CC-B506-4304-A31B-438E98354501}"/>
              </a:ext>
            </a:extLst>
          </p:cNvPr>
          <p:cNvSpPr>
            <a:spLocks xmlns:a="http://schemas.openxmlformats.org/drawingml/2006/main" noGrp="1"/>
          </p:cNvSpPr>
          <p:nvPr/>
        </p:nvSpPr>
        <p:spPr>
          <a:xfrm xmlns:a="http://schemas.openxmlformats.org/drawingml/2006/main">
            <a:off x="742950" y="5762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14B42"/>
                </a:solidFill>
                <a:latin typeface="Arial"/>
                <a:ea typeface="Arial"/>
                <a:cs typeface="Arial"/>
              </a:defRPr>
            </a:defPPr>
            <a:lvl1pPr>
              <a:defRPr sz="1725" b="0">
                <a:solidFill>
                  <a:srgbClr val="A14B42"/>
                </a:solidFill>
                <a:latin typeface="Arial"/>
                <a:ea typeface="Arial"/>
                <a:cs typeface="Arial"/>
              </a:defRPr>
            </a:lvl1pPr>
            <a:lvl2pPr>
              <a:defRPr sz="1725" b="0">
                <a:solidFill>
                  <a:srgbClr val="A14B42"/>
                </a:solidFill>
                <a:latin typeface="Arial"/>
                <a:ea typeface="Arial"/>
                <a:cs typeface="Arial"/>
              </a:defRPr>
            </a:lvl2pPr>
            <a:lvl3pPr>
              <a:defRPr sz="1725" b="0">
                <a:solidFill>
                  <a:srgbClr val="A14B42"/>
                </a:solidFill>
                <a:latin typeface="Arial"/>
                <a:ea typeface="Arial"/>
                <a:cs typeface="Arial"/>
              </a:defRPr>
            </a:lvl3pPr>
            <a:lvl4pPr>
              <a:defRPr sz="1725" b="0">
                <a:solidFill>
                  <a:srgbClr val="A14B42"/>
                </a:solidFill>
                <a:latin typeface="Arial"/>
                <a:ea typeface="Arial"/>
                <a:cs typeface="Arial"/>
              </a:defRPr>
            </a:lvl4pPr>
            <a:lvl5pPr>
              <a:defRPr sz="1725" b="0">
                <a:solidFill>
                  <a:srgbClr val="A14B42"/>
                </a:solidFill>
                <a:latin typeface="Arial"/>
                <a:ea typeface="Arial"/>
                <a:cs typeface="Arial"/>
              </a:defRPr>
            </a:lvl5pPr>
            <a:lvl6pPr>
              <a:defRPr sz="1725" b="0">
                <a:solidFill>
                  <a:srgbClr val="A14B42"/>
                </a:solidFill>
                <a:latin typeface="Arial"/>
                <a:ea typeface="Arial"/>
                <a:cs typeface="Arial"/>
              </a:defRPr>
            </a:lvl6pPr>
            <a:lvl7pPr>
              <a:defRPr sz="1725" b="0">
                <a:solidFill>
                  <a:srgbClr val="A14B42"/>
                </a:solidFill>
                <a:latin typeface="Arial"/>
                <a:ea typeface="Arial"/>
                <a:cs typeface="Arial"/>
              </a:defRPr>
            </a:lvl7pPr>
            <a:lvl8pPr>
              <a:defRPr sz="1725" b="0">
                <a:solidFill>
                  <a:srgbClr val="A14B42"/>
                </a:solidFill>
                <a:latin typeface="Arial"/>
                <a:ea typeface="Arial"/>
                <a:cs typeface="Arial"/>
              </a:defRPr>
            </a:lvl8pPr>
            <a:lvl9pPr>
              <a:defRPr sz="1725" b="0">
                <a:solidFill>
                  <a:srgbClr val="A14B42"/>
                </a:solidFill>
                <a:latin typeface="Arial"/>
                <a:ea typeface="Arial"/>
                <a:cs typeface="Arial"/>
              </a:defRPr>
            </a:lvl9pPr>
          </a:lstStyle>
          <a:p xmlns:a="http://schemas.openxmlformats.org/drawingml/2006/main">
            <a:pPr>
              <a:defRPr sz="1725" b="0">
                <a:solidFill>
                  <a:srgbClr val="A14B42"/>
                </a:solidFill>
                <a:latin typeface="Arial"/>
                <a:ea typeface="Arial"/>
                <a:cs typeface="Arial"/>
              </a:defRPr>
            </a:pPr>
            <a:r>
              <a:rPr sz="1725" b="0">
                <a:solidFill>
                  <a:srgbClr val="A14B42"/>
                </a:solidFill>
                <a:latin typeface="Arial"/>
                <a:ea typeface="Arial"/>
                <a:cs typeface="Arial"/>
              </a:rPr>
              <a:t>Unsupported claim  ·  18.75% variance  ·  BLOCKED</a:t>
            </a:r>
          </a:p>
        </p:txBody>
      </p:sp>
      <p:pic>
        <p:nvPicPr>
          <p:cNvPr id="7" name="">
            <a:extLst xmlns:a="http://schemas.openxmlformats.org/drawingml/2006/main">
              <a:ext uri="{FF2B5EF4-FFF2-40B4-BE49-F238E27FC236}">
                <a16:creationId xmlns:a16="http://schemas.microsoft.com/office/drawing/2014/main" id="{8A3B03E6-516D-4FB4-9ED2-43C61F2C8D3C}"/>
              </a:ext>
            </a:extLst>
          </p:cNvPr>
          <p:cNvPicPr>
            <a:picLocks xmlns:a="http://schemas.openxmlformats.org/drawingml/2006/main" noChangeAspect="1"/>
          </p:cNvPicPr>
          <p:nvPr/>
        </p:nvPicPr>
        <p:blipFill>
          <a:blip xmlns:r="http://schemas.openxmlformats.org/officeDocument/2006/relationships" xmlns:a="http://schemas.openxmlformats.org/drawingml/2006/main" r:embed="R6808a87a8ce94479"/>
          <a:stretch xmlns:a="http://schemas.openxmlformats.org/drawingml/2006/main"/>
        </p:blipFill>
        <p:spPr>
          <a:xfrm xmlns:a="http://schemas.openxmlformats.org/drawingml/2006/main">
            <a:off x="5619750" y="3360320"/>
            <a:ext cx="5867400" cy="708861"/>
          </a:xfrm>
          <a:prstGeom xmlns:a="http://schemas.openxmlformats.org/drawingml/2006/main" prst="rect">
            <a:avLst/>
          </a:prstGeom>
        </p:spPr>
      </p:pic>
    </p:spTree>
    <p:extLst>
      <p:ext uri="{BB962C8B-B14F-4D97-AF65-F5344CB8AC3E}">
        <p14:creationId xmlns:p14="http://schemas.microsoft.com/office/powerpoint/2010/main" val="615218654"/>
      </p:ext>
    </p:extLst>
  </p:cSld>
</p:sld>
</file>

<file path=ppt/slides/slide7.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4F5C2A9-7E09-4428-A341-3F37D98C37E7}"/>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An authorized sandbox transaction</a:t>
            </a:r>
          </a:p>
        </p:txBody>
      </p:sp>
      <p:sp>
        <p:nvSpPr>
          <p:cNvPr id="2" name="">
            <a:extLst xmlns:a="http://schemas.openxmlformats.org/drawingml/2006/main">
              <a:ext uri="{FF2B5EF4-FFF2-40B4-BE49-F238E27FC236}">
                <a16:creationId xmlns:a16="http://schemas.microsoft.com/office/drawing/2014/main" id="{041D507B-55D2-4F8E-ACBB-CFF86BC6B98E}"/>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53E3BEAF-89D3-426E-8857-EB79825FB8F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3E555585-E38F-43BD-8100-EA2238466941}"/>
              </a:ext>
            </a:extLst>
          </p:cNvPr>
          <p:cNvSpPr>
            <a:spLocks xmlns:a="http://schemas.openxmlformats.org/drawingml/2006/main" noGrp="1"/>
          </p:cNvSpPr>
          <p:nvPr/>
        </p:nvSpPr>
        <p:spPr>
          <a:xfrm xmlns:a="http://schemas.openxmlformats.org/drawingml/2006/main">
            <a:off x="685800" y="18478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286E62"/>
                </a:solidFill>
                <a:latin typeface="Arial"/>
                <a:ea typeface="Arial"/>
                <a:cs typeface="Arial"/>
              </a:defRPr>
            </a:defPPr>
            <a:lvl1pPr>
              <a:defRPr sz="4425" b="1">
                <a:solidFill>
                  <a:srgbClr val="286E62"/>
                </a:solidFill>
                <a:latin typeface="Arial"/>
                <a:ea typeface="Arial"/>
                <a:cs typeface="Arial"/>
              </a:defRPr>
            </a:lvl1pPr>
            <a:lvl2pPr>
              <a:defRPr sz="4425" b="1">
                <a:solidFill>
                  <a:srgbClr val="286E62"/>
                </a:solidFill>
                <a:latin typeface="Arial"/>
                <a:ea typeface="Arial"/>
                <a:cs typeface="Arial"/>
              </a:defRPr>
            </a:lvl2pPr>
            <a:lvl3pPr>
              <a:defRPr sz="4425" b="1">
                <a:solidFill>
                  <a:srgbClr val="286E62"/>
                </a:solidFill>
                <a:latin typeface="Arial"/>
                <a:ea typeface="Arial"/>
                <a:cs typeface="Arial"/>
              </a:defRPr>
            </a:lvl3pPr>
            <a:lvl4pPr>
              <a:defRPr sz="4425" b="1">
                <a:solidFill>
                  <a:srgbClr val="286E62"/>
                </a:solidFill>
                <a:latin typeface="Arial"/>
                <a:ea typeface="Arial"/>
                <a:cs typeface="Arial"/>
              </a:defRPr>
            </a:lvl4pPr>
            <a:lvl5pPr>
              <a:defRPr sz="4425" b="1">
                <a:solidFill>
                  <a:srgbClr val="286E62"/>
                </a:solidFill>
                <a:latin typeface="Arial"/>
                <a:ea typeface="Arial"/>
                <a:cs typeface="Arial"/>
              </a:defRPr>
            </a:lvl5pPr>
            <a:lvl6pPr>
              <a:defRPr sz="4425" b="1">
                <a:solidFill>
                  <a:srgbClr val="286E62"/>
                </a:solidFill>
                <a:latin typeface="Arial"/>
                <a:ea typeface="Arial"/>
                <a:cs typeface="Arial"/>
              </a:defRPr>
            </a:lvl6pPr>
            <a:lvl7pPr>
              <a:defRPr sz="4425" b="1">
                <a:solidFill>
                  <a:srgbClr val="286E62"/>
                </a:solidFill>
                <a:latin typeface="Arial"/>
                <a:ea typeface="Arial"/>
                <a:cs typeface="Arial"/>
              </a:defRPr>
            </a:lvl7pPr>
            <a:lvl8pPr>
              <a:defRPr sz="4425" b="1">
                <a:solidFill>
                  <a:srgbClr val="286E62"/>
                </a:solidFill>
                <a:latin typeface="Arial"/>
                <a:ea typeface="Arial"/>
                <a:cs typeface="Arial"/>
              </a:defRPr>
            </a:lvl8pPr>
            <a:lvl9pPr>
              <a:defRPr sz="4425" b="1">
                <a:solidFill>
                  <a:srgbClr val="286E62"/>
                </a:solidFill>
                <a:latin typeface="Arial"/>
                <a:ea typeface="Arial"/>
                <a:cs typeface="Arial"/>
              </a:defRPr>
            </a:lvl9pPr>
          </a:lstStyle>
          <a:p xmlns:a="http://schemas.openxmlformats.org/drawingml/2006/main">
            <a:pPr>
              <a:defRPr sz="4425" b="1">
                <a:solidFill>
                  <a:srgbClr val="286E62"/>
                </a:solidFill>
                <a:latin typeface="Arial"/>
                <a:ea typeface="Arial"/>
                <a:cs typeface="Arial"/>
              </a:defRPr>
            </a:pPr>
            <a:r>
              <a:rPr sz="4425" b="1">
                <a:solidFill>
                  <a:srgbClr val="286E62"/>
                </a:solidFill>
                <a:latin typeface="Arial"/>
                <a:ea typeface="Arial"/>
                <a:cs typeface="Arial"/>
              </a:rPr>
              <a:t>BDT 70,000</a:t>
            </a:r>
          </a:p>
        </p:txBody>
      </p:sp>
      <p:sp>
        <p:nvSpPr>
          <p:cNvPr id="5" name="">
            <a:extLst xmlns:a="http://schemas.openxmlformats.org/drawingml/2006/main">
              <a:ext uri="{FF2B5EF4-FFF2-40B4-BE49-F238E27FC236}">
                <a16:creationId xmlns:a16="http://schemas.microsoft.com/office/drawing/2014/main" id="{718DF5B6-3C2C-46B7-A7FD-44BB96D6369A}"/>
              </a:ext>
            </a:extLst>
          </p:cNvPr>
          <p:cNvSpPr>
            <a:spLocks xmlns:a="http://schemas.openxmlformats.org/drawingml/2006/main" noGrp="1"/>
          </p:cNvSpPr>
          <p:nvPr/>
        </p:nvSpPr>
        <p:spPr>
          <a:xfrm xmlns:a="http://schemas.openxmlformats.org/drawingml/2006/main">
            <a:off x="723900" y="2743200"/>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77D"/>
                </a:solidFill>
                <a:latin typeface="Arial"/>
                <a:ea typeface="Arial"/>
                <a:cs typeface="Arial"/>
              </a:defRPr>
            </a:defPPr>
            <a:lvl1pPr>
              <a:defRPr sz="1875" b="0">
                <a:solidFill>
                  <a:srgbClr val="60777D"/>
                </a:solidFill>
                <a:latin typeface="Arial"/>
                <a:ea typeface="Arial"/>
                <a:cs typeface="Arial"/>
              </a:defRPr>
            </a:lvl1pPr>
            <a:lvl2pPr>
              <a:defRPr sz="1875" b="0">
                <a:solidFill>
                  <a:srgbClr val="60777D"/>
                </a:solidFill>
                <a:latin typeface="Arial"/>
                <a:ea typeface="Arial"/>
                <a:cs typeface="Arial"/>
              </a:defRPr>
            </a:lvl2pPr>
            <a:lvl3pPr>
              <a:defRPr sz="1875" b="0">
                <a:solidFill>
                  <a:srgbClr val="60777D"/>
                </a:solidFill>
                <a:latin typeface="Arial"/>
                <a:ea typeface="Arial"/>
                <a:cs typeface="Arial"/>
              </a:defRPr>
            </a:lvl3pPr>
            <a:lvl4pPr>
              <a:defRPr sz="1875" b="0">
                <a:solidFill>
                  <a:srgbClr val="60777D"/>
                </a:solidFill>
                <a:latin typeface="Arial"/>
                <a:ea typeface="Arial"/>
                <a:cs typeface="Arial"/>
              </a:defRPr>
            </a:lvl4pPr>
            <a:lvl5pPr>
              <a:defRPr sz="1875" b="0">
                <a:solidFill>
                  <a:srgbClr val="60777D"/>
                </a:solidFill>
                <a:latin typeface="Arial"/>
                <a:ea typeface="Arial"/>
                <a:cs typeface="Arial"/>
              </a:defRPr>
            </a:lvl5pPr>
            <a:lvl6pPr>
              <a:defRPr sz="1875" b="0">
                <a:solidFill>
                  <a:srgbClr val="60777D"/>
                </a:solidFill>
                <a:latin typeface="Arial"/>
                <a:ea typeface="Arial"/>
                <a:cs typeface="Arial"/>
              </a:defRPr>
            </a:lvl6pPr>
            <a:lvl7pPr>
              <a:defRPr sz="1875" b="0">
                <a:solidFill>
                  <a:srgbClr val="60777D"/>
                </a:solidFill>
                <a:latin typeface="Arial"/>
                <a:ea typeface="Arial"/>
                <a:cs typeface="Arial"/>
              </a:defRPr>
            </a:lvl7pPr>
            <a:lvl8pPr>
              <a:defRPr sz="1875" b="0">
                <a:solidFill>
                  <a:srgbClr val="60777D"/>
                </a:solidFill>
                <a:latin typeface="Arial"/>
                <a:ea typeface="Arial"/>
                <a:cs typeface="Arial"/>
              </a:defRPr>
            </a:lvl8pPr>
            <a:lvl9pPr>
              <a:defRPr sz="1875" b="0">
                <a:solidFill>
                  <a:srgbClr val="60777D"/>
                </a:solidFill>
                <a:latin typeface="Arial"/>
                <a:ea typeface="Arial"/>
                <a:cs typeface="Arial"/>
              </a:defRPr>
            </a:lvl9pPr>
          </a:lstStyle>
          <a:p xmlns:a="http://schemas.openxmlformats.org/drawingml/2006/main">
            <a:pPr>
              <a:defRPr sz="1875" b="0">
                <a:solidFill>
                  <a:srgbClr val="60777D"/>
                </a:solidFill>
                <a:latin typeface="Arial"/>
                <a:ea typeface="Arial"/>
                <a:cs typeface="Arial"/>
              </a:defRPr>
            </a:pPr>
            <a:r>
              <a:rPr sz="1875" b="0">
                <a:solidFill>
                  <a:srgbClr val="60777D"/>
                </a:solidFill>
                <a:latin typeface="Arial"/>
                <a:ea typeface="Arial"/>
                <a:cs typeface="Arial"/>
              </a:rPr>
              <a:t>One approved simulated settlement</a:t>
            </a:r>
          </a:p>
        </p:txBody>
      </p:sp>
      <p:sp>
        <p:nvSpPr>
          <p:cNvPr id="6" name="">
            <a:extLst xmlns:a="http://schemas.openxmlformats.org/drawingml/2006/main">
              <a:ext uri="{FF2B5EF4-FFF2-40B4-BE49-F238E27FC236}">
                <a16:creationId xmlns:a16="http://schemas.microsoft.com/office/drawing/2014/main" id="{C2F621D9-3245-4002-9DD7-74F212FFC802}"/>
              </a:ext>
            </a:extLst>
          </p:cNvPr>
          <p:cNvSpPr>
            <a:spLocks xmlns:a="http://schemas.openxmlformats.org/drawingml/2006/main" noGrp="1"/>
          </p:cNvSpPr>
          <p:nvPr/>
        </p:nvSpPr>
        <p:spPr>
          <a:xfrm xmlns:a="http://schemas.openxmlformats.org/drawingml/2006/main">
            <a:off x="723900" y="381952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1,000,000 → 930,000</a:t>
            </a:r>
          </a:p>
        </p:txBody>
      </p:sp>
      <p:sp>
        <p:nvSpPr>
          <p:cNvPr id="7" name="">
            <a:extLst xmlns:a="http://schemas.openxmlformats.org/drawingml/2006/main">
              <a:ext uri="{FF2B5EF4-FFF2-40B4-BE49-F238E27FC236}">
                <a16:creationId xmlns:a16="http://schemas.microsoft.com/office/drawing/2014/main" id="{33BB9D28-10C6-4440-9DAF-CD962AAC6F46}"/>
              </a:ext>
            </a:extLst>
          </p:cNvPr>
          <p:cNvSpPr>
            <a:spLocks xmlns:a="http://schemas.openxmlformats.org/drawingml/2006/main" noGrp="1"/>
          </p:cNvSpPr>
          <p:nvPr/>
        </p:nvSpPr>
        <p:spPr>
          <a:xfrm xmlns:a="http://schemas.openxmlformats.org/drawingml/2006/main">
            <a:off x="742950" y="46005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Recorded cash balance in BDT</a:t>
            </a:r>
          </a:p>
        </p:txBody>
      </p:sp>
      <p:sp>
        <p:nvSpPr>
          <p:cNvPr id="8" name="">
            <a:extLst xmlns:a="http://schemas.openxmlformats.org/drawingml/2006/main">
              <a:ext uri="{FF2B5EF4-FFF2-40B4-BE49-F238E27FC236}">
                <a16:creationId xmlns:a16="http://schemas.microsoft.com/office/drawing/2014/main" id="{A98D5A21-CC89-4804-821E-7034CE160644}"/>
              </a:ext>
            </a:extLst>
          </p:cNvPr>
          <p:cNvSpPr>
            <a:spLocks xmlns:a="http://schemas.openxmlformats.org/drawingml/2006/main" noGrp="1"/>
          </p:cNvSpPr>
          <p:nvPr/>
        </p:nvSpPr>
        <p:spPr>
          <a:xfrm xmlns:a="http://schemas.openxmlformats.org/drawingml/2006/main">
            <a:off x="742950" y="5334000"/>
            <a:ext cx="4667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6E62"/>
                </a:solidFill>
                <a:latin typeface="Arial"/>
                <a:ea typeface="Arial"/>
                <a:cs typeface="Arial"/>
              </a:defRPr>
            </a:defPPr>
            <a:lvl1pPr>
              <a:defRPr sz="1875" b="1">
                <a:solidFill>
                  <a:srgbClr val="286E62"/>
                </a:solidFill>
                <a:latin typeface="Arial"/>
                <a:ea typeface="Arial"/>
                <a:cs typeface="Arial"/>
              </a:defRPr>
            </a:lvl1pPr>
            <a:lvl2pPr>
              <a:defRPr sz="1875" b="1">
                <a:solidFill>
                  <a:srgbClr val="286E62"/>
                </a:solidFill>
                <a:latin typeface="Arial"/>
                <a:ea typeface="Arial"/>
                <a:cs typeface="Arial"/>
              </a:defRPr>
            </a:lvl2pPr>
            <a:lvl3pPr>
              <a:defRPr sz="1875" b="1">
                <a:solidFill>
                  <a:srgbClr val="286E62"/>
                </a:solidFill>
                <a:latin typeface="Arial"/>
                <a:ea typeface="Arial"/>
                <a:cs typeface="Arial"/>
              </a:defRPr>
            </a:lvl3pPr>
            <a:lvl4pPr>
              <a:defRPr sz="1875" b="1">
                <a:solidFill>
                  <a:srgbClr val="286E62"/>
                </a:solidFill>
                <a:latin typeface="Arial"/>
                <a:ea typeface="Arial"/>
                <a:cs typeface="Arial"/>
              </a:defRPr>
            </a:lvl4pPr>
            <a:lvl5pPr>
              <a:defRPr sz="1875" b="1">
                <a:solidFill>
                  <a:srgbClr val="286E62"/>
                </a:solidFill>
                <a:latin typeface="Arial"/>
                <a:ea typeface="Arial"/>
                <a:cs typeface="Arial"/>
              </a:defRPr>
            </a:lvl5pPr>
            <a:lvl6pPr>
              <a:defRPr sz="1875" b="1">
                <a:solidFill>
                  <a:srgbClr val="286E62"/>
                </a:solidFill>
                <a:latin typeface="Arial"/>
                <a:ea typeface="Arial"/>
                <a:cs typeface="Arial"/>
              </a:defRPr>
            </a:lvl6pPr>
            <a:lvl7pPr>
              <a:defRPr sz="1875" b="1">
                <a:solidFill>
                  <a:srgbClr val="286E62"/>
                </a:solidFill>
                <a:latin typeface="Arial"/>
                <a:ea typeface="Arial"/>
                <a:cs typeface="Arial"/>
              </a:defRPr>
            </a:lvl7pPr>
            <a:lvl8pPr>
              <a:defRPr sz="1875" b="1">
                <a:solidFill>
                  <a:srgbClr val="286E62"/>
                </a:solidFill>
                <a:latin typeface="Arial"/>
                <a:ea typeface="Arial"/>
                <a:cs typeface="Arial"/>
              </a:defRPr>
            </a:lvl8pPr>
            <a:lvl9pPr>
              <a:defRPr sz="1875" b="1">
                <a:solidFill>
                  <a:srgbClr val="286E62"/>
                </a:solidFill>
                <a:latin typeface="Arial"/>
                <a:ea typeface="Arial"/>
                <a:cs typeface="Arial"/>
              </a:defRPr>
            </a:lvl9pPr>
          </a:lstStyle>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Same request key → same receipt</a:t>
            </a:r>
          </a:p>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No second cash deduction</a:t>
            </a:r>
          </a:p>
        </p:txBody>
      </p:sp>
      <p:pic>
        <p:nvPicPr>
          <p:cNvPr id="9" name="">
            <a:extLst xmlns:a="http://schemas.openxmlformats.org/drawingml/2006/main">
              <a:ext uri="{FF2B5EF4-FFF2-40B4-BE49-F238E27FC236}">
                <a16:creationId xmlns:a16="http://schemas.microsoft.com/office/drawing/2014/main" id="{3E93F716-0701-4385-ADF8-54AA183F4655}"/>
              </a:ext>
            </a:extLst>
          </p:cNvPr>
          <p:cNvPicPr>
            <a:picLocks xmlns:a="http://schemas.openxmlformats.org/drawingml/2006/main" noChangeAspect="1"/>
          </p:cNvPicPr>
          <p:nvPr/>
        </p:nvPicPr>
        <p:blipFill>
          <a:blip xmlns:r="http://schemas.openxmlformats.org/officeDocument/2006/relationships" xmlns:a="http://schemas.openxmlformats.org/drawingml/2006/main" r:embed="R35be621c10134199"/>
          <a:stretch xmlns:a="http://schemas.openxmlformats.org/drawingml/2006/main"/>
        </p:blipFill>
        <p:spPr>
          <a:xfrm xmlns:a="http://schemas.openxmlformats.org/drawingml/2006/main">
            <a:off x="6725028" y="1657350"/>
            <a:ext cx="3923545" cy="4362450"/>
          </a:xfrm>
          <a:prstGeom xmlns:a="http://schemas.openxmlformats.org/drawingml/2006/main" prst="rect">
            <a:avLst/>
          </a:prstGeom>
        </p:spPr>
      </p:pic>
    </p:spTree>
    <p:extLst>
      <p:ext uri="{BB962C8B-B14F-4D97-AF65-F5344CB8AC3E}">
        <p14:creationId xmlns:p14="http://schemas.microsoft.com/office/powerpoint/2010/main" val="534962930"/>
      </p:ext>
    </p:extLst>
  </p:cSld>
</p:sld>
</file>

<file path=ppt/slides/slide8.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284EC0-F429-4B91-95C1-C9F5DA5EF8BC}"/>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Security and execution evidence</a:t>
            </a:r>
          </a:p>
        </p:txBody>
      </p:sp>
      <p:sp>
        <p:nvSpPr>
          <p:cNvPr id="2" name="">
            <a:extLst xmlns:a="http://schemas.openxmlformats.org/drawingml/2006/main">
              <a:ext uri="{FF2B5EF4-FFF2-40B4-BE49-F238E27FC236}">
                <a16:creationId xmlns:a16="http://schemas.microsoft.com/office/drawing/2014/main" id="{0CA5D61C-3B2A-4590-8AB4-FCE56CA722E9}"/>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C836C90E-BAF5-42BB-BE62-DEB372E4E310}"/>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7ACCB718-2F00-4017-BB40-A05A93DB313D}"/>
              </a:ext>
            </a:extLst>
          </p:cNvPr>
          <p:cNvSpPr>
            <a:spLocks xmlns:a="http://schemas.openxmlformats.org/drawingml/2006/main" noGrp="1"/>
          </p:cNvSpPr>
          <p:nvPr/>
        </p:nvSpPr>
        <p:spPr>
          <a:xfrm xmlns:a="http://schemas.openxmlformats.org/drawingml/2006/main">
            <a:off x="723900" y="1924050"/>
            <a:ext cx="5810250" cy="3228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Independent approval</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Exact payment snapshots</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Atomic, idempotent settlement</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Verified local audit chain</a:t>
            </a:r>
          </a:p>
        </p:txBody>
      </p:sp>
      <p:graphicFrame>
        <p:nvGraphicFramePr>
          <p:cNvPr id="5" name="">
            <a:extLst xmlns:a="http://schemas.openxmlformats.org/drawingml/2006/main">
              <a:ext uri="{FF2B5EF4-FFF2-40B4-BE49-F238E27FC236}">
                <a16:creationId xmlns:a16="http://schemas.microsoft.com/office/drawing/2014/main" id="{766C1C58-2486-431E-9F7A-B8A88D1D0842}"/>
              </a:ext>
            </a:extLst>
          </p:cNvPr>
          <p:cNvGraphicFramePr/>
          <p:nvPr/>
        </p:nvGraphicFramePr>
        <p:xfrm>
          <a:off xmlns:a="http://schemas.openxmlformats.org/drawingml/2006/main" x="6915150" y="1790700"/>
          <a:ext xmlns:a="http://schemas.openxmlformats.org/drawingml/2006/main" cx="4572000" cy="3238500"/>
        </p:xfrm>
        <a:graphic xmlns:a="http://schemas.openxmlformats.org/drawingml/2006/main">
          <a:graphicData uri="http://schemas.openxmlformats.org/drawingml/2006/table">
            <a:tbl>
              <a:tblPr/>
              <a:tblGrid>
                <a:gridCol w="3238500"/>
                <a:gridCol w="1333500"/>
              </a:tblGrid>
              <a:tr h="647700">
                <a:tc>
                  <a:txBody>
                    <a:bodyPr/>
                    <a:lstStyle/>
                    <a:p>
                      <a:r>
                        <a:rPr sz="1800" b="1">
                          <a:solidFill>
                            <a:srgbClr val="FFFFFF"/>
                          </a:solidFill>
                          <a:latin typeface="Arial"/>
                          <a:ea typeface="Arial"/>
                          <a:cs typeface="Arial"/>
                        </a:rPr>
                        <a:t>Executed validation</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Passed</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647700">
                <a:tc>
                  <a:txBody>
                    <a:bodyPr/>
                    <a:lstStyle/>
                    <a:p>
                      <a:r>
                        <a:rPr sz="1800" b="0">
                          <a:solidFill>
                            <a:srgbClr val="29434D"/>
                          </a:solidFill>
                          <a:latin typeface="Arial"/>
                          <a:ea typeface="Arial"/>
                          <a:cs typeface="Arial"/>
                        </a:rPr>
                        <a:t>Backend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191</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Frontend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r h="647700">
                <a:tc>
                  <a:txBody>
                    <a:bodyPr/>
                    <a:lstStyle/>
                    <a:p>
                      <a:r>
                        <a:rPr sz="1800" b="0">
                          <a:solidFill>
                            <a:srgbClr val="29434D"/>
                          </a:solidFill>
                          <a:latin typeface="Arial"/>
                          <a:ea typeface="Arial"/>
                          <a:cs typeface="Arial"/>
                        </a:rPr>
                        <a:t>Browser workflows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16</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HTTP scenarios A–H</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6" name="">
            <a:extLst xmlns:a="http://schemas.openxmlformats.org/drawingml/2006/main">
              <a:ext uri="{FF2B5EF4-FFF2-40B4-BE49-F238E27FC236}">
                <a16:creationId xmlns:a16="http://schemas.microsoft.com/office/drawing/2014/main" id="{8084A357-A38A-44D9-A95D-F886436200A3}"/>
              </a:ext>
            </a:extLst>
          </p:cNvPr>
          <p:cNvSpPr>
            <a:spLocks xmlns:a="http://schemas.openxmlformats.org/drawingml/2006/main" noGrp="1"/>
          </p:cNvSpPr>
          <p:nvPr/>
        </p:nvSpPr>
        <p:spPr>
          <a:xfrm xmlns:a="http://schemas.openxmlformats.org/drawingml/2006/main">
            <a:off x="723900" y="5524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Local hash chaining cannot prevent a privileged database administrator from rewriting history.</a:t>
            </a:r>
          </a:p>
        </p:txBody>
      </p:sp>
    </p:spTree>
    <p:extLst>
      <p:ext uri="{BB962C8B-B14F-4D97-AF65-F5344CB8AC3E}">
        <p14:creationId xmlns:p14="http://schemas.microsoft.com/office/powerpoint/2010/main" val="1306599916"/>
      </p:ext>
    </p:extLst>
  </p:cSld>
</p:sld>
</file>

<file path=ppt/slides/slide9.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8B159B-D624-4D0A-A419-A3A35905F9EA}"/>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Cost planning and commercial controls</a:t>
            </a:r>
          </a:p>
        </p:txBody>
      </p:sp>
      <p:sp>
        <p:nvSpPr>
          <p:cNvPr id="2" name="">
            <a:extLst xmlns:a="http://schemas.openxmlformats.org/drawingml/2006/main">
              <a:ext uri="{FF2B5EF4-FFF2-40B4-BE49-F238E27FC236}">
                <a16:creationId xmlns:a16="http://schemas.microsoft.com/office/drawing/2014/main" id="{E932A252-8DBC-4564-985F-046A0355D4FE}"/>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FA0B9A59-7F31-4D8E-9D39-8312ADDA4549}"/>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87291812-F113-4571-AE00-09378FFE5206}"/>
              </a:ext>
            </a:extLst>
          </p:cNvPr>
          <p:cNvSpPr>
            <a:spLocks xmlns:a="http://schemas.openxmlformats.org/drawingml/2006/main" noGrp="1"/>
          </p:cNvSpPr>
          <p:nvPr/>
        </p:nvSpPr>
        <p:spPr>
          <a:xfrm xmlns:a="http://schemas.openxmlformats.org/drawingml/2006/main">
            <a:off x="723900" y="1809750"/>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BDT 80,000</a:t>
            </a:r>
          </a:p>
        </p:txBody>
      </p:sp>
      <p:sp>
        <p:nvSpPr>
          <p:cNvPr id="5" name="">
            <a:extLst xmlns:a="http://schemas.openxmlformats.org/drawingml/2006/main">
              <a:ext uri="{FF2B5EF4-FFF2-40B4-BE49-F238E27FC236}">
                <a16:creationId xmlns:a16="http://schemas.microsoft.com/office/drawing/2014/main" id="{62B9C242-374D-4E68-87DB-89E34E6F7EF9}"/>
              </a:ext>
            </a:extLst>
          </p:cNvPr>
          <p:cNvSpPr>
            <a:spLocks xmlns:a="http://schemas.openxmlformats.org/drawingml/2006/main" noGrp="1"/>
          </p:cNvSpPr>
          <p:nvPr/>
        </p:nvSpPr>
        <p:spPr>
          <a:xfrm xmlns:a="http://schemas.openxmlformats.org/drawingml/2006/main">
            <a:off x="752475" y="275272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8E7E0"/>
                </a:solidFill>
                <a:latin typeface="Arial"/>
                <a:ea typeface="Arial"/>
                <a:cs typeface="Arial"/>
              </a:defRPr>
            </a:defPPr>
            <a:lvl1pPr>
              <a:defRPr sz="2100" b="0">
                <a:solidFill>
                  <a:srgbClr val="D8E7E0"/>
                </a:solidFill>
                <a:latin typeface="Arial"/>
                <a:ea typeface="Arial"/>
                <a:cs typeface="Arial"/>
              </a:defRPr>
            </a:lvl1pPr>
            <a:lvl2pPr>
              <a:defRPr sz="2100" b="0">
                <a:solidFill>
                  <a:srgbClr val="D8E7E0"/>
                </a:solidFill>
                <a:latin typeface="Arial"/>
                <a:ea typeface="Arial"/>
                <a:cs typeface="Arial"/>
              </a:defRPr>
            </a:lvl2pPr>
            <a:lvl3pPr>
              <a:defRPr sz="2100" b="0">
                <a:solidFill>
                  <a:srgbClr val="D8E7E0"/>
                </a:solidFill>
                <a:latin typeface="Arial"/>
                <a:ea typeface="Arial"/>
                <a:cs typeface="Arial"/>
              </a:defRPr>
            </a:lvl3pPr>
            <a:lvl4pPr>
              <a:defRPr sz="2100" b="0">
                <a:solidFill>
                  <a:srgbClr val="D8E7E0"/>
                </a:solidFill>
                <a:latin typeface="Arial"/>
                <a:ea typeface="Arial"/>
                <a:cs typeface="Arial"/>
              </a:defRPr>
            </a:lvl4pPr>
            <a:lvl5pPr>
              <a:defRPr sz="2100" b="0">
                <a:solidFill>
                  <a:srgbClr val="D8E7E0"/>
                </a:solidFill>
                <a:latin typeface="Arial"/>
                <a:ea typeface="Arial"/>
                <a:cs typeface="Arial"/>
              </a:defRPr>
            </a:lvl5pPr>
            <a:lvl6pPr>
              <a:defRPr sz="2100" b="0">
                <a:solidFill>
                  <a:srgbClr val="D8E7E0"/>
                </a:solidFill>
                <a:latin typeface="Arial"/>
                <a:ea typeface="Arial"/>
                <a:cs typeface="Arial"/>
              </a:defRPr>
            </a:lvl6pPr>
            <a:lvl7pPr>
              <a:defRPr sz="2100" b="0">
                <a:solidFill>
                  <a:srgbClr val="D8E7E0"/>
                </a:solidFill>
                <a:latin typeface="Arial"/>
                <a:ea typeface="Arial"/>
                <a:cs typeface="Arial"/>
              </a:defRPr>
            </a:lvl7pPr>
            <a:lvl8pPr>
              <a:defRPr sz="2100" b="0">
                <a:solidFill>
                  <a:srgbClr val="D8E7E0"/>
                </a:solidFill>
                <a:latin typeface="Arial"/>
                <a:ea typeface="Arial"/>
                <a:cs typeface="Arial"/>
              </a:defRPr>
            </a:lvl8pPr>
            <a:lvl9pPr>
              <a:defRPr sz="2100" b="0">
                <a:solidFill>
                  <a:srgbClr val="D8E7E0"/>
                </a:solidFill>
                <a:latin typeface="Arial"/>
                <a:ea typeface="Arial"/>
                <a:cs typeface="Arial"/>
              </a:defRPr>
            </a:lvl9pPr>
          </a:lstStyle>
          <a:p xmlns:a="http://schemas.openxmlformats.org/drawingml/2006/main">
            <a:pPr>
              <a:defRPr sz="2100" b="0">
                <a:solidFill>
                  <a:srgbClr val="D8E7E0"/>
                </a:solidFill>
                <a:latin typeface="Arial"/>
                <a:ea typeface="Arial"/>
                <a:cs typeface="Arial"/>
              </a:defRPr>
            </a:pPr>
            <a:r>
              <a:rPr sz="2100" b="0">
                <a:solidFill>
                  <a:srgbClr val="D8E7E0"/>
                </a:solidFill>
                <a:latin typeface="Arial"/>
                <a:ea typeface="Arial"/>
                <a:cs typeface="Arial"/>
              </a:rPr>
              <a:t>Increase in the fictional 20-tonne estimate</a:t>
            </a:r>
          </a:p>
        </p:txBody>
      </p:sp>
      <p:sp>
        <p:nvSpPr>
          <p:cNvPr id="6" name="">
            <a:extLst xmlns:a="http://schemas.openxmlformats.org/drawingml/2006/main">
              <a:ext uri="{FF2B5EF4-FFF2-40B4-BE49-F238E27FC236}">
                <a16:creationId xmlns:a16="http://schemas.microsoft.com/office/drawing/2014/main" id="{F44EB954-D6B2-481B-8D8F-30DF81C6C304}"/>
              </a:ext>
            </a:extLst>
          </p:cNvPr>
          <p:cNvSpPr>
            <a:spLocks xmlns:a="http://schemas.openxmlformats.org/drawingml/2006/main" noGrp="1"/>
          </p:cNvSpPr>
          <p:nvPr/>
        </p:nvSpPr>
        <p:spPr>
          <a:xfrm xmlns:a="http://schemas.openxmlformats.org/drawingml/2006/main">
            <a:off x="723900" y="375285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A8CDC0"/>
                </a:solidFill>
                <a:latin typeface="Arial"/>
                <a:ea typeface="Arial"/>
                <a:cs typeface="Arial"/>
              </a:defRPr>
            </a:defPPr>
            <a:lvl1pPr>
              <a:defRPr sz="2925" b="1">
                <a:solidFill>
                  <a:srgbClr val="A8CDC0"/>
                </a:solidFill>
                <a:latin typeface="Arial"/>
                <a:ea typeface="Arial"/>
                <a:cs typeface="Arial"/>
              </a:defRPr>
            </a:lvl1pPr>
            <a:lvl2pPr>
              <a:defRPr sz="2925" b="1">
                <a:solidFill>
                  <a:srgbClr val="A8CDC0"/>
                </a:solidFill>
                <a:latin typeface="Arial"/>
                <a:ea typeface="Arial"/>
                <a:cs typeface="Arial"/>
              </a:defRPr>
            </a:lvl2pPr>
            <a:lvl3pPr>
              <a:defRPr sz="2925" b="1">
                <a:solidFill>
                  <a:srgbClr val="A8CDC0"/>
                </a:solidFill>
                <a:latin typeface="Arial"/>
                <a:ea typeface="Arial"/>
                <a:cs typeface="Arial"/>
              </a:defRPr>
            </a:lvl3pPr>
            <a:lvl4pPr>
              <a:defRPr sz="2925" b="1">
                <a:solidFill>
                  <a:srgbClr val="A8CDC0"/>
                </a:solidFill>
                <a:latin typeface="Arial"/>
                <a:ea typeface="Arial"/>
                <a:cs typeface="Arial"/>
              </a:defRPr>
            </a:lvl4pPr>
            <a:lvl5pPr>
              <a:defRPr sz="2925" b="1">
                <a:solidFill>
                  <a:srgbClr val="A8CDC0"/>
                </a:solidFill>
                <a:latin typeface="Arial"/>
                <a:ea typeface="Arial"/>
                <a:cs typeface="Arial"/>
              </a:defRPr>
            </a:lvl5pPr>
            <a:lvl6pPr>
              <a:defRPr sz="2925" b="1">
                <a:solidFill>
                  <a:srgbClr val="A8CDC0"/>
                </a:solidFill>
                <a:latin typeface="Arial"/>
                <a:ea typeface="Arial"/>
                <a:cs typeface="Arial"/>
              </a:defRPr>
            </a:lvl6pPr>
            <a:lvl7pPr>
              <a:defRPr sz="2925" b="1">
                <a:solidFill>
                  <a:srgbClr val="A8CDC0"/>
                </a:solidFill>
                <a:latin typeface="Arial"/>
                <a:ea typeface="Arial"/>
                <a:cs typeface="Arial"/>
              </a:defRPr>
            </a:lvl7pPr>
            <a:lvl8pPr>
              <a:defRPr sz="2925" b="1">
                <a:solidFill>
                  <a:srgbClr val="A8CDC0"/>
                </a:solidFill>
                <a:latin typeface="Arial"/>
                <a:ea typeface="Arial"/>
                <a:cs typeface="Arial"/>
              </a:defRPr>
            </a:lvl8pPr>
            <a:lvl9pPr>
              <a:defRPr sz="2925" b="1">
                <a:solidFill>
                  <a:srgbClr val="A8CDC0"/>
                </a:solidFill>
                <a:latin typeface="Arial"/>
                <a:ea typeface="Arial"/>
                <a:cs typeface="Arial"/>
              </a:defRPr>
            </a:lvl9pPr>
          </a:lstStyle>
          <a:p xmlns:a="http://schemas.openxmlformats.org/drawingml/2006/main">
            <a:pPr>
              <a:defRPr sz="2925" b="1">
                <a:solidFill>
                  <a:srgbClr val="A8CDC0"/>
                </a:solidFill>
                <a:latin typeface="Arial"/>
                <a:ea typeface="Arial"/>
                <a:cs typeface="Arial"/>
              </a:defRPr>
            </a:pPr>
            <a:r>
              <a:rPr sz="2925" b="1">
                <a:solidFill>
                  <a:srgbClr val="A8CDC0"/>
                </a:solidFill>
                <a:latin typeface="Arial"/>
                <a:ea typeface="Arial"/>
                <a:cs typeface="Arial"/>
              </a:rPr>
              <a:t>600,000 to 520,000</a:t>
            </a:r>
          </a:p>
        </p:txBody>
      </p:sp>
      <p:sp>
        <p:nvSpPr>
          <p:cNvPr id="7" name="">
            <a:extLst xmlns:a="http://schemas.openxmlformats.org/drawingml/2006/main">
              <a:ext uri="{FF2B5EF4-FFF2-40B4-BE49-F238E27FC236}">
                <a16:creationId xmlns:a16="http://schemas.microsoft.com/office/drawing/2014/main" id="{E5A90202-A39E-4577-82DE-7D865C0959AB}"/>
              </a:ext>
            </a:extLst>
          </p:cNvPr>
          <p:cNvSpPr>
            <a:spLocks xmlns:a="http://schemas.openxmlformats.org/drawingml/2006/main" noGrp="1"/>
          </p:cNvSpPr>
          <p:nvPr/>
        </p:nvSpPr>
        <p:spPr>
          <a:xfrm xmlns:a="http://schemas.openxmlformats.org/drawingml/2006/main">
            <a:off x="752475" y="44862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8E7E0"/>
                </a:solidFill>
                <a:latin typeface="Arial"/>
                <a:ea typeface="Arial"/>
                <a:cs typeface="Arial"/>
              </a:defRPr>
            </a:defPPr>
            <a:lvl1pPr>
              <a:defRPr sz="1950" b="0">
                <a:solidFill>
                  <a:srgbClr val="D8E7E0"/>
                </a:solidFill>
                <a:latin typeface="Arial"/>
                <a:ea typeface="Arial"/>
                <a:cs typeface="Arial"/>
              </a:defRPr>
            </a:lvl1pPr>
            <a:lvl2pPr>
              <a:defRPr sz="1950" b="0">
                <a:solidFill>
                  <a:srgbClr val="D8E7E0"/>
                </a:solidFill>
                <a:latin typeface="Arial"/>
                <a:ea typeface="Arial"/>
                <a:cs typeface="Arial"/>
              </a:defRPr>
            </a:lvl2pPr>
            <a:lvl3pPr>
              <a:defRPr sz="1950" b="0">
                <a:solidFill>
                  <a:srgbClr val="D8E7E0"/>
                </a:solidFill>
                <a:latin typeface="Arial"/>
                <a:ea typeface="Arial"/>
                <a:cs typeface="Arial"/>
              </a:defRPr>
            </a:lvl3pPr>
            <a:lvl4pPr>
              <a:defRPr sz="1950" b="0">
                <a:solidFill>
                  <a:srgbClr val="D8E7E0"/>
                </a:solidFill>
                <a:latin typeface="Arial"/>
                <a:ea typeface="Arial"/>
                <a:cs typeface="Arial"/>
              </a:defRPr>
            </a:lvl4pPr>
            <a:lvl5pPr>
              <a:defRPr sz="1950" b="0">
                <a:solidFill>
                  <a:srgbClr val="D8E7E0"/>
                </a:solidFill>
                <a:latin typeface="Arial"/>
                <a:ea typeface="Arial"/>
                <a:cs typeface="Arial"/>
              </a:defRPr>
            </a:lvl5pPr>
            <a:lvl6pPr>
              <a:defRPr sz="1950" b="0">
                <a:solidFill>
                  <a:srgbClr val="D8E7E0"/>
                </a:solidFill>
                <a:latin typeface="Arial"/>
                <a:ea typeface="Arial"/>
                <a:cs typeface="Arial"/>
              </a:defRPr>
            </a:lvl6pPr>
            <a:lvl7pPr>
              <a:defRPr sz="1950" b="0">
                <a:solidFill>
                  <a:srgbClr val="D8E7E0"/>
                </a:solidFill>
                <a:latin typeface="Arial"/>
                <a:ea typeface="Arial"/>
                <a:cs typeface="Arial"/>
              </a:defRPr>
            </a:lvl7pPr>
            <a:lvl8pPr>
              <a:defRPr sz="1950" b="0">
                <a:solidFill>
                  <a:srgbClr val="D8E7E0"/>
                </a:solidFill>
                <a:latin typeface="Arial"/>
                <a:ea typeface="Arial"/>
                <a:cs typeface="Arial"/>
              </a:defRPr>
            </a:lvl8pPr>
            <a:lvl9pPr>
              <a:defRPr sz="1950" b="0">
                <a:solidFill>
                  <a:srgbClr val="D8E7E0"/>
                </a:solidFill>
                <a:latin typeface="Arial"/>
                <a:ea typeface="Arial"/>
                <a:cs typeface="Arial"/>
              </a:defRPr>
            </a:lvl9pPr>
          </a:lstStyle>
          <a:p xmlns:a="http://schemas.openxmlformats.org/drawingml/2006/main">
            <a:pPr>
              <a:defRPr sz="1950" b="0">
                <a:solidFill>
                  <a:srgbClr val="D8E7E0"/>
                </a:solidFill>
                <a:latin typeface="Arial"/>
                <a:ea typeface="Arial"/>
                <a:cs typeface="Arial"/>
              </a:defRPr>
            </a:pPr>
            <a:r>
              <a:rPr sz="1950" b="0">
                <a:solidFill>
                  <a:srgbClr val="D8E7E0"/>
                </a:solidFill>
                <a:latin typeface="Arial"/>
                <a:ea typeface="Arial"/>
                <a:cs typeface="Arial"/>
              </a:rPr>
              <a:t>Scheduled forecast in BDT. Recorded cash stays at 2,000,000.</a:t>
            </a:r>
          </a:p>
        </p:txBody>
      </p:sp>
      <p:pic>
        <p:nvPicPr>
          <p:cNvPr id="8" name="">
            <a:extLst xmlns:a="http://schemas.openxmlformats.org/drawingml/2006/main">
              <a:ext uri="{FF2B5EF4-FFF2-40B4-BE49-F238E27FC236}">
                <a16:creationId xmlns:a16="http://schemas.microsoft.com/office/drawing/2014/main" id="{495D97BE-5BE1-46C4-A6F8-D0EFAFD98824}"/>
              </a:ext>
            </a:extLst>
          </p:cNvPr>
          <p:cNvPicPr>
            <a:picLocks xmlns:a="http://schemas.openxmlformats.org/drawingml/2006/main" noChangeAspect="1"/>
          </p:cNvPicPr>
          <p:nvPr/>
        </p:nvPicPr>
        <p:blipFill>
          <a:blip xmlns:r="http://schemas.openxmlformats.org/officeDocument/2006/relationships" xmlns:a="http://schemas.openxmlformats.org/drawingml/2006/main" r:embed="R3503b8767e6f4dd6"/>
          <a:stretch xmlns:a="http://schemas.openxmlformats.org/drawingml/2006/main"/>
        </p:blipFill>
        <p:spPr>
          <a:xfrm xmlns:a="http://schemas.openxmlformats.org/drawingml/2006/main">
            <a:off x="6572250" y="2836295"/>
            <a:ext cx="4933950" cy="156640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447DA60-3C98-4917-B994-743D19D98DC0}"/>
              </a:ext>
            </a:extLst>
          </p:cNvPr>
          <p:cNvSpPr>
            <a:spLocks xmlns:a="http://schemas.openxmlformats.org/drawingml/2006/main" noGrp="1"/>
          </p:cNvSpPr>
          <p:nvPr/>
        </p:nvSpPr>
        <p:spPr>
          <a:xfrm xmlns:a="http://schemas.openxmlformats.org/drawingml/2006/main">
            <a:off x="752475" y="56388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8CDC0"/>
                </a:solidFill>
                <a:latin typeface="Arial"/>
                <a:ea typeface="Arial"/>
                <a:cs typeface="Arial"/>
              </a:defRPr>
            </a:defPPr>
            <a:lvl1pPr>
              <a:defRPr sz="1875" b="0">
                <a:solidFill>
                  <a:srgbClr val="A8CDC0"/>
                </a:solidFill>
                <a:latin typeface="Arial"/>
                <a:ea typeface="Arial"/>
                <a:cs typeface="Arial"/>
              </a:defRPr>
            </a:lvl1pPr>
            <a:lvl2pPr>
              <a:defRPr sz="1875" b="0">
                <a:solidFill>
                  <a:srgbClr val="A8CDC0"/>
                </a:solidFill>
                <a:latin typeface="Arial"/>
                <a:ea typeface="Arial"/>
                <a:cs typeface="Arial"/>
              </a:defRPr>
            </a:lvl2pPr>
            <a:lvl3pPr>
              <a:defRPr sz="1875" b="0">
                <a:solidFill>
                  <a:srgbClr val="A8CDC0"/>
                </a:solidFill>
                <a:latin typeface="Arial"/>
                <a:ea typeface="Arial"/>
                <a:cs typeface="Arial"/>
              </a:defRPr>
            </a:lvl3pPr>
            <a:lvl4pPr>
              <a:defRPr sz="1875" b="0">
                <a:solidFill>
                  <a:srgbClr val="A8CDC0"/>
                </a:solidFill>
                <a:latin typeface="Arial"/>
                <a:ea typeface="Arial"/>
                <a:cs typeface="Arial"/>
              </a:defRPr>
            </a:lvl4pPr>
            <a:lvl5pPr>
              <a:defRPr sz="1875" b="0">
                <a:solidFill>
                  <a:srgbClr val="A8CDC0"/>
                </a:solidFill>
                <a:latin typeface="Arial"/>
                <a:ea typeface="Arial"/>
                <a:cs typeface="Arial"/>
              </a:defRPr>
            </a:lvl5pPr>
            <a:lvl6pPr>
              <a:defRPr sz="1875" b="0">
                <a:solidFill>
                  <a:srgbClr val="A8CDC0"/>
                </a:solidFill>
                <a:latin typeface="Arial"/>
                <a:ea typeface="Arial"/>
                <a:cs typeface="Arial"/>
              </a:defRPr>
            </a:lvl6pPr>
            <a:lvl7pPr>
              <a:defRPr sz="1875" b="0">
                <a:solidFill>
                  <a:srgbClr val="A8CDC0"/>
                </a:solidFill>
                <a:latin typeface="Arial"/>
                <a:ea typeface="Arial"/>
                <a:cs typeface="Arial"/>
              </a:defRPr>
            </a:lvl7pPr>
            <a:lvl8pPr>
              <a:defRPr sz="1875" b="0">
                <a:solidFill>
                  <a:srgbClr val="A8CDC0"/>
                </a:solidFill>
                <a:latin typeface="Arial"/>
                <a:ea typeface="Arial"/>
                <a:cs typeface="Arial"/>
              </a:defRPr>
            </a:lvl8pPr>
            <a:lvl9pPr>
              <a:defRPr sz="1875" b="0">
                <a:solidFill>
                  <a:srgbClr val="A8CDC0"/>
                </a:solidFill>
                <a:latin typeface="Arial"/>
                <a:ea typeface="Arial"/>
                <a:cs typeface="Arial"/>
              </a:defRPr>
            </a:lvl9pPr>
          </a:lstStyle>
          <a:p xmlns:a="http://schemas.openxmlformats.org/drawingml/2006/main">
            <a:pPr>
              <a:defRPr sz="1875" b="0">
                <a:solidFill>
                  <a:srgbClr val="A8CDC0"/>
                </a:solidFill>
                <a:latin typeface="Arial"/>
                <a:ea typeface="Arial"/>
                <a:cs typeface="Arial"/>
              </a:defRPr>
            </a:pPr>
            <a:r>
              <a:rPr sz="1875" b="0">
                <a:solidFill>
                  <a:srgbClr val="A8CDC0"/>
                </a:solidFill>
                <a:latin typeface="Arial"/>
                <a:ea typeface="Arial"/>
                <a:cs typeface="Arial"/>
              </a:rPr>
              <a:t>Independent reviews protect procurement, cost corrections and every cash installment.</a:t>
            </a:r>
          </a:p>
        </p:txBody>
      </p:sp>
    </p:spTree>
    <p:extLst>
      <p:ext uri="{BB962C8B-B14F-4D97-AF65-F5344CB8AC3E}">
        <p14:creationId xmlns:p14="http://schemas.microsoft.com/office/powerpoint/2010/main" val="16330950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2026-10-19T12:24:29.2030000Z</dcterms:created>
  <dcterms:modified xsi:type="dcterms:W3CDTF">2026-10-19T12:24:29.2030000Z</dcterms:modified>
</coreProperties>
</file>